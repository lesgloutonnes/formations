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60" r:id="rId4"/>
    <p:sldId id="262" r:id="rId5"/>
    <p:sldId id="263" r:id="rId6"/>
    <p:sldId id="264" r:id="rId7"/>
    <p:sldId id="272" r:id="rId8"/>
    <p:sldId id="265" r:id="rId9"/>
    <p:sldId id="266" r:id="rId10"/>
    <p:sldId id="267" r:id="rId11"/>
    <p:sldId id="269" r:id="rId12"/>
    <p:sldId id="270" r:id="rId13"/>
    <p:sldId id="268" r:id="rId14"/>
    <p:sldId id="271" r:id="rId15"/>
    <p:sldId id="273" r:id="rId16"/>
    <p:sldId id="274" r:id="rId17"/>
    <p:sldId id="275" r:id="rId18"/>
    <p:sldId id="277" r:id="rId19"/>
    <p:sldId id="278" r:id="rId20"/>
    <p:sldId id="276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2" r:id="rId44"/>
    <p:sldId id="301" r:id="rId4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E3A2E-B7EC-4B7B-BB59-A012054395C4}" type="datetimeFigureOut">
              <a:rPr lang="fr-BE" smtClean="0"/>
              <a:t>13/05/2026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BD471-78C6-4E91-ACC7-9034B469751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48965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3C837-5F14-4368-9E37-7CA1E092319A}" type="datetimeFigureOut">
              <a:rPr lang="fr-BE" smtClean="0"/>
              <a:t>13/05/2026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464EE-1245-4F8A-BD5B-B87F494EEB2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63158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3464EE-1245-4F8A-BD5B-B87F494EEB22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20041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3464EE-1245-4F8A-BD5B-B87F494EEB22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18523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3464EE-1245-4F8A-BD5B-B87F494EEB22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9956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3464EE-1245-4F8A-BD5B-B87F494EEB22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43732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3464EE-1245-4F8A-BD5B-B87F494EEB22}" type="slidenum">
              <a:rPr lang="fr-BE" smtClean="0"/>
              <a:t>29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01034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3464EE-1245-4F8A-BD5B-B87F494EEB22}" type="slidenum">
              <a:rPr lang="fr-BE" smtClean="0"/>
              <a:t>36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30945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7CAEF6-4FE7-4448-B314-7C7E64EABAED}" type="datetime1">
              <a:rPr lang="fr-BE" smtClean="0"/>
              <a:pPr/>
              <a:t>13/05/2026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8DCF6BF-19FA-4A5F-BF39-DB960C4A6126}" type="slidenum">
              <a:rPr lang="fr-BE" smtClean="0"/>
              <a:pPr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27923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9A06-0B0C-4422-9FE8-302B2023551E}" type="datetime1">
              <a:rPr lang="fr-BE" smtClean="0"/>
              <a:t>13/05/2026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616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7D33-FF56-4D54-AB99-948A6BBFFFF5}" type="datetime1">
              <a:rPr lang="fr-BE" smtClean="0"/>
              <a:t>13/05/2026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1738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6F8C-CE5F-466F-AECF-7F94038A6464}" type="datetime1">
              <a:rPr lang="fr-BE" smtClean="0"/>
              <a:t>13/05/2026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0898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1B59-7ABA-48F2-9808-852589A25813}" type="datetime1">
              <a:rPr lang="fr-BE" smtClean="0"/>
              <a:t>13/05/2026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02860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6885-B1FD-466D-9489-79FED6E3F70C}" type="datetime1">
              <a:rPr lang="fr-BE" smtClean="0"/>
              <a:t>13/05/2026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040744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35354-2220-4DA3-BF11-876AD3448588}" type="datetime1">
              <a:rPr lang="fr-BE" smtClean="0"/>
              <a:t>13/05/2026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54062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E0ED-3BDA-414D-ADA4-DA4C99E9C056}" type="datetime1">
              <a:rPr lang="fr-BE" smtClean="0"/>
              <a:t>13/05/2026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784088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C9F0-F73E-4B1A-805A-422AAC841FBF}" type="datetime1">
              <a:rPr lang="fr-BE" smtClean="0"/>
              <a:t>13/05/2026</a:t>
            </a:fld>
            <a:endParaRPr lang="fr-BE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66453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2672-5B6F-42F7-8752-CC873C5A9E1B}" type="datetime1">
              <a:rPr lang="fr-BE" smtClean="0"/>
              <a:t>13/05/2026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1845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762C-A4E3-4A48-A1F1-470326FBA4AB}" type="datetime1">
              <a:rPr lang="fr-BE" smtClean="0"/>
              <a:t>13/05/2026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4425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EE93BB7-7E8D-42CC-BD51-E6E3E8E1658B}" type="datetime1">
              <a:rPr lang="fr-BE" smtClean="0"/>
              <a:pPr/>
              <a:t>13/05/2026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8DCF6BF-19FA-4A5F-BF39-DB960C4A6126}" type="slidenum">
              <a:rPr lang="fr-BE" smtClean="0"/>
              <a:pPr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796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93945" y="1235404"/>
            <a:ext cx="521342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à </a:t>
            </a:r>
            <a:r>
              <a:rPr lang="fr-FR" sz="4500" dirty="0" smtClean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</a:t>
            </a:r>
            <a:endParaRPr lang="fr-BE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1</a:t>
            </a:fld>
            <a:endParaRPr lang="fr-BE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Débutant</a:t>
            </a:r>
          </a:p>
        </p:txBody>
      </p:sp>
    </p:spTree>
    <p:extLst>
      <p:ext uri="{BB962C8B-B14F-4D97-AF65-F5344CB8AC3E}">
        <p14:creationId xmlns:p14="http://schemas.microsoft.com/office/powerpoint/2010/main" val="84498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 pédagogiques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1 - Maîtriser </a:t>
            </a:r>
            <a:r>
              <a:rPr lang="fr-BE" dirty="0"/>
              <a:t>l'ouverture et l'enregistrement d'un fichier </a:t>
            </a:r>
            <a:r>
              <a:rPr lang="fr-BE" dirty="0" smtClean="0"/>
              <a:t>Excel</a:t>
            </a:r>
          </a:p>
          <a:p>
            <a:pPr lvl="0"/>
            <a:endParaRPr lang="fr-BE" dirty="0"/>
          </a:p>
          <a:p>
            <a:pPr lvl="0"/>
            <a:r>
              <a:rPr lang="fr-BE" dirty="0" smtClean="0"/>
              <a:t>2 - Se </a:t>
            </a:r>
            <a:r>
              <a:rPr lang="fr-BE" dirty="0"/>
              <a:t>familiariser avec l'interface et la </a:t>
            </a:r>
            <a:r>
              <a:rPr lang="fr-BE" dirty="0" smtClean="0"/>
              <a:t>navigation</a:t>
            </a:r>
          </a:p>
          <a:p>
            <a:pPr lvl="0"/>
            <a:endParaRPr lang="fr-BE" dirty="0"/>
          </a:p>
          <a:p>
            <a:pPr lvl="0"/>
            <a:r>
              <a:rPr lang="fr-BE" dirty="0" smtClean="0"/>
              <a:t>3 - Comprendre </a:t>
            </a:r>
            <a:r>
              <a:rPr lang="fr-BE" dirty="0"/>
              <a:t>la manipulation basique des lignes, colonnes et cellules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2704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51845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L'interface Excel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sz="2000" dirty="0"/>
              <a:t>Le ruban : zone principale des commandes</a:t>
            </a:r>
          </a:p>
          <a:p>
            <a:pPr lvl="0"/>
            <a:endParaRPr lang="fr-BE" sz="2000" dirty="0"/>
          </a:p>
          <a:p>
            <a:pPr lvl="0"/>
            <a:r>
              <a:rPr lang="fr-BE" sz="2000" dirty="0"/>
              <a:t>Les onglets : Accueil, Insertion, Mise en page, Formules, etc.</a:t>
            </a:r>
          </a:p>
          <a:p>
            <a:pPr lvl="0"/>
            <a:endParaRPr lang="fr-BE" sz="2000" dirty="0"/>
          </a:p>
          <a:p>
            <a:pPr lvl="0"/>
            <a:r>
              <a:rPr lang="fr-BE" sz="2000" dirty="0"/>
              <a:t>La barre de formules : visualisation et édition du contenu des cellules</a:t>
            </a:r>
          </a:p>
          <a:p>
            <a:pPr lvl="0"/>
            <a:endParaRPr lang="fr-BE" sz="2000" dirty="0"/>
          </a:p>
          <a:p>
            <a:pPr lvl="0"/>
            <a:r>
              <a:rPr lang="fr-BE" sz="2000" dirty="0"/>
              <a:t>La feuille de calcul : grille de cellules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3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098" y="1876371"/>
            <a:ext cx="6076604" cy="29015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697" y="2485657"/>
            <a:ext cx="4460005" cy="20744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8643" y="2988389"/>
            <a:ext cx="2447887" cy="40430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54" y="3410423"/>
            <a:ext cx="2520457" cy="63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3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61829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opérations de base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Créer un nouveau classeur : Fichier &gt; </a:t>
            </a:r>
            <a:r>
              <a:rPr lang="fr-BE" dirty="0" smtClean="0"/>
              <a:t>Nouveau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Enregistrer : Ctrl + S ou icône de </a:t>
            </a:r>
            <a:r>
              <a:rPr lang="fr-BE" dirty="0" smtClean="0"/>
              <a:t>disquette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Ouvrir un fichier existant : Ctrl + </a:t>
            </a:r>
            <a:r>
              <a:rPr lang="fr-BE" dirty="0" smtClean="0"/>
              <a:t>O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Formats d'enregistrement : .</a:t>
            </a:r>
            <a:r>
              <a:rPr lang="fr-BE" dirty="0" err="1"/>
              <a:t>xlsx</a:t>
            </a:r>
            <a:r>
              <a:rPr lang="fr-BE" dirty="0"/>
              <a:t>, .</a:t>
            </a:r>
            <a:r>
              <a:rPr lang="fr-BE" dirty="0" err="1" smtClean="0"/>
              <a:t>xls</a:t>
            </a:r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4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984" y="2410682"/>
            <a:ext cx="1228896" cy="22863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212" y="3118219"/>
            <a:ext cx="3791479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8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70680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 des éléments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Sélection de cellules : clic simple ou </a:t>
            </a:r>
            <a:r>
              <a:rPr lang="fr-BE" dirty="0" err="1" smtClean="0"/>
              <a:t>Ctrl+clic</a:t>
            </a:r>
            <a:r>
              <a:rPr lang="fr-BE" dirty="0" smtClean="0"/>
              <a:t> ou </a:t>
            </a:r>
            <a:r>
              <a:rPr lang="fr-BE" dirty="0" err="1" smtClean="0"/>
              <a:t>Maj+clic</a:t>
            </a:r>
            <a:endParaRPr lang="fr-BE" dirty="0" smtClean="0"/>
          </a:p>
          <a:p>
            <a:pPr lvl="0"/>
            <a:endParaRPr lang="fr-BE" dirty="0"/>
          </a:p>
          <a:p>
            <a:pPr lvl="0"/>
            <a:r>
              <a:rPr lang="fr-BE" dirty="0"/>
              <a:t>Redimensionnement : double-clic sur la </a:t>
            </a:r>
            <a:r>
              <a:rPr lang="fr-BE" dirty="0" smtClean="0"/>
              <a:t>bordure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Insertion/Suppression : clic droit sur l'en-tête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5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7516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Exercice </a:t>
            </a:r>
            <a:r>
              <a:rPr lang="fr-FR" sz="4500" dirty="0" smtClean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pratique</a:t>
            </a:r>
            <a:endParaRPr lang="fr-FR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1) Lancer </a:t>
            </a:r>
            <a:r>
              <a:rPr lang="fr-BE" dirty="0"/>
              <a:t>Excel et créer un nouveau </a:t>
            </a:r>
            <a:r>
              <a:rPr lang="fr-BE" dirty="0" smtClean="0"/>
              <a:t>classeur</a:t>
            </a:r>
          </a:p>
          <a:p>
            <a:pPr marL="342900" lvl="0" indent="-342900">
              <a:buAutoNum type="arabicParenR"/>
            </a:pPr>
            <a:endParaRPr lang="fr-BE" sz="1600" dirty="0"/>
          </a:p>
          <a:p>
            <a:pPr lvl="0"/>
            <a:r>
              <a:rPr lang="fr-BE" dirty="0" smtClean="0"/>
              <a:t>2) Enregistrer </a:t>
            </a:r>
            <a:r>
              <a:rPr lang="fr-BE" dirty="0"/>
              <a:t>le fichier sous le nom "</a:t>
            </a:r>
            <a:r>
              <a:rPr lang="fr-BE" dirty="0" err="1"/>
              <a:t>Mon_Premier_Fichier_Excel</a:t>
            </a:r>
            <a:r>
              <a:rPr lang="fr-BE" dirty="0"/>
              <a:t>" sur le </a:t>
            </a:r>
            <a:r>
              <a:rPr lang="fr-BE" dirty="0" smtClean="0"/>
              <a:t>Bureau</a:t>
            </a:r>
          </a:p>
          <a:p>
            <a:pPr lvl="0"/>
            <a:endParaRPr lang="fr-BE" sz="1600" dirty="0"/>
          </a:p>
          <a:p>
            <a:pPr lvl="0"/>
            <a:r>
              <a:rPr lang="fr-BE" dirty="0" smtClean="0"/>
              <a:t>3) Dans </a:t>
            </a:r>
            <a:r>
              <a:rPr lang="fr-BE" dirty="0"/>
              <a:t>la cellule A1, saisir le titre "Suivi des </a:t>
            </a:r>
            <a:r>
              <a:rPr lang="fr-BE" dirty="0" smtClean="0"/>
              <a:t>Ventes"</a:t>
            </a:r>
          </a:p>
          <a:p>
            <a:pPr lvl="0"/>
            <a:endParaRPr lang="fr-BE" sz="1600" dirty="0" smtClean="0"/>
          </a:p>
          <a:p>
            <a:pPr lvl="0"/>
            <a:r>
              <a:rPr lang="fr-BE" dirty="0" smtClean="0"/>
              <a:t>4) Redimensionner </a:t>
            </a:r>
            <a:r>
              <a:rPr lang="fr-BE" dirty="0"/>
              <a:t>la colonne A pour que le titre soit entièrement </a:t>
            </a:r>
            <a:r>
              <a:rPr lang="fr-BE" dirty="0" smtClean="0"/>
              <a:t>visible</a:t>
            </a:r>
          </a:p>
          <a:p>
            <a:pPr lvl="0"/>
            <a:endParaRPr lang="fr-BE" sz="1600" dirty="0"/>
          </a:p>
          <a:p>
            <a:pPr lvl="0"/>
            <a:r>
              <a:rPr lang="fr-BE" dirty="0" smtClean="0"/>
              <a:t>5) Dans </a:t>
            </a:r>
            <a:r>
              <a:rPr lang="fr-BE" dirty="0"/>
              <a:t>la ligne 3, créer les en-têtes suivants : </a:t>
            </a:r>
            <a:endParaRPr lang="fr-BE" sz="1600" dirty="0"/>
          </a:p>
          <a:p>
            <a:pPr lvl="1"/>
            <a:r>
              <a:rPr lang="fr-BE" dirty="0"/>
              <a:t>Colonne A : "Date"</a:t>
            </a:r>
            <a:endParaRPr lang="fr-BE" sz="1600" dirty="0"/>
          </a:p>
          <a:p>
            <a:pPr lvl="1"/>
            <a:r>
              <a:rPr lang="fr-BE" dirty="0"/>
              <a:t>Colonne B : "Produit"</a:t>
            </a:r>
            <a:endParaRPr lang="fr-BE" sz="1600" dirty="0"/>
          </a:p>
          <a:p>
            <a:pPr lvl="1"/>
            <a:r>
              <a:rPr lang="fr-BE" dirty="0"/>
              <a:t>Colonne C : "Quantité"</a:t>
            </a:r>
            <a:endParaRPr lang="fr-BE" sz="1600" dirty="0"/>
          </a:p>
          <a:p>
            <a:pPr lvl="1"/>
            <a:r>
              <a:rPr lang="fr-BE" dirty="0"/>
              <a:t>Colonne D : "Prix unitaire</a:t>
            </a:r>
            <a:r>
              <a:rPr lang="fr-BE" dirty="0" smtClean="0"/>
              <a:t>"</a:t>
            </a:r>
          </a:p>
          <a:p>
            <a:pPr lvl="1"/>
            <a:endParaRPr lang="fr-BE" sz="1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7692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085386" y="1772816"/>
            <a:ext cx="780311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6) Insérer une nouvelle ligne entre la ligne de titre et les </a:t>
            </a:r>
            <a:r>
              <a:rPr lang="fr-BE" dirty="0" smtClean="0"/>
              <a:t>en-têtes</a:t>
            </a:r>
          </a:p>
          <a:p>
            <a:pPr lvl="0"/>
            <a:endParaRPr lang="fr-BE" sz="1600" dirty="0"/>
          </a:p>
          <a:p>
            <a:pPr lvl="0"/>
            <a:r>
              <a:rPr lang="fr-BE" dirty="0"/>
              <a:t>7) Supprimer la ligne </a:t>
            </a:r>
            <a:r>
              <a:rPr lang="fr-BE" dirty="0" smtClean="0"/>
              <a:t>insérée</a:t>
            </a:r>
          </a:p>
          <a:p>
            <a:pPr lvl="0"/>
            <a:endParaRPr lang="fr-BE" sz="1600" dirty="0"/>
          </a:p>
          <a:p>
            <a:pPr lvl="0"/>
            <a:r>
              <a:rPr lang="fr-BE" dirty="0"/>
              <a:t>8) Enregistrer à nouveau le fichier</a:t>
            </a:r>
            <a:endParaRPr lang="fr-BE" sz="1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7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0777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93945" y="1235404"/>
            <a:ext cx="789236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Saisie de données et formats</a:t>
            </a:r>
            <a:endParaRPr lang="fr-BE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8</a:t>
            </a:fld>
            <a:endParaRPr lang="fr-BE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Débutant</a:t>
            </a:r>
          </a:p>
        </p:txBody>
      </p:sp>
    </p:spTree>
    <p:extLst>
      <p:ext uri="{BB962C8B-B14F-4D97-AF65-F5344CB8AC3E}">
        <p14:creationId xmlns:p14="http://schemas.microsoft.com/office/powerpoint/2010/main" val="335791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 pédagogiques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1 - Maîtriser </a:t>
            </a:r>
            <a:r>
              <a:rPr lang="fr-BE" dirty="0"/>
              <a:t>la saisie de différents types de </a:t>
            </a:r>
            <a:r>
              <a:rPr lang="fr-BE" dirty="0" smtClean="0"/>
              <a:t>données</a:t>
            </a:r>
          </a:p>
          <a:p>
            <a:pPr lvl="0"/>
            <a:endParaRPr lang="fr-BE" dirty="0"/>
          </a:p>
          <a:p>
            <a:pPr lvl="0"/>
            <a:r>
              <a:rPr lang="fr-BE" dirty="0" smtClean="0"/>
              <a:t>2 - Comprendre </a:t>
            </a:r>
            <a:r>
              <a:rPr lang="fr-BE" dirty="0"/>
              <a:t>et appliquer les formats de </a:t>
            </a:r>
            <a:r>
              <a:rPr lang="fr-BE" dirty="0" smtClean="0"/>
              <a:t>cellules</a:t>
            </a:r>
          </a:p>
          <a:p>
            <a:pPr lvl="0"/>
            <a:endParaRPr lang="fr-BE" dirty="0"/>
          </a:p>
          <a:p>
            <a:r>
              <a:rPr lang="fr-BE" dirty="0" smtClean="0"/>
              <a:t>3 - Utiliser </a:t>
            </a:r>
            <a:r>
              <a:rPr lang="fr-BE" dirty="0"/>
              <a:t>les outils de mise en forme basique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9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3406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70680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de données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Texte : lettres, mots, </a:t>
            </a:r>
            <a:r>
              <a:rPr lang="fr-BE" dirty="0" smtClean="0"/>
              <a:t>phrases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Nombres : entiers, </a:t>
            </a:r>
            <a:r>
              <a:rPr lang="fr-BE" dirty="0" smtClean="0"/>
              <a:t>décimaux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Dates : différents formats (JJ/MM/AAAA, MM/JJ/AA, etc</a:t>
            </a:r>
            <a:r>
              <a:rPr lang="fr-BE" dirty="0" smtClean="0"/>
              <a:t>.)</a:t>
            </a:r>
          </a:p>
          <a:p>
            <a:pPr lvl="0"/>
            <a:endParaRPr lang="fr-BE" dirty="0"/>
          </a:p>
          <a:p>
            <a:r>
              <a:rPr lang="fr-BE" dirty="0"/>
              <a:t>Différencier les alignements automatiques (texte à gauche, nombres à droite)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10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493" y="3375456"/>
            <a:ext cx="1743318" cy="428685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472" y="1772816"/>
            <a:ext cx="1448002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4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70680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Formats de cellules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Accès aux formats : Clic droit &gt; Format de </a:t>
            </a:r>
            <a:r>
              <a:rPr lang="fr-BE" dirty="0" smtClean="0"/>
              <a:t>cellules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Format numérique : décimales, séparateurs de </a:t>
            </a:r>
            <a:r>
              <a:rPr lang="fr-BE" dirty="0" smtClean="0"/>
              <a:t>milliers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Format monétaire : symboles, </a:t>
            </a:r>
            <a:r>
              <a:rPr lang="fr-BE" dirty="0" smtClean="0"/>
              <a:t>position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Format date : variations régionales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11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152" y="1772816"/>
            <a:ext cx="3962953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7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70680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Mise en forme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Couleur de fond et de </a:t>
            </a:r>
            <a:r>
              <a:rPr lang="fr-BE" dirty="0" smtClean="0"/>
              <a:t>texte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Bordures : styles et </a:t>
            </a:r>
            <a:r>
              <a:rPr lang="fr-BE" dirty="0" smtClean="0"/>
              <a:t>épaisseurs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Alignement : horizontal, </a:t>
            </a:r>
            <a:r>
              <a:rPr lang="fr-BE" dirty="0" smtClean="0"/>
              <a:t>vertical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Fusion de cellules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12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942" y="2192675"/>
            <a:ext cx="5468113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2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Exercice </a:t>
            </a:r>
            <a:r>
              <a:rPr lang="fr-FR" sz="4500" dirty="0" smtClean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pratique</a:t>
            </a:r>
            <a:endParaRPr lang="fr-FR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1) Ouvrir </a:t>
            </a:r>
            <a:r>
              <a:rPr lang="fr-BE" dirty="0"/>
              <a:t>le fichier "</a:t>
            </a:r>
            <a:r>
              <a:rPr lang="fr-BE" dirty="0" err="1"/>
              <a:t>Mon_Premier_Fichier_Excel</a:t>
            </a:r>
            <a:r>
              <a:rPr lang="fr-BE" dirty="0"/>
              <a:t>" créé </a:t>
            </a:r>
            <a:r>
              <a:rPr lang="fr-BE" dirty="0" smtClean="0"/>
              <a:t>précédemment</a:t>
            </a:r>
          </a:p>
          <a:p>
            <a:pPr marL="342900" lvl="0" indent="-342900">
              <a:buAutoNum type="arabicParenR"/>
            </a:pPr>
            <a:endParaRPr lang="fr-BE" sz="1600" dirty="0"/>
          </a:p>
          <a:p>
            <a:pPr lvl="0"/>
            <a:r>
              <a:rPr lang="fr-BE" dirty="0" smtClean="0"/>
              <a:t>2) Dans </a:t>
            </a:r>
            <a:r>
              <a:rPr lang="fr-BE" dirty="0"/>
              <a:t>une nouvelle feuille, créer le tableau suivant : </a:t>
            </a:r>
            <a:endParaRPr lang="fr-BE" sz="1600" dirty="0"/>
          </a:p>
          <a:p>
            <a:pPr lvl="1"/>
            <a:r>
              <a:rPr lang="fr-BE" dirty="0"/>
              <a:t>A1 : "Rapport des Ventes 2024" (fusionner A1:E1)</a:t>
            </a:r>
            <a:endParaRPr lang="fr-BE" sz="1600" dirty="0"/>
          </a:p>
          <a:p>
            <a:pPr lvl="1"/>
            <a:r>
              <a:rPr lang="fr-BE" dirty="0"/>
              <a:t>Ligne 3 : En-têtes </a:t>
            </a:r>
            <a:endParaRPr lang="fr-BE" sz="1600" dirty="0"/>
          </a:p>
          <a:p>
            <a:pPr lvl="2"/>
            <a:r>
              <a:rPr lang="fr-BE" dirty="0"/>
              <a:t>A3 : "Date"</a:t>
            </a:r>
            <a:endParaRPr lang="fr-BE" sz="1600" dirty="0"/>
          </a:p>
          <a:p>
            <a:pPr lvl="2"/>
            <a:r>
              <a:rPr lang="fr-BE" dirty="0"/>
              <a:t>B3 : "Produit"</a:t>
            </a:r>
            <a:endParaRPr lang="fr-BE" sz="1600" dirty="0"/>
          </a:p>
          <a:p>
            <a:pPr lvl="2"/>
            <a:r>
              <a:rPr lang="fr-BE" dirty="0"/>
              <a:t>C3 : "Quantité"</a:t>
            </a:r>
            <a:endParaRPr lang="fr-BE" sz="1600" dirty="0"/>
          </a:p>
          <a:p>
            <a:pPr lvl="2"/>
            <a:r>
              <a:rPr lang="fr-BE" dirty="0"/>
              <a:t>D3 : "Prix unitaire"</a:t>
            </a:r>
            <a:endParaRPr lang="fr-BE" sz="1600" dirty="0"/>
          </a:p>
          <a:p>
            <a:pPr lvl="2"/>
            <a:r>
              <a:rPr lang="fr-BE" dirty="0"/>
              <a:t>E3 : "</a:t>
            </a:r>
            <a:r>
              <a:rPr lang="fr-BE" dirty="0" smtClean="0"/>
              <a:t>Total"</a:t>
            </a:r>
          </a:p>
          <a:p>
            <a:pPr lvl="2"/>
            <a:endParaRPr lang="fr-BE" dirty="0" smtClean="0"/>
          </a:p>
          <a:p>
            <a:pPr lvl="0"/>
            <a:r>
              <a:rPr lang="fr-BE" dirty="0" smtClean="0"/>
              <a:t>3) Saisir </a:t>
            </a:r>
            <a:r>
              <a:rPr lang="fr-BE" dirty="0"/>
              <a:t>les données suivantes : </a:t>
            </a:r>
            <a:endParaRPr lang="fr-BE" dirty="0" smtClean="0"/>
          </a:p>
          <a:p>
            <a:pPr lvl="0"/>
            <a:endParaRPr lang="fr-BE" sz="1600" dirty="0"/>
          </a:p>
          <a:p>
            <a:pPr lvl="2"/>
            <a:endParaRPr lang="fr-BE" sz="1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442" y="5260822"/>
            <a:ext cx="366763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7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085386" y="1772816"/>
            <a:ext cx="78031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4) Appliquer </a:t>
            </a:r>
            <a:r>
              <a:rPr lang="fr-BE" dirty="0"/>
              <a:t>les formats : </a:t>
            </a:r>
            <a:endParaRPr lang="fr-BE" sz="1600" dirty="0"/>
          </a:p>
          <a:p>
            <a:pPr lvl="1"/>
            <a:r>
              <a:rPr lang="fr-BE" dirty="0"/>
              <a:t>Colonne A : Format date (JJ/MM/AAAA)</a:t>
            </a:r>
            <a:endParaRPr lang="fr-BE" sz="1600" dirty="0"/>
          </a:p>
          <a:p>
            <a:pPr lvl="1"/>
            <a:r>
              <a:rPr lang="fr-BE" dirty="0"/>
              <a:t>Colonne C : Format nombre sans décimales</a:t>
            </a:r>
            <a:endParaRPr lang="fr-BE" sz="1600" dirty="0"/>
          </a:p>
          <a:p>
            <a:pPr lvl="1"/>
            <a:r>
              <a:rPr lang="fr-BE" dirty="0"/>
              <a:t>Colonnes D et E : Format monétaire avec 2 décimales et le symbole </a:t>
            </a:r>
            <a:r>
              <a:rPr lang="fr-BE" dirty="0" smtClean="0"/>
              <a:t>€</a:t>
            </a:r>
          </a:p>
          <a:p>
            <a:pPr lvl="1"/>
            <a:endParaRPr lang="fr-BE" sz="1600" dirty="0"/>
          </a:p>
          <a:p>
            <a:pPr lvl="0"/>
            <a:r>
              <a:rPr lang="fr-BE" dirty="0" smtClean="0"/>
              <a:t>5) Mettre </a:t>
            </a:r>
            <a:r>
              <a:rPr lang="fr-BE" dirty="0"/>
              <a:t>en forme le tableau : </a:t>
            </a:r>
            <a:endParaRPr lang="fr-BE" sz="1600" dirty="0"/>
          </a:p>
          <a:p>
            <a:pPr lvl="1"/>
            <a:r>
              <a:rPr lang="fr-BE" dirty="0"/>
              <a:t>En-têtes : Fond gris clair, texte en gras</a:t>
            </a:r>
            <a:endParaRPr lang="fr-BE" sz="1600" dirty="0"/>
          </a:p>
          <a:p>
            <a:pPr lvl="1"/>
            <a:r>
              <a:rPr lang="fr-BE" dirty="0"/>
              <a:t>Bordures : Contour extérieur double, lignes intérieures simples</a:t>
            </a:r>
            <a:endParaRPr lang="fr-BE" sz="1600" dirty="0"/>
          </a:p>
          <a:p>
            <a:pPr lvl="1"/>
            <a:r>
              <a:rPr lang="fr-BE" dirty="0"/>
              <a:t>Alterner les couleurs de fond des lignes (blanc/gris très clair)</a:t>
            </a:r>
            <a:endParaRPr lang="fr-BE" sz="1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3865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93945" y="1235404"/>
            <a:ext cx="521342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Formules de </a:t>
            </a:r>
            <a:r>
              <a:rPr lang="fr-FR" sz="4500" dirty="0" smtClean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endParaRPr lang="fr-BE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15</a:t>
            </a:fld>
            <a:endParaRPr lang="fr-BE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Débutant</a:t>
            </a:r>
          </a:p>
        </p:txBody>
      </p:sp>
    </p:spTree>
    <p:extLst>
      <p:ext uri="{BB962C8B-B14F-4D97-AF65-F5344CB8AC3E}">
        <p14:creationId xmlns:p14="http://schemas.microsoft.com/office/powerpoint/2010/main" val="103656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 pédagogiques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1 - Comprendre </a:t>
            </a:r>
            <a:r>
              <a:rPr lang="fr-BE" dirty="0"/>
              <a:t>la structure d'une formule </a:t>
            </a:r>
            <a:r>
              <a:rPr lang="fr-BE" dirty="0" smtClean="0"/>
              <a:t>Excel</a:t>
            </a:r>
          </a:p>
          <a:p>
            <a:pPr lvl="0"/>
            <a:endParaRPr lang="fr-BE" dirty="0"/>
          </a:p>
          <a:p>
            <a:pPr lvl="0"/>
            <a:r>
              <a:rPr lang="fr-BE" dirty="0" smtClean="0"/>
              <a:t>2 - Maîtriser </a:t>
            </a:r>
            <a:r>
              <a:rPr lang="fr-BE" dirty="0"/>
              <a:t>les fonctions de base (SOMME, MOYENNE, MIN, MAX</a:t>
            </a:r>
            <a:r>
              <a:rPr lang="fr-BE" dirty="0" smtClean="0"/>
              <a:t>)</a:t>
            </a:r>
          </a:p>
          <a:p>
            <a:pPr lvl="0"/>
            <a:endParaRPr lang="fr-BE" dirty="0"/>
          </a:p>
          <a:p>
            <a:pPr lvl="0"/>
            <a:r>
              <a:rPr lang="fr-BE" dirty="0" smtClean="0"/>
              <a:t>3 - Utiliser </a:t>
            </a:r>
            <a:r>
              <a:rPr lang="fr-BE" dirty="0"/>
              <a:t>efficacement l'</a:t>
            </a:r>
            <a:r>
              <a:rPr lang="fr-BE" dirty="0" err="1"/>
              <a:t>AutoFill</a:t>
            </a:r>
            <a:r>
              <a:rPr lang="fr-BE" dirty="0"/>
              <a:t> (poignée de recopie)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0282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66401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aux formules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Structure d'une formule (commence par </a:t>
            </a:r>
            <a:r>
              <a:rPr lang="fr-BE" dirty="0" smtClean="0"/>
              <a:t>=)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Références de cellules (A1, B2, etc</a:t>
            </a:r>
            <a:r>
              <a:rPr lang="fr-BE" dirty="0" smtClean="0"/>
              <a:t>.)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Opérateurs mathématiques (+, -, *, </a:t>
            </a:r>
            <a:r>
              <a:rPr lang="fr-BE" dirty="0" smtClean="0"/>
              <a:t>/)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La barre de formules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17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6615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66401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Fonctions de base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8873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SOMME() : =SOMME(plage de cellules</a:t>
            </a:r>
            <a:r>
              <a:rPr lang="fr-BE" dirty="0" smtClean="0"/>
              <a:t>)                              </a:t>
            </a:r>
            <a:r>
              <a:rPr lang="fr-BE" dirty="0" smtClean="0">
                <a:solidFill>
                  <a:schemeClr val="accent5"/>
                </a:solidFill>
              </a:rPr>
              <a:t>(-&gt;)</a:t>
            </a:r>
            <a:r>
              <a:rPr lang="fr-BE" dirty="0" smtClean="0"/>
              <a:t> différent de                        </a:t>
            </a:r>
            <a:r>
              <a:rPr lang="fr-BE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(et) 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MOYENNE() : =MOYENNE(plage de cellules</a:t>
            </a:r>
            <a:r>
              <a:rPr lang="fr-BE" dirty="0" smtClean="0"/>
              <a:t>)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MIN() : =MIN(plage de cellules</a:t>
            </a:r>
            <a:r>
              <a:rPr lang="fr-BE" dirty="0" smtClean="0"/>
              <a:t>)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MAX() : =MAX(plage de cellules)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18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679" y="1772816"/>
            <a:ext cx="1219370" cy="37152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769" y="2321737"/>
            <a:ext cx="1295581" cy="35247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557" y="2914277"/>
            <a:ext cx="971686" cy="38105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3279" y="3432614"/>
            <a:ext cx="1009791" cy="37152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6185" y="1773641"/>
            <a:ext cx="1181265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8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66401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 err="1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AutoFill</a:t>
            </a:r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recopie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La poignée de recopie (petit carré noir</a:t>
            </a:r>
            <a:r>
              <a:rPr lang="fr-BE" dirty="0" smtClean="0"/>
              <a:t>)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Recopie avec </a:t>
            </a:r>
            <a:r>
              <a:rPr lang="fr-BE" dirty="0" smtClean="0"/>
              <a:t>incrémentation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Recopie de </a:t>
            </a:r>
            <a:r>
              <a:rPr lang="fr-BE" dirty="0" smtClean="0"/>
              <a:t>formules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Options de recopie (affichage du menu)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19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942" y="1537056"/>
            <a:ext cx="6592220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8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Exercice </a:t>
            </a:r>
            <a:r>
              <a:rPr lang="fr-FR" sz="4500" dirty="0" smtClean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pratique</a:t>
            </a:r>
            <a:endParaRPr lang="fr-FR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1) Reprendre </a:t>
            </a:r>
            <a:r>
              <a:rPr lang="fr-BE" dirty="0"/>
              <a:t>le fichier de l'exercice précédent avec les </a:t>
            </a:r>
            <a:r>
              <a:rPr lang="fr-BE" dirty="0" smtClean="0"/>
              <a:t>ventes</a:t>
            </a:r>
          </a:p>
          <a:p>
            <a:pPr marL="342900" lvl="0" indent="-342900">
              <a:buAutoNum type="arabicParenR"/>
            </a:pPr>
            <a:endParaRPr lang="fr-BE" sz="1600" dirty="0"/>
          </a:p>
          <a:p>
            <a:pPr lvl="0"/>
            <a:r>
              <a:rPr lang="fr-BE" dirty="0" smtClean="0"/>
              <a:t>2)Calculs </a:t>
            </a:r>
            <a:r>
              <a:rPr lang="fr-BE" dirty="0"/>
              <a:t>simples : </a:t>
            </a:r>
            <a:endParaRPr lang="fr-BE" sz="1600" dirty="0"/>
          </a:p>
          <a:p>
            <a:pPr lvl="1"/>
            <a:r>
              <a:rPr lang="fr-BE" dirty="0"/>
              <a:t>Dans la colonne E (Total), calculer le total pour chaque ligne : </a:t>
            </a:r>
            <a:endParaRPr lang="fr-BE" sz="1600" dirty="0"/>
          </a:p>
          <a:p>
            <a:pPr lvl="2"/>
            <a:r>
              <a:rPr lang="fr-BE" dirty="0"/>
              <a:t>Formule : =C4*D4 (Quantité * Prix unitaire)</a:t>
            </a:r>
            <a:endParaRPr lang="fr-BE" sz="1600" dirty="0"/>
          </a:p>
          <a:p>
            <a:pPr lvl="1"/>
            <a:r>
              <a:rPr lang="fr-BE" dirty="0"/>
              <a:t>Utiliser l'</a:t>
            </a:r>
            <a:r>
              <a:rPr lang="fr-BE" dirty="0" err="1"/>
              <a:t>AutoFill</a:t>
            </a:r>
            <a:r>
              <a:rPr lang="fr-BE" dirty="0"/>
              <a:t> pour copier la formule sur toutes les lignes</a:t>
            </a:r>
            <a:endParaRPr lang="fr-BE" sz="1600" dirty="0"/>
          </a:p>
          <a:p>
            <a:pPr lvl="0"/>
            <a:endParaRPr lang="fr-BE" dirty="0" smtClean="0"/>
          </a:p>
          <a:p>
            <a:pPr lvl="0"/>
            <a:r>
              <a:rPr lang="fr-BE" dirty="0" smtClean="0"/>
              <a:t>3) Ajouter </a:t>
            </a:r>
            <a:r>
              <a:rPr lang="fr-BE" dirty="0"/>
              <a:t>une ligne de totaux : </a:t>
            </a:r>
            <a:endParaRPr lang="fr-BE" sz="1600" dirty="0"/>
          </a:p>
          <a:p>
            <a:pPr lvl="1"/>
            <a:r>
              <a:rPr lang="fr-BE" dirty="0"/>
              <a:t>En ligne 8, écrire "TOTAUX" dans la colonne A</a:t>
            </a:r>
            <a:endParaRPr lang="fr-BE" sz="1600" dirty="0"/>
          </a:p>
          <a:p>
            <a:pPr lvl="1"/>
            <a:r>
              <a:rPr lang="fr-BE" dirty="0"/>
              <a:t>Utiliser =SOMME() pour calculer : </a:t>
            </a:r>
            <a:endParaRPr lang="fr-BE" sz="1600" dirty="0"/>
          </a:p>
          <a:p>
            <a:pPr lvl="2"/>
            <a:r>
              <a:rPr lang="fr-BE" dirty="0"/>
              <a:t>Total des quantités vendues (colonne C)</a:t>
            </a:r>
            <a:endParaRPr lang="fr-BE" sz="1600" dirty="0"/>
          </a:p>
          <a:p>
            <a:pPr lvl="2"/>
            <a:r>
              <a:rPr lang="fr-BE" dirty="0"/>
              <a:t>Chiffre d'affaires total (colonne E)</a:t>
            </a:r>
            <a:endParaRPr lang="fr-BE" sz="1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20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7065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085386" y="1772816"/>
            <a:ext cx="78031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4) Ajouter </a:t>
            </a:r>
            <a:r>
              <a:rPr lang="fr-BE" dirty="0"/>
              <a:t>des statistiques (à partir de la ligne 10) : </a:t>
            </a:r>
            <a:endParaRPr lang="fr-BE" sz="1600" dirty="0"/>
          </a:p>
          <a:p>
            <a:pPr lvl="1"/>
            <a:r>
              <a:rPr lang="fr-BE" dirty="0"/>
              <a:t>Calculer la moyenne des prix unitaires : =MOYENNE(D4:D7)</a:t>
            </a:r>
            <a:endParaRPr lang="fr-BE" sz="1600" dirty="0"/>
          </a:p>
          <a:p>
            <a:pPr lvl="1"/>
            <a:r>
              <a:rPr lang="fr-BE" dirty="0"/>
              <a:t>Trouver le prix minimum : =MIN(D4:D7)</a:t>
            </a:r>
            <a:endParaRPr lang="fr-BE" sz="1600" dirty="0"/>
          </a:p>
          <a:p>
            <a:pPr lvl="1"/>
            <a:r>
              <a:rPr lang="fr-BE" dirty="0"/>
              <a:t>Trouver le prix maximum : =MAX(D4:D7)</a:t>
            </a:r>
            <a:endParaRPr lang="fr-BE" sz="1600" dirty="0"/>
          </a:p>
          <a:p>
            <a:pPr lvl="1"/>
            <a:r>
              <a:rPr lang="fr-BE" dirty="0"/>
              <a:t>Libellés à ajouter dans la colonne A : </a:t>
            </a:r>
            <a:endParaRPr lang="fr-BE" sz="1600" dirty="0"/>
          </a:p>
          <a:p>
            <a:pPr lvl="2"/>
            <a:r>
              <a:rPr lang="fr-BE" dirty="0"/>
              <a:t>"Prix moyen"</a:t>
            </a:r>
            <a:endParaRPr lang="fr-BE" sz="1600" dirty="0"/>
          </a:p>
          <a:p>
            <a:pPr lvl="2"/>
            <a:r>
              <a:rPr lang="fr-BE" dirty="0"/>
              <a:t>"Prix minimum"</a:t>
            </a:r>
            <a:endParaRPr lang="fr-BE" sz="1600" dirty="0"/>
          </a:p>
          <a:p>
            <a:pPr lvl="2"/>
            <a:r>
              <a:rPr lang="fr-BE" dirty="0"/>
              <a:t>"Prix maximum"</a:t>
            </a:r>
            <a:endParaRPr lang="fr-BE" sz="1600" dirty="0"/>
          </a:p>
          <a:p>
            <a:pPr lvl="0"/>
            <a:endParaRPr lang="fr-BE" dirty="0" smtClean="0"/>
          </a:p>
          <a:p>
            <a:pPr lvl="0"/>
            <a:r>
              <a:rPr lang="fr-BE" dirty="0"/>
              <a:t>5</a:t>
            </a:r>
            <a:r>
              <a:rPr lang="fr-BE" dirty="0" smtClean="0"/>
              <a:t>) Bonus </a:t>
            </a:r>
            <a:r>
              <a:rPr lang="fr-BE" dirty="0"/>
              <a:t>: </a:t>
            </a:r>
            <a:r>
              <a:rPr lang="fr-BE" dirty="0" err="1"/>
              <a:t>AutoFill</a:t>
            </a:r>
            <a:r>
              <a:rPr lang="fr-BE" dirty="0"/>
              <a:t> avec dates </a:t>
            </a:r>
            <a:endParaRPr lang="fr-BE" sz="1600" dirty="0"/>
          </a:p>
          <a:p>
            <a:pPr lvl="1"/>
            <a:r>
              <a:rPr lang="fr-BE" dirty="0"/>
              <a:t>Dans une nouvelle colonne, créer une séquence de dates</a:t>
            </a:r>
            <a:endParaRPr lang="fr-BE" sz="1600" dirty="0"/>
          </a:p>
          <a:p>
            <a:pPr lvl="1"/>
            <a:r>
              <a:rPr lang="fr-BE" dirty="0"/>
              <a:t>Saisir une première </a:t>
            </a:r>
            <a:r>
              <a:rPr lang="fr-BE" dirty="0" smtClean="0"/>
              <a:t>date</a:t>
            </a:r>
            <a:endParaRPr lang="fr-BE" dirty="0"/>
          </a:p>
          <a:p>
            <a:pPr lvl="1"/>
            <a:r>
              <a:rPr lang="fr-BE" dirty="0"/>
              <a:t>Utiliser l'</a:t>
            </a:r>
            <a:r>
              <a:rPr lang="fr-BE" dirty="0" err="1"/>
              <a:t>AutoFill</a:t>
            </a:r>
            <a:r>
              <a:rPr lang="fr-BE" dirty="0"/>
              <a:t> pour créer une séquence (jours, mois</a:t>
            </a:r>
            <a:r>
              <a:rPr lang="fr-BE" dirty="0" smtClean="0"/>
              <a:t>)</a:t>
            </a:r>
            <a:endParaRPr lang="fr-BE" sz="1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21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33936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93945" y="1235404"/>
            <a:ext cx="521342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Gestion des feuilles </a:t>
            </a:r>
            <a:endParaRPr lang="fr-BE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22</a:t>
            </a:fld>
            <a:endParaRPr lang="fr-BE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Débutant</a:t>
            </a:r>
          </a:p>
        </p:txBody>
      </p:sp>
    </p:spTree>
    <p:extLst>
      <p:ext uri="{BB962C8B-B14F-4D97-AF65-F5344CB8AC3E}">
        <p14:creationId xmlns:p14="http://schemas.microsoft.com/office/powerpoint/2010/main" val="201026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 pédagogiques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1 - Maîtriser </a:t>
            </a:r>
            <a:r>
              <a:rPr lang="fr-BE" dirty="0"/>
              <a:t>la gestion des feuilles de </a:t>
            </a:r>
            <a:r>
              <a:rPr lang="fr-BE" dirty="0" smtClean="0"/>
              <a:t>calcul</a:t>
            </a:r>
          </a:p>
          <a:p>
            <a:pPr lvl="0"/>
            <a:endParaRPr lang="fr-BE" dirty="0"/>
          </a:p>
          <a:p>
            <a:pPr lvl="0"/>
            <a:r>
              <a:rPr lang="fr-BE" dirty="0" smtClean="0"/>
              <a:t>2 - Comprendre </a:t>
            </a:r>
            <a:r>
              <a:rPr lang="fr-BE" dirty="0"/>
              <a:t>l'organisation d'un classeur </a:t>
            </a:r>
            <a:r>
              <a:rPr lang="fr-BE" dirty="0" smtClean="0"/>
              <a:t>Excel</a:t>
            </a:r>
          </a:p>
          <a:p>
            <a:pPr lvl="0"/>
            <a:endParaRPr lang="fr-BE" dirty="0"/>
          </a:p>
          <a:p>
            <a:pPr lvl="0"/>
            <a:r>
              <a:rPr lang="fr-BE" dirty="0" smtClean="0"/>
              <a:t>3 - Savoir </a:t>
            </a:r>
            <a:r>
              <a:rPr lang="fr-BE" dirty="0"/>
              <a:t>manipuler les données entre différentes feuilles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23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4526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846306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bases des feuilles de calcul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Structure d'un classeur </a:t>
            </a:r>
            <a:r>
              <a:rPr lang="fr-BE" dirty="0" smtClean="0"/>
              <a:t>Excel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Onglets des feuilles en bas de </a:t>
            </a:r>
            <a:r>
              <a:rPr lang="fr-BE" dirty="0" smtClean="0"/>
              <a:t>l'écran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Menu contextuel (clic droit sur les onglets</a:t>
            </a:r>
            <a:r>
              <a:rPr lang="fr-BE" dirty="0" smtClean="0"/>
              <a:t>)</a:t>
            </a:r>
          </a:p>
          <a:p>
            <a:pPr lvl="0"/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24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013043"/>
            <a:ext cx="7992590" cy="30484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177" y="3343802"/>
            <a:ext cx="2114845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7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75252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Opérations sur les feuilles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Créer : </a:t>
            </a:r>
            <a:r>
              <a:rPr lang="fr-BE"/>
              <a:t>icône </a:t>
            </a:r>
            <a:r>
              <a:rPr lang="fr-BE" smtClean="0"/>
              <a:t>                   </a:t>
            </a:r>
            <a:endParaRPr lang="fr-BE" dirty="0" smtClean="0"/>
          </a:p>
          <a:p>
            <a:pPr lvl="0"/>
            <a:endParaRPr lang="fr-BE" dirty="0"/>
          </a:p>
          <a:p>
            <a:pPr lvl="0"/>
            <a:r>
              <a:rPr lang="fr-BE" dirty="0"/>
              <a:t>Renommer : double-clic sur </a:t>
            </a:r>
            <a:r>
              <a:rPr lang="fr-BE" dirty="0" smtClean="0"/>
              <a:t>l'onglet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Déplacer : </a:t>
            </a:r>
            <a:r>
              <a:rPr lang="fr-BE" dirty="0" smtClean="0"/>
              <a:t>glisser-déposer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Supprimer : clic droit &gt; </a:t>
            </a:r>
            <a:r>
              <a:rPr lang="fr-BE" dirty="0" smtClean="0"/>
              <a:t>Supprimer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Couleur d'onglet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25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670" y="1834385"/>
            <a:ext cx="762106" cy="29531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17" y="2387116"/>
            <a:ext cx="790685" cy="30484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4622" y="3838167"/>
            <a:ext cx="3886742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0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66401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Transfert de données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Copier/Coller entre </a:t>
            </a:r>
            <a:r>
              <a:rPr lang="fr-BE" dirty="0" smtClean="0"/>
              <a:t>feuilles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Méthodes de sélection </a:t>
            </a:r>
            <a:r>
              <a:rPr lang="fr-BE" dirty="0" err="1" smtClean="0"/>
              <a:t>multifeuilles</a:t>
            </a:r>
            <a:endParaRPr lang="fr-BE" dirty="0" smtClean="0"/>
          </a:p>
          <a:p>
            <a:pPr lvl="0"/>
            <a:endParaRPr lang="fr-BE" dirty="0"/>
          </a:p>
          <a:p>
            <a:pPr lvl="0"/>
            <a:r>
              <a:rPr lang="fr-BE" dirty="0"/>
              <a:t>Références entre </a:t>
            </a:r>
            <a:r>
              <a:rPr lang="fr-BE" dirty="0" smtClean="0"/>
              <a:t>feuilles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Groupe de travail sur plusieurs feuilles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26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935" y="2339577"/>
            <a:ext cx="2991267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9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Exercice </a:t>
            </a:r>
            <a:r>
              <a:rPr lang="fr-FR" sz="4500" dirty="0" smtClean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pratique</a:t>
            </a:r>
            <a:endParaRPr lang="fr-FR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1) Organisation </a:t>
            </a:r>
            <a:r>
              <a:rPr lang="fr-BE" dirty="0"/>
              <a:t>des feuilles : </a:t>
            </a:r>
            <a:endParaRPr lang="fr-BE" sz="1600" dirty="0"/>
          </a:p>
          <a:p>
            <a:pPr lvl="1"/>
            <a:r>
              <a:rPr lang="fr-BE" dirty="0"/>
              <a:t>Renommer la feuille actuelle en "T1_2024"</a:t>
            </a:r>
            <a:endParaRPr lang="fr-BE" sz="1600" dirty="0"/>
          </a:p>
          <a:p>
            <a:pPr lvl="1"/>
            <a:r>
              <a:rPr lang="fr-BE" dirty="0"/>
              <a:t>Créer trois nouvelles feuilles : </a:t>
            </a:r>
            <a:endParaRPr lang="fr-BE" sz="1600" dirty="0"/>
          </a:p>
          <a:p>
            <a:pPr lvl="2"/>
            <a:r>
              <a:rPr lang="fr-BE" dirty="0"/>
              <a:t>"T2_2024"</a:t>
            </a:r>
            <a:endParaRPr lang="fr-BE" sz="1600" dirty="0"/>
          </a:p>
          <a:p>
            <a:pPr lvl="2"/>
            <a:r>
              <a:rPr lang="fr-BE" dirty="0"/>
              <a:t>"T3_2024"</a:t>
            </a:r>
            <a:endParaRPr lang="fr-BE" sz="1600" dirty="0"/>
          </a:p>
          <a:p>
            <a:pPr lvl="2"/>
            <a:r>
              <a:rPr lang="fr-BE" dirty="0"/>
              <a:t>"T4_2024"</a:t>
            </a:r>
            <a:endParaRPr lang="fr-BE" sz="1600" dirty="0"/>
          </a:p>
          <a:p>
            <a:pPr lvl="1"/>
            <a:r>
              <a:rPr lang="fr-BE" dirty="0"/>
              <a:t>Créer une feuille "BILAN_ANNUEL"</a:t>
            </a:r>
            <a:endParaRPr lang="fr-BE" sz="1600" dirty="0"/>
          </a:p>
          <a:p>
            <a:pPr lvl="1"/>
            <a:r>
              <a:rPr lang="fr-BE" dirty="0"/>
              <a:t>Organiser les onglets dans l'ordre </a:t>
            </a:r>
            <a:r>
              <a:rPr lang="fr-BE" dirty="0" smtClean="0"/>
              <a:t>chronologique</a:t>
            </a:r>
          </a:p>
          <a:p>
            <a:pPr lvl="1"/>
            <a:endParaRPr lang="fr-BE" sz="1600" dirty="0"/>
          </a:p>
          <a:p>
            <a:pPr lvl="0"/>
            <a:r>
              <a:rPr lang="fr-BE" dirty="0" smtClean="0"/>
              <a:t>2) Mise </a:t>
            </a:r>
            <a:r>
              <a:rPr lang="fr-BE" dirty="0"/>
              <a:t>en forme des feuilles : </a:t>
            </a:r>
            <a:endParaRPr lang="fr-BE" sz="1600" dirty="0"/>
          </a:p>
          <a:p>
            <a:pPr lvl="1"/>
            <a:r>
              <a:rPr lang="fr-BE" dirty="0"/>
              <a:t>Attribuer des couleurs aux onglets : </a:t>
            </a:r>
            <a:endParaRPr lang="fr-BE" sz="1600" dirty="0"/>
          </a:p>
          <a:p>
            <a:pPr lvl="2"/>
            <a:r>
              <a:rPr lang="fr-BE" dirty="0"/>
              <a:t>T1 : Vert clair</a:t>
            </a:r>
            <a:endParaRPr lang="fr-BE" sz="1600" dirty="0"/>
          </a:p>
          <a:p>
            <a:pPr lvl="2"/>
            <a:r>
              <a:rPr lang="fr-BE" dirty="0"/>
              <a:t>T2 : Jaune</a:t>
            </a:r>
            <a:endParaRPr lang="fr-BE" sz="1600" dirty="0"/>
          </a:p>
          <a:p>
            <a:pPr lvl="2"/>
            <a:r>
              <a:rPr lang="fr-BE" dirty="0"/>
              <a:t>T3 : Orange</a:t>
            </a:r>
            <a:endParaRPr lang="fr-BE" sz="1600" dirty="0"/>
          </a:p>
          <a:p>
            <a:pPr lvl="2"/>
            <a:r>
              <a:rPr lang="fr-BE" dirty="0"/>
              <a:t>T4 : Rouge</a:t>
            </a:r>
            <a:endParaRPr lang="fr-BE" sz="1600" dirty="0"/>
          </a:p>
          <a:p>
            <a:pPr lvl="2"/>
            <a:r>
              <a:rPr lang="fr-BE" dirty="0"/>
              <a:t>BILAN : Bleu</a:t>
            </a:r>
            <a:endParaRPr lang="fr-BE" sz="1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27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1625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085386" y="1772816"/>
            <a:ext cx="78031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3) Copie </a:t>
            </a:r>
            <a:r>
              <a:rPr lang="fr-BE" dirty="0"/>
              <a:t>et adaptation du tableau : </a:t>
            </a:r>
            <a:endParaRPr lang="fr-BE" sz="1600" dirty="0"/>
          </a:p>
          <a:p>
            <a:pPr lvl="1"/>
            <a:r>
              <a:rPr lang="fr-BE" dirty="0"/>
              <a:t>Copier le tableau de la feuille T1 vers T2, T3 et T4</a:t>
            </a:r>
            <a:endParaRPr lang="fr-BE" sz="1600" dirty="0"/>
          </a:p>
          <a:p>
            <a:pPr lvl="1"/>
            <a:r>
              <a:rPr lang="fr-BE" dirty="0"/>
              <a:t>Dans chaque feuille, adapter les dates au trimestre concerné</a:t>
            </a:r>
            <a:endParaRPr lang="fr-BE" sz="1600" dirty="0"/>
          </a:p>
          <a:p>
            <a:pPr lvl="1"/>
            <a:r>
              <a:rPr lang="fr-BE" dirty="0"/>
              <a:t>Vérifier que les formules fonctionnent dans chaque feuille</a:t>
            </a:r>
            <a:endParaRPr lang="fr-BE" sz="1600" dirty="0"/>
          </a:p>
          <a:p>
            <a:pPr lvl="0"/>
            <a:endParaRPr lang="fr-BE" dirty="0" smtClean="0"/>
          </a:p>
          <a:p>
            <a:pPr lvl="0"/>
            <a:r>
              <a:rPr lang="fr-BE" dirty="0" smtClean="0"/>
              <a:t>4) Création </a:t>
            </a:r>
            <a:r>
              <a:rPr lang="fr-BE" dirty="0"/>
              <a:t>du bilan annuel : </a:t>
            </a:r>
            <a:endParaRPr lang="fr-BE" sz="1600" dirty="0"/>
          </a:p>
          <a:p>
            <a:pPr lvl="1"/>
            <a:r>
              <a:rPr lang="fr-BE" dirty="0"/>
              <a:t>Dans la feuille "BILAN_ANNUEL", créer un tableau récapitulatif</a:t>
            </a:r>
            <a:endParaRPr lang="fr-BE" sz="1600" dirty="0"/>
          </a:p>
          <a:p>
            <a:pPr lvl="1"/>
            <a:r>
              <a:rPr lang="fr-BE" dirty="0"/>
              <a:t>Colonnes : Trimestre, Nombre de ventes, Chiffre d'affaires</a:t>
            </a:r>
            <a:endParaRPr lang="fr-BE" sz="1600" dirty="0"/>
          </a:p>
          <a:p>
            <a:pPr lvl="1"/>
            <a:r>
              <a:rPr lang="fr-BE" dirty="0"/>
              <a:t>Faire référence aux données des autres feuilles</a:t>
            </a:r>
            <a:endParaRPr lang="fr-BE" sz="1600" dirty="0"/>
          </a:p>
          <a:p>
            <a:endParaRPr lang="fr-BE" dirty="0" smtClean="0"/>
          </a:p>
          <a:p>
            <a:r>
              <a:rPr lang="fr-BE" dirty="0" smtClean="0"/>
              <a:t>Par </a:t>
            </a:r>
            <a:r>
              <a:rPr lang="fr-BE" dirty="0"/>
              <a:t>exemple : ='T1_2024'!E8 pour le chiffre d'affaires du T1</a:t>
            </a:r>
            <a:endParaRPr lang="fr-BE" sz="24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28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8015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93945" y="1235404"/>
            <a:ext cx="6379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Création de graphiques basiques</a:t>
            </a:r>
            <a:endParaRPr lang="fr-BE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29</a:t>
            </a:fld>
            <a:endParaRPr lang="fr-BE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Débutant</a:t>
            </a:r>
          </a:p>
        </p:txBody>
      </p:sp>
    </p:spTree>
    <p:extLst>
      <p:ext uri="{BB962C8B-B14F-4D97-AF65-F5344CB8AC3E}">
        <p14:creationId xmlns:p14="http://schemas.microsoft.com/office/powerpoint/2010/main" val="374135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 pédagogiques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1 - Comprendre </a:t>
            </a:r>
            <a:r>
              <a:rPr lang="fr-BE" dirty="0"/>
              <a:t>les types de graphiques de </a:t>
            </a:r>
            <a:r>
              <a:rPr lang="fr-BE" dirty="0" smtClean="0"/>
              <a:t>base</a:t>
            </a:r>
          </a:p>
          <a:p>
            <a:pPr lvl="0"/>
            <a:endParaRPr lang="fr-BE" dirty="0"/>
          </a:p>
          <a:p>
            <a:pPr lvl="0"/>
            <a:r>
              <a:rPr lang="fr-BE" dirty="0" smtClean="0"/>
              <a:t>2 - Maîtriser </a:t>
            </a:r>
            <a:r>
              <a:rPr lang="fr-BE" dirty="0"/>
              <a:t>l'insertion d'un graphique </a:t>
            </a:r>
            <a:r>
              <a:rPr lang="fr-BE" dirty="0" smtClean="0"/>
              <a:t>simple</a:t>
            </a:r>
          </a:p>
          <a:p>
            <a:pPr lvl="0"/>
            <a:endParaRPr lang="fr-BE" dirty="0"/>
          </a:p>
          <a:p>
            <a:pPr lvl="0"/>
            <a:r>
              <a:rPr lang="fr-BE" dirty="0" smtClean="0"/>
              <a:t>3 - Savoir </a:t>
            </a:r>
            <a:r>
              <a:rPr lang="fr-BE" dirty="0"/>
              <a:t>personnaliser les éléments d'un graphique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30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2180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894956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types de graphiques basiques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Graphique en colonnes : comparaison de </a:t>
            </a:r>
            <a:r>
              <a:rPr lang="fr-BE" dirty="0" smtClean="0"/>
              <a:t>valeurs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Graphique en barres : comparaison </a:t>
            </a:r>
            <a:r>
              <a:rPr lang="fr-BE" dirty="0" smtClean="0"/>
              <a:t>horizontale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Courbes : évolution dans le </a:t>
            </a:r>
            <a:r>
              <a:rPr lang="fr-BE" dirty="0" smtClean="0"/>
              <a:t>temps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Secteurs (camembert) : répartition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31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886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75252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Éléments d'un graphique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>
                <a:solidFill>
                  <a:srgbClr val="FF0000"/>
                </a:solidFill>
              </a:rPr>
              <a:t>Titre du </a:t>
            </a:r>
            <a:r>
              <a:rPr lang="fr-BE" dirty="0" smtClean="0">
                <a:solidFill>
                  <a:srgbClr val="FF0000"/>
                </a:solidFill>
              </a:rPr>
              <a:t>graphique</a:t>
            </a:r>
          </a:p>
          <a:p>
            <a:pPr lvl="0"/>
            <a:endParaRPr lang="fr-BE" dirty="0"/>
          </a:p>
          <a:p>
            <a:pPr lvl="0"/>
            <a:r>
              <a:rPr lang="fr-BE" dirty="0" smtClean="0">
                <a:solidFill>
                  <a:srgbClr val="92D050"/>
                </a:solidFill>
              </a:rPr>
              <a:t>Légende</a:t>
            </a:r>
          </a:p>
          <a:p>
            <a:pPr lvl="0"/>
            <a:endParaRPr lang="fr-BE" dirty="0"/>
          </a:p>
          <a:p>
            <a:pPr lvl="0"/>
            <a:r>
              <a:rPr lang="fr-BE" dirty="0">
                <a:solidFill>
                  <a:srgbClr val="0070C0"/>
                </a:solidFill>
              </a:rPr>
              <a:t>Axes et leurs </a:t>
            </a:r>
            <a:r>
              <a:rPr lang="fr-BE" dirty="0" smtClean="0">
                <a:solidFill>
                  <a:srgbClr val="0070C0"/>
                </a:solidFill>
              </a:rPr>
              <a:t>titres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Étiquettes de </a:t>
            </a:r>
            <a:r>
              <a:rPr lang="fr-BE" dirty="0" smtClean="0"/>
              <a:t>données</a:t>
            </a:r>
          </a:p>
          <a:p>
            <a:pPr lvl="0"/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32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631" y="1477526"/>
            <a:ext cx="7478169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6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66401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Personnalisation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Couleurs et </a:t>
            </a:r>
            <a:r>
              <a:rPr lang="fr-BE" dirty="0" smtClean="0"/>
              <a:t>styles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Format des </a:t>
            </a:r>
            <a:r>
              <a:rPr lang="fr-BE" dirty="0" smtClean="0"/>
              <a:t>axes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Position de la </a:t>
            </a:r>
            <a:r>
              <a:rPr lang="fr-BE" dirty="0" smtClean="0"/>
              <a:t>légende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Mise en forme des étiquettes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33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608" y="1619340"/>
            <a:ext cx="3581900" cy="141942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241" y="3038763"/>
            <a:ext cx="2991267" cy="122889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40" y="4588778"/>
            <a:ext cx="10543960" cy="94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4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Exercice </a:t>
            </a:r>
            <a:r>
              <a:rPr lang="fr-FR" sz="4500" dirty="0" smtClean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pratique</a:t>
            </a:r>
            <a:endParaRPr lang="fr-FR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1) Créer </a:t>
            </a:r>
            <a:r>
              <a:rPr lang="fr-BE" dirty="0"/>
              <a:t>un graphique en colonnes : </a:t>
            </a:r>
            <a:endParaRPr lang="fr-BE" sz="1600" dirty="0"/>
          </a:p>
          <a:p>
            <a:pPr lvl="1"/>
            <a:r>
              <a:rPr lang="fr-BE" dirty="0"/>
              <a:t>Dans la feuille "BILAN_ANNUEL"</a:t>
            </a:r>
            <a:endParaRPr lang="fr-BE" sz="1600" dirty="0"/>
          </a:p>
          <a:p>
            <a:pPr lvl="1"/>
            <a:r>
              <a:rPr lang="fr-BE" dirty="0"/>
              <a:t>Sélectionner les données de CA par trimestre</a:t>
            </a:r>
            <a:endParaRPr lang="fr-BE" sz="1600" dirty="0"/>
          </a:p>
          <a:p>
            <a:pPr lvl="1"/>
            <a:r>
              <a:rPr lang="fr-BE" dirty="0"/>
              <a:t>Onglet Insertion &gt; Graphique en colonnes</a:t>
            </a:r>
            <a:endParaRPr lang="fr-BE" sz="1600" dirty="0"/>
          </a:p>
          <a:p>
            <a:pPr lvl="1"/>
            <a:r>
              <a:rPr lang="fr-BE" dirty="0"/>
              <a:t>Titre : "Chiffre d'Affaires 2024 par Trimestre"</a:t>
            </a:r>
            <a:endParaRPr lang="fr-BE" sz="1600" dirty="0"/>
          </a:p>
          <a:p>
            <a:pPr lvl="1"/>
            <a:r>
              <a:rPr lang="fr-BE" dirty="0"/>
              <a:t>Ajouter les étiquettes de valeur</a:t>
            </a:r>
            <a:endParaRPr lang="fr-BE" sz="1600" dirty="0"/>
          </a:p>
          <a:p>
            <a:pPr lvl="0"/>
            <a:endParaRPr lang="fr-BE" dirty="0"/>
          </a:p>
          <a:p>
            <a:pPr lvl="0"/>
            <a:r>
              <a:rPr lang="fr-BE" dirty="0" smtClean="0"/>
              <a:t>2) Personnaliser </a:t>
            </a:r>
            <a:r>
              <a:rPr lang="fr-BE" dirty="0"/>
              <a:t>le graphique : </a:t>
            </a:r>
            <a:endParaRPr lang="fr-BE" sz="1600" dirty="0"/>
          </a:p>
          <a:p>
            <a:pPr lvl="1"/>
            <a:r>
              <a:rPr lang="fr-BE" dirty="0"/>
              <a:t>Modifier les couleurs des colonnes</a:t>
            </a:r>
            <a:endParaRPr lang="fr-BE" sz="1600" dirty="0"/>
          </a:p>
          <a:p>
            <a:pPr lvl="1"/>
            <a:r>
              <a:rPr lang="fr-BE" dirty="0"/>
              <a:t>Ajouter un titre d'axe Y : "Chiffre d'Affaires (€)"</a:t>
            </a:r>
            <a:endParaRPr lang="fr-BE" sz="1600" dirty="0"/>
          </a:p>
          <a:p>
            <a:pPr lvl="1"/>
            <a:r>
              <a:rPr lang="fr-BE" dirty="0"/>
              <a:t>Ajouter un titre d'axe X : "Trimestres"</a:t>
            </a:r>
            <a:endParaRPr lang="fr-BE" sz="1600" dirty="0"/>
          </a:p>
          <a:p>
            <a:pPr lvl="1"/>
            <a:r>
              <a:rPr lang="fr-BE" dirty="0"/>
              <a:t>Ajuster le format des nombres sur l'axe Y</a:t>
            </a:r>
            <a:endParaRPr lang="fr-BE" sz="1600" dirty="0"/>
          </a:p>
          <a:p>
            <a:pPr lvl="1"/>
            <a:r>
              <a:rPr lang="fr-BE" dirty="0"/>
              <a:t>Ajouter une légende</a:t>
            </a:r>
            <a:endParaRPr lang="fr-BE" sz="1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34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4323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085386" y="1772816"/>
            <a:ext cx="780311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3) Créer </a:t>
            </a:r>
            <a:r>
              <a:rPr lang="fr-BE" dirty="0"/>
              <a:t>un graphique en secteurs : </a:t>
            </a:r>
            <a:endParaRPr lang="fr-BE" sz="1600" dirty="0"/>
          </a:p>
          <a:p>
            <a:pPr lvl="1"/>
            <a:r>
              <a:rPr lang="fr-BE" dirty="0"/>
              <a:t>Nouvelle feuille nommée "Graphiques"</a:t>
            </a:r>
            <a:endParaRPr lang="fr-BE" sz="1600" dirty="0"/>
          </a:p>
          <a:p>
            <a:pPr lvl="1"/>
            <a:r>
              <a:rPr lang="fr-BE" dirty="0"/>
              <a:t>Créer un graphique en secteurs des quantités vendues par produit</a:t>
            </a:r>
            <a:endParaRPr lang="fr-BE" sz="1600" dirty="0"/>
          </a:p>
          <a:p>
            <a:pPr lvl="1"/>
            <a:r>
              <a:rPr lang="fr-BE" dirty="0"/>
              <a:t>Titre : "Répartition des ventes par produit"</a:t>
            </a:r>
            <a:endParaRPr lang="fr-BE" sz="1600" dirty="0"/>
          </a:p>
          <a:p>
            <a:pPr lvl="1"/>
            <a:r>
              <a:rPr lang="fr-BE" dirty="0"/>
              <a:t>Ajouter les pourcentages</a:t>
            </a:r>
            <a:endParaRPr lang="fr-BE" sz="1600" dirty="0"/>
          </a:p>
          <a:p>
            <a:pPr lvl="1"/>
            <a:r>
              <a:rPr lang="fr-BE" dirty="0"/>
              <a:t>Détacher un secteur pour le mettre en </a:t>
            </a:r>
            <a:r>
              <a:rPr lang="fr-BE" dirty="0" smtClean="0"/>
              <a:t>évidence</a:t>
            </a:r>
          </a:p>
          <a:p>
            <a:pPr lvl="1"/>
            <a:endParaRPr lang="fr-BE" sz="1600" dirty="0"/>
          </a:p>
          <a:p>
            <a:pPr lvl="0"/>
            <a:endParaRPr lang="fr-BE" dirty="0" smtClean="0"/>
          </a:p>
          <a:p>
            <a:pPr lvl="0"/>
            <a:r>
              <a:rPr lang="fr-BE" dirty="0" smtClean="0"/>
              <a:t>4) Mise </a:t>
            </a:r>
            <a:r>
              <a:rPr lang="fr-BE" dirty="0"/>
              <a:t>en page finale : </a:t>
            </a:r>
            <a:endParaRPr lang="fr-BE" sz="1600" dirty="0"/>
          </a:p>
          <a:p>
            <a:pPr lvl="1"/>
            <a:r>
              <a:rPr lang="fr-BE" dirty="0"/>
              <a:t>Redimensionner les graphiques</a:t>
            </a:r>
            <a:endParaRPr lang="fr-BE" sz="1600" dirty="0"/>
          </a:p>
          <a:p>
            <a:pPr lvl="1"/>
            <a:r>
              <a:rPr lang="fr-BE" dirty="0"/>
              <a:t>Positionner les légendes de manière optimale</a:t>
            </a:r>
            <a:endParaRPr lang="fr-BE" sz="1600" dirty="0"/>
          </a:p>
          <a:p>
            <a:pPr lvl="1"/>
            <a:r>
              <a:rPr lang="fr-BE" dirty="0"/>
              <a:t>Vérifier la lisibilité des données</a:t>
            </a:r>
            <a:endParaRPr lang="fr-BE" sz="1600" dirty="0"/>
          </a:p>
          <a:p>
            <a:pPr lvl="1"/>
            <a:r>
              <a:rPr lang="fr-BE" dirty="0"/>
              <a:t>Ajouter une zone de texte avec </a:t>
            </a:r>
            <a:r>
              <a:rPr lang="fr-BE" dirty="0" smtClean="0"/>
              <a:t>commentaires</a:t>
            </a:r>
          </a:p>
          <a:p>
            <a:pPr lvl="1"/>
            <a:endParaRPr lang="fr-BE" sz="1600" dirty="0" smtClean="0"/>
          </a:p>
          <a:p>
            <a:pPr lvl="0"/>
            <a:endParaRPr lang="fr-BE" dirty="0"/>
          </a:p>
          <a:p>
            <a:pPr lvl="1"/>
            <a:r>
              <a:rPr lang="fr-BE" sz="1600" dirty="0" err="1" smtClean="0"/>
              <a:t>Bonnus</a:t>
            </a:r>
            <a:r>
              <a:rPr lang="fr-BE" sz="1600" dirty="0" smtClean="0"/>
              <a:t> : F11</a:t>
            </a:r>
            <a:endParaRPr lang="fr-BE" sz="1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35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1722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93944" y="1235404"/>
            <a:ext cx="73177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Mise en page et </a:t>
            </a:r>
            <a:r>
              <a:rPr lang="fr-FR" sz="4500" dirty="0" smtClean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impression</a:t>
            </a:r>
            <a:endParaRPr lang="fr-BE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36</a:t>
            </a:fld>
            <a:endParaRPr lang="fr-BE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Débutant</a:t>
            </a:r>
          </a:p>
        </p:txBody>
      </p:sp>
    </p:spTree>
    <p:extLst>
      <p:ext uri="{BB962C8B-B14F-4D97-AF65-F5344CB8AC3E}">
        <p14:creationId xmlns:p14="http://schemas.microsoft.com/office/powerpoint/2010/main" val="348456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 pédagogiques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1 - Maîtriser </a:t>
            </a:r>
            <a:r>
              <a:rPr lang="fr-BE" dirty="0"/>
              <a:t>les paramètres de mise en page</a:t>
            </a:r>
          </a:p>
          <a:p>
            <a:pPr lvl="0"/>
            <a:endParaRPr lang="fr-BE" dirty="0" smtClean="0"/>
          </a:p>
          <a:p>
            <a:pPr lvl="0"/>
            <a:r>
              <a:rPr lang="fr-BE" dirty="0" smtClean="0"/>
              <a:t>2 - Comprendre </a:t>
            </a:r>
            <a:r>
              <a:rPr lang="fr-BE" dirty="0"/>
              <a:t>les options d'impression</a:t>
            </a:r>
          </a:p>
          <a:p>
            <a:pPr lvl="0"/>
            <a:endParaRPr lang="fr-BE" dirty="0" smtClean="0"/>
          </a:p>
          <a:p>
            <a:pPr lvl="0"/>
            <a:r>
              <a:rPr lang="fr-BE" dirty="0" smtClean="0"/>
              <a:t>3 - Savoir </a:t>
            </a:r>
            <a:r>
              <a:rPr lang="fr-BE" dirty="0"/>
              <a:t>préparer un document professionnel pour l'impression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37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8795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894956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mise en page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Accès aux options de mise en </a:t>
            </a:r>
            <a:r>
              <a:rPr lang="fr-BE" dirty="0" smtClean="0"/>
              <a:t>page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Orientation : </a:t>
            </a:r>
            <a:r>
              <a:rPr lang="fr-BE" dirty="0" smtClean="0"/>
              <a:t>portrait/paysage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Marges et </a:t>
            </a:r>
            <a:r>
              <a:rPr lang="fr-BE" dirty="0" smtClean="0"/>
              <a:t>centrage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Zone d'impression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38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9" y="4029735"/>
            <a:ext cx="10898121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0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75252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Paramètres d'impression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En-têtes et pieds de </a:t>
            </a:r>
            <a:r>
              <a:rPr lang="fr-BE" dirty="0" smtClean="0"/>
              <a:t>page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Quadrillage et titres </a:t>
            </a:r>
            <a:r>
              <a:rPr lang="fr-BE" dirty="0" smtClean="0"/>
              <a:t>répétés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Ajustement </a:t>
            </a:r>
            <a:r>
              <a:rPr lang="fr-BE" dirty="0" smtClean="0"/>
              <a:t>automatique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Ordre des pages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39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681" y="1772816"/>
            <a:ext cx="3486637" cy="108600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993" y="2858818"/>
            <a:ext cx="3551001" cy="293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3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66401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Aperçu et impression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/>
              <a:t>Utilisation de l'aperçu avant </a:t>
            </a:r>
            <a:r>
              <a:rPr lang="fr-BE" dirty="0" smtClean="0"/>
              <a:t>impression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Vérification des sauts de </a:t>
            </a:r>
            <a:r>
              <a:rPr lang="fr-BE" dirty="0" smtClean="0"/>
              <a:t>page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Options </a:t>
            </a:r>
            <a:r>
              <a:rPr lang="fr-BE" dirty="0" smtClean="0"/>
              <a:t>d'impression</a:t>
            </a:r>
          </a:p>
          <a:p>
            <a:pPr lvl="0"/>
            <a:endParaRPr lang="fr-BE" dirty="0"/>
          </a:p>
          <a:p>
            <a:pPr lvl="0"/>
            <a:r>
              <a:rPr lang="fr-BE" dirty="0"/>
              <a:t>Export en PDF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40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802" y="2163690"/>
            <a:ext cx="7465703" cy="405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085385" y="692696"/>
            <a:ext cx="807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Exercice </a:t>
            </a:r>
            <a:r>
              <a:rPr lang="fr-FR" sz="4500" dirty="0" smtClean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pratique</a:t>
            </a:r>
            <a:endParaRPr lang="fr-FR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85386" y="1772816"/>
            <a:ext cx="78031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1) Préparation </a:t>
            </a:r>
            <a:r>
              <a:rPr lang="fr-BE" dirty="0"/>
              <a:t>de la feuille "BILAN_ANNUEL" : </a:t>
            </a:r>
            <a:endParaRPr lang="fr-BE" sz="1600" dirty="0"/>
          </a:p>
          <a:p>
            <a:pPr lvl="1"/>
            <a:r>
              <a:rPr lang="fr-BE" dirty="0"/>
              <a:t>Vérifier que toutes les données sont visibles</a:t>
            </a:r>
            <a:endParaRPr lang="fr-BE" sz="1600" dirty="0"/>
          </a:p>
          <a:p>
            <a:pPr lvl="1"/>
            <a:r>
              <a:rPr lang="fr-BE" dirty="0"/>
              <a:t>Ajuster la largeur des colonnes</a:t>
            </a:r>
            <a:endParaRPr lang="fr-BE" sz="1600" dirty="0"/>
          </a:p>
          <a:p>
            <a:pPr lvl="1"/>
            <a:r>
              <a:rPr lang="fr-BE" dirty="0"/>
              <a:t>Vérifier les alignements et la mise en forme</a:t>
            </a:r>
            <a:endParaRPr lang="fr-BE" sz="1600" dirty="0"/>
          </a:p>
          <a:p>
            <a:pPr lvl="0"/>
            <a:endParaRPr lang="fr-BE" dirty="0" smtClean="0"/>
          </a:p>
          <a:p>
            <a:pPr lvl="0"/>
            <a:r>
              <a:rPr lang="fr-BE" dirty="0" smtClean="0"/>
              <a:t>2) Configuration </a:t>
            </a:r>
            <a:r>
              <a:rPr lang="fr-BE" dirty="0"/>
              <a:t>de la mise en page : </a:t>
            </a:r>
            <a:endParaRPr lang="fr-BE" sz="1600" dirty="0"/>
          </a:p>
          <a:p>
            <a:pPr lvl="1"/>
            <a:r>
              <a:rPr lang="fr-BE" dirty="0"/>
              <a:t>Ouvrir Mise en page (onglet Mise en page)</a:t>
            </a:r>
            <a:endParaRPr lang="fr-BE" sz="1600" dirty="0"/>
          </a:p>
          <a:p>
            <a:pPr lvl="1"/>
            <a:r>
              <a:rPr lang="fr-BE" dirty="0"/>
              <a:t>Définir : </a:t>
            </a:r>
            <a:endParaRPr lang="fr-BE" sz="1600" dirty="0"/>
          </a:p>
          <a:p>
            <a:pPr lvl="2"/>
            <a:r>
              <a:rPr lang="fr-BE" dirty="0"/>
              <a:t>Orientation : Paysage</a:t>
            </a:r>
            <a:endParaRPr lang="fr-BE" sz="1600" dirty="0"/>
          </a:p>
          <a:p>
            <a:pPr lvl="2"/>
            <a:r>
              <a:rPr lang="fr-BE" dirty="0"/>
              <a:t>Marges : Étroites</a:t>
            </a:r>
            <a:endParaRPr lang="fr-BE" sz="1600" dirty="0"/>
          </a:p>
          <a:p>
            <a:pPr lvl="2"/>
            <a:r>
              <a:rPr lang="fr-BE" dirty="0"/>
              <a:t>Centrage horizontal : Oui</a:t>
            </a:r>
            <a:endParaRPr lang="fr-BE" sz="1600" dirty="0"/>
          </a:p>
          <a:p>
            <a:pPr lvl="2"/>
            <a:r>
              <a:rPr lang="fr-BE" dirty="0"/>
              <a:t>Échelle : Ajuster à 1 page de large</a:t>
            </a:r>
            <a:endParaRPr lang="fr-BE" sz="1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41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8377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085386" y="1772816"/>
            <a:ext cx="780311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 smtClean="0"/>
              <a:t>3) Personnaliser </a:t>
            </a:r>
            <a:r>
              <a:rPr lang="fr-BE" dirty="0"/>
              <a:t>en-têtes et pieds de page : </a:t>
            </a:r>
            <a:endParaRPr lang="fr-BE" sz="1600" dirty="0"/>
          </a:p>
          <a:p>
            <a:pPr lvl="1"/>
            <a:r>
              <a:rPr lang="fr-BE" dirty="0"/>
              <a:t>En-tête : </a:t>
            </a:r>
            <a:endParaRPr lang="fr-BE" sz="1600" dirty="0"/>
          </a:p>
          <a:p>
            <a:pPr lvl="2"/>
            <a:r>
              <a:rPr lang="fr-BE" dirty="0"/>
              <a:t>Gauche : Logo (si disponible)</a:t>
            </a:r>
            <a:endParaRPr lang="fr-BE" sz="1600" dirty="0"/>
          </a:p>
          <a:p>
            <a:pPr lvl="2"/>
            <a:r>
              <a:rPr lang="fr-BE" dirty="0"/>
              <a:t>Centre : "Bilan des Ventes 2024"</a:t>
            </a:r>
            <a:endParaRPr lang="fr-BE" sz="1600" dirty="0"/>
          </a:p>
          <a:p>
            <a:pPr lvl="2"/>
            <a:r>
              <a:rPr lang="fr-BE" dirty="0"/>
              <a:t>Droite : Date d'impression</a:t>
            </a:r>
            <a:endParaRPr lang="fr-BE" sz="1600" dirty="0"/>
          </a:p>
          <a:p>
            <a:pPr lvl="1"/>
            <a:r>
              <a:rPr lang="fr-BE" dirty="0"/>
              <a:t>Pied de page : </a:t>
            </a:r>
            <a:endParaRPr lang="fr-BE" sz="1600" dirty="0"/>
          </a:p>
          <a:p>
            <a:pPr lvl="2"/>
            <a:r>
              <a:rPr lang="fr-BE" dirty="0"/>
              <a:t>Gauche : Nom de l'entreprise</a:t>
            </a:r>
            <a:endParaRPr lang="fr-BE" sz="1600" dirty="0"/>
          </a:p>
          <a:p>
            <a:pPr lvl="2"/>
            <a:r>
              <a:rPr lang="fr-BE" dirty="0"/>
              <a:t>Centre : Page X sur Y</a:t>
            </a:r>
            <a:endParaRPr lang="fr-BE" sz="1600" dirty="0"/>
          </a:p>
          <a:p>
            <a:pPr lvl="2"/>
            <a:r>
              <a:rPr lang="fr-BE" dirty="0"/>
              <a:t>Droite : </a:t>
            </a:r>
            <a:r>
              <a:rPr lang="fr-BE" dirty="0" smtClean="0"/>
              <a:t>Confidentiel</a:t>
            </a:r>
          </a:p>
          <a:p>
            <a:pPr lvl="2"/>
            <a:endParaRPr lang="fr-BE" sz="1600" dirty="0"/>
          </a:p>
          <a:p>
            <a:pPr lvl="0"/>
            <a:r>
              <a:rPr lang="fr-BE" dirty="0" smtClean="0"/>
              <a:t>4) Options </a:t>
            </a:r>
            <a:r>
              <a:rPr lang="fr-BE" dirty="0"/>
              <a:t>d'impression avancées : </a:t>
            </a:r>
            <a:endParaRPr lang="fr-BE" sz="1600" dirty="0"/>
          </a:p>
          <a:p>
            <a:pPr lvl="1"/>
            <a:r>
              <a:rPr lang="fr-BE" dirty="0"/>
              <a:t>Activer le quadrillage</a:t>
            </a:r>
            <a:endParaRPr lang="fr-BE" sz="1600" dirty="0"/>
          </a:p>
          <a:p>
            <a:pPr lvl="1"/>
            <a:r>
              <a:rPr lang="fr-BE" dirty="0"/>
              <a:t>Répéter les titres sur chaque page</a:t>
            </a:r>
            <a:endParaRPr lang="fr-BE" sz="1600" dirty="0"/>
          </a:p>
          <a:p>
            <a:pPr lvl="1"/>
            <a:r>
              <a:rPr lang="fr-BE" dirty="0"/>
              <a:t>Définir la zone </a:t>
            </a:r>
            <a:r>
              <a:rPr lang="fr-BE" dirty="0" smtClean="0"/>
              <a:t>d'impression</a:t>
            </a:r>
          </a:p>
          <a:p>
            <a:pPr lvl="1"/>
            <a:r>
              <a:rPr lang="fr-BE" sz="1600" dirty="0"/>
              <a:t>Ajuster les sauts de </a:t>
            </a:r>
            <a:r>
              <a:rPr lang="fr-BE" sz="1600" dirty="0" smtClean="0"/>
              <a:t>page</a:t>
            </a:r>
            <a:endParaRPr lang="fr-BE" sz="2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42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4349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85386" y="692696"/>
            <a:ext cx="66401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500" dirty="0" smtClean="0">
                <a:solidFill>
                  <a:srgbClr val="00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aller plus loin…</a:t>
            </a:r>
            <a:endParaRPr lang="fr-FR" sz="4500" dirty="0">
              <a:solidFill>
                <a:srgbClr val="002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085386" y="1772816"/>
            <a:ext cx="7803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dirty="0" smtClean="0"/>
              <a:t>Télécharger ce document</a:t>
            </a:r>
            <a:endParaRPr lang="fr-BE" dirty="0" smtClean="0"/>
          </a:p>
          <a:p>
            <a:pPr lvl="0"/>
            <a:endParaRPr lang="fr-BE" dirty="0" smtClean="0"/>
          </a:p>
          <a:p>
            <a:pPr lvl="0"/>
            <a:r>
              <a:rPr lang="fr-FR" dirty="0" smtClean="0"/>
              <a:t>S’inscrire au module 2</a:t>
            </a:r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43</a:t>
            </a:fld>
            <a:endParaRPr lang="fr-BE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7220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CF6BF-19FA-4A5F-BF39-DB960C4A6126}" type="slidenum">
              <a:rPr lang="fr-BE" smtClean="0"/>
              <a:t>44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Niveau </a:t>
            </a:r>
            <a:r>
              <a:rPr lang="fr-BE" dirty="0" smtClean="0"/>
              <a:t>Débutant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50023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</TotalTime>
  <Words>1737</Words>
  <Application>Microsoft Office PowerPoint</Application>
  <PresentationFormat>Grand écran</PresentationFormat>
  <Paragraphs>435</Paragraphs>
  <Slides>44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SPRUMONT, Valerie</dc:creator>
  <cp:lastModifiedBy>BUSSERS, Charles</cp:lastModifiedBy>
  <cp:revision>45</cp:revision>
  <dcterms:created xsi:type="dcterms:W3CDTF">2021-01-18T12:43:54Z</dcterms:created>
  <dcterms:modified xsi:type="dcterms:W3CDTF">2026-05-13T09:53:38Z</dcterms:modified>
</cp:coreProperties>
</file>