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6" r:id="rId2"/>
    <p:sldId id="257" r:id="rId3"/>
    <p:sldId id="260" r:id="rId4"/>
    <p:sldId id="322" r:id="rId5"/>
    <p:sldId id="324" r:id="rId6"/>
    <p:sldId id="323" r:id="rId7"/>
    <p:sldId id="262" r:id="rId8"/>
    <p:sldId id="326" r:id="rId9"/>
    <p:sldId id="325" r:id="rId10"/>
    <p:sldId id="327" r:id="rId11"/>
    <p:sldId id="263" r:id="rId12"/>
    <p:sldId id="328" r:id="rId13"/>
    <p:sldId id="264" r:id="rId14"/>
    <p:sldId id="329" r:id="rId15"/>
    <p:sldId id="330" r:id="rId16"/>
    <p:sldId id="331" r:id="rId17"/>
    <p:sldId id="332" r:id="rId18"/>
    <p:sldId id="333" r:id="rId19"/>
    <p:sldId id="334" r:id="rId20"/>
    <p:sldId id="335" r:id="rId21"/>
    <p:sldId id="336" r:id="rId22"/>
    <p:sldId id="338" r:id="rId23"/>
    <p:sldId id="340" r:id="rId24"/>
    <p:sldId id="341" r:id="rId25"/>
    <p:sldId id="342" r:id="rId26"/>
    <p:sldId id="343" r:id="rId27"/>
    <p:sldId id="321" r:id="rId28"/>
    <p:sldId id="346" r:id="rId29"/>
    <p:sldId id="344" r:id="rId30"/>
    <p:sldId id="301" r:id="rId3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SSERS, Charles" initials="BC" lastIdx="1" clrIdx="0">
    <p:extLst>
      <p:ext uri="{19B8F6BF-5375-455C-9EA6-DF929625EA0E}">
        <p15:presenceInfo xmlns:p15="http://schemas.microsoft.com/office/powerpoint/2012/main" userId="BUSSERS, Charle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4" autoAdjust="0"/>
    <p:restoredTop sz="94660"/>
  </p:normalViewPr>
  <p:slideViewPr>
    <p:cSldViewPr snapToGrid="0">
      <p:cViewPr varScale="1">
        <p:scale>
          <a:sx n="85" d="100"/>
          <a:sy n="85" d="100"/>
        </p:scale>
        <p:origin x="547" y="62"/>
      </p:cViewPr>
      <p:guideLst/>
    </p:cSldViewPr>
  </p:slideViewPr>
  <p:notesTextViewPr>
    <p:cViewPr>
      <p:scale>
        <a:sx n="1" d="1"/>
        <a:sy n="1" d="1"/>
      </p:scale>
      <p:origin x="0" y="0"/>
    </p:cViewPr>
  </p:notesTextViewPr>
  <p:notesViewPr>
    <p:cSldViewPr snapToGrid="0">
      <p:cViewPr varScale="1">
        <p:scale>
          <a:sx n="88" d="100"/>
          <a:sy n="88" d="100"/>
        </p:scale>
        <p:origin x="381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E9E3A2E-B7EC-4B7B-BB59-A012054395C4}" type="datetimeFigureOut">
              <a:rPr lang="fr-BE" smtClean="0"/>
              <a:t>26/05/2026</a:t>
            </a:fld>
            <a:endParaRPr lang="fr-BE"/>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ABD471-78C6-4E91-ACC7-9034B4697514}" type="slidenum">
              <a:rPr lang="fr-BE" smtClean="0"/>
              <a:t>‹N°›</a:t>
            </a:fld>
            <a:endParaRPr lang="fr-BE"/>
          </a:p>
        </p:txBody>
      </p:sp>
    </p:spTree>
    <p:extLst>
      <p:ext uri="{BB962C8B-B14F-4D97-AF65-F5344CB8AC3E}">
        <p14:creationId xmlns:p14="http://schemas.microsoft.com/office/powerpoint/2010/main" val="3448965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43C837-5F14-4368-9E37-7CA1E092319A}" type="datetimeFigureOut">
              <a:rPr lang="fr-BE" smtClean="0"/>
              <a:t>26/05/2026</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3464EE-1245-4F8A-BD5B-B87F494EEB22}" type="slidenum">
              <a:rPr lang="fr-BE" smtClean="0"/>
              <a:t>‹N°›</a:t>
            </a:fld>
            <a:endParaRPr lang="fr-BE"/>
          </a:p>
        </p:txBody>
      </p:sp>
    </p:spTree>
    <p:extLst>
      <p:ext uri="{BB962C8B-B14F-4D97-AF65-F5344CB8AC3E}">
        <p14:creationId xmlns:p14="http://schemas.microsoft.com/office/powerpoint/2010/main" val="2363158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1</a:t>
            </a:fld>
            <a:endParaRPr lang="fr-BE"/>
          </a:p>
        </p:txBody>
      </p:sp>
    </p:spTree>
    <p:extLst>
      <p:ext uri="{BB962C8B-B14F-4D97-AF65-F5344CB8AC3E}">
        <p14:creationId xmlns:p14="http://schemas.microsoft.com/office/powerpoint/2010/main" val="2320041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fr-BE"/>
          </a:p>
        </p:txBody>
      </p:sp>
      <p:sp>
        <p:nvSpPr>
          <p:cNvPr id="4" name="Espace réservé de la date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87CAEF6-4FE7-4448-B314-7C7E64EABAED}" type="datetime1">
              <a:rPr lang="fr-BE" smtClean="0"/>
              <a:pPr/>
              <a:t>26/05/2026</a:t>
            </a:fld>
            <a:endParaRPr lang="fr-BE" dirty="0"/>
          </a:p>
        </p:txBody>
      </p:sp>
      <p:sp>
        <p:nvSpPr>
          <p:cNvPr id="5" name="Espace réservé du pied de page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fr-BE" dirty="0"/>
          </a:p>
        </p:txBody>
      </p:sp>
      <p:sp>
        <p:nvSpPr>
          <p:cNvPr id="6" name="Espace réservé du numéro de diapositive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08DCF6BF-19FA-4A5F-BF39-DB960C4A6126}" type="slidenum">
              <a:rPr lang="fr-BE" smtClean="0"/>
              <a:pPr/>
              <a:t>‹N°›</a:t>
            </a:fld>
            <a:endParaRPr lang="fr-BE" dirty="0"/>
          </a:p>
        </p:txBody>
      </p:sp>
    </p:spTree>
    <p:extLst>
      <p:ext uri="{BB962C8B-B14F-4D97-AF65-F5344CB8AC3E}">
        <p14:creationId xmlns:p14="http://schemas.microsoft.com/office/powerpoint/2010/main" val="1327923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358C9A06-0B0C-4422-9FE8-302B2023551E}" type="datetime1">
              <a:rPr lang="fr-BE" smtClean="0"/>
              <a:t>26/05/2026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106166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289A7D33-FF56-4D54-AB99-948A6BBFFFF5}" type="datetime1">
              <a:rPr lang="fr-BE" smtClean="0"/>
              <a:t>26/05/2026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4017386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p:cNvSpPr>
            <a:spLocks noGrp="1"/>
          </p:cNvSpPr>
          <p:nvPr>
            <p:ph type="dt" sz="half" idx="10"/>
          </p:nvPr>
        </p:nvSpPr>
        <p:spPr/>
        <p:txBody>
          <a:bodyPr/>
          <a:lstStyle/>
          <a:p>
            <a:fld id="{D06D6F8C-CE5F-466F-AECF-7F94038A6464}" type="datetime1">
              <a:rPr lang="fr-BE" smtClean="0"/>
              <a:t>26/05/2026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920898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p:cNvSpPr>
            <a:spLocks noGrp="1"/>
          </p:cNvSpPr>
          <p:nvPr>
            <p:ph type="dt" sz="half" idx="10"/>
          </p:nvPr>
        </p:nvSpPr>
        <p:spPr/>
        <p:txBody>
          <a:bodyPr/>
          <a:lstStyle/>
          <a:p>
            <a:fld id="{4B8F1B59-7ABA-48F2-9808-852589A25813}" type="datetime1">
              <a:rPr lang="fr-BE" smtClean="0"/>
              <a:t>26/05/2026</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260286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e la date 2"/>
          <p:cNvSpPr>
            <a:spLocks noGrp="1"/>
          </p:cNvSpPr>
          <p:nvPr>
            <p:ph type="dt" sz="half" idx="10"/>
          </p:nvPr>
        </p:nvSpPr>
        <p:spPr/>
        <p:txBody>
          <a:bodyPr/>
          <a:lstStyle/>
          <a:p>
            <a:fld id="{D0F46885-B1FD-466D-9489-79FED6E3F70C}" type="datetime1">
              <a:rPr lang="fr-BE" smtClean="0"/>
              <a:t>26/05/2026</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2604074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7435354-2220-4DA3-BF11-876AD3448588}" type="datetime1">
              <a:rPr lang="fr-BE" smtClean="0"/>
              <a:t>26/05/2026</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1654062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1A12E0ED-3BDA-414D-ADA4-DA4C99E9C056}" type="datetime1">
              <a:rPr lang="fr-BE" smtClean="0"/>
              <a:t>26/05/2026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2778408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3802C9F0-F73E-4B1A-805A-422AAC841FBF}" type="datetime1">
              <a:rPr lang="fr-BE" smtClean="0"/>
              <a:t>26/05/2026</a:t>
            </a:fld>
            <a:endParaRPr lang="fr-BE" dirty="0"/>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186645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16DC2672-5B6F-42F7-8752-CC873C5A9E1B}" type="datetime1">
              <a:rPr lang="fr-BE" smtClean="0"/>
              <a:t>26/05/2026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1918457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7FC2762C-A4E3-4A48-A1F1-470326FBA4AB}" type="datetime1">
              <a:rPr lang="fr-BE" smtClean="0"/>
              <a:t>26/05/2026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924425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7EE93BB7-7E8D-42CC-BD51-E6E3E8E1658B}" type="datetime1">
              <a:rPr lang="fr-BE" smtClean="0"/>
              <a:pPr/>
              <a:t>26/05/2026</a:t>
            </a:fld>
            <a:endParaRPr lang="fr-BE" dirty="0"/>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fr-BE" dirty="0"/>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08DCF6BF-19FA-4A5F-BF39-DB960C4A6126}" type="slidenum">
              <a:rPr lang="fr-BE" smtClean="0"/>
              <a:pPr/>
              <a:t>‹N°›</a:t>
            </a:fld>
            <a:endParaRPr lang="fr-BE" dirty="0"/>
          </a:p>
        </p:txBody>
      </p:sp>
    </p:spTree>
    <p:extLst>
      <p:ext uri="{BB962C8B-B14F-4D97-AF65-F5344CB8AC3E}">
        <p14:creationId xmlns:p14="http://schemas.microsoft.com/office/powerpoint/2010/main" val="357964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copilot.microsoft.com/" TargetMode="External"/><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hyperlink" Target="https://copilot.microsoft.com/"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hyperlink" Target="https://copilot.microsoft.com/"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4"/>
          <p:cNvSpPr txBox="1"/>
          <p:nvPr/>
        </p:nvSpPr>
        <p:spPr>
          <a:xfrm>
            <a:off x="993945" y="1235404"/>
            <a:ext cx="6894833" cy="1477328"/>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Macros et Automatisation Excel </a:t>
            </a:r>
            <a:endParaRPr lang="fr-BE" sz="4500" dirty="0">
              <a:solidFill>
                <a:srgbClr val="00205B"/>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a:t>
            </a:fld>
            <a:endParaRPr lang="fr-BE" dirty="0"/>
          </a:p>
        </p:txBody>
      </p:sp>
      <p:sp>
        <p:nvSpPr>
          <p:cNvPr id="3" name="Espace réservé du pied de page 2"/>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844986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Objectifs pédagogiques</a:t>
            </a:r>
          </a:p>
        </p:txBody>
      </p:sp>
      <p:sp>
        <p:nvSpPr>
          <p:cNvPr id="5" name="ZoneTexte 4"/>
          <p:cNvSpPr txBox="1"/>
          <p:nvPr/>
        </p:nvSpPr>
        <p:spPr>
          <a:xfrm>
            <a:off x="1085386" y="1772816"/>
            <a:ext cx="7803112" cy="1477328"/>
          </a:xfrm>
          <a:prstGeom prst="rect">
            <a:avLst/>
          </a:prstGeom>
          <a:noFill/>
        </p:spPr>
        <p:txBody>
          <a:bodyPr wrap="square" rtlCol="0">
            <a:spAutoFit/>
          </a:bodyPr>
          <a:lstStyle/>
          <a:p>
            <a:pPr lvl="0"/>
            <a:r>
              <a:rPr lang="fr-BE" dirty="0"/>
              <a:t>1 - Comprendre le concept des macros</a:t>
            </a:r>
          </a:p>
          <a:p>
            <a:pPr lvl="0"/>
            <a:endParaRPr lang="fr-BE" dirty="0"/>
          </a:p>
          <a:p>
            <a:pPr lvl="0"/>
            <a:r>
              <a:rPr lang="fr-BE" dirty="0"/>
              <a:t>2 - Maîtriser l‘utilisation de macros</a:t>
            </a:r>
          </a:p>
          <a:p>
            <a:pPr lvl="0"/>
            <a:endParaRPr lang="fr-BE" dirty="0"/>
          </a:p>
          <a:p>
            <a:pPr lvl="0"/>
            <a:r>
              <a:rPr lang="fr-BE" dirty="0"/>
              <a:t>3 - S'initier au code VBA grâce à l’IA</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927044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5" y="692696"/>
            <a:ext cx="6612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Introduction aux macros</a:t>
            </a:r>
          </a:p>
        </p:txBody>
      </p:sp>
      <p:sp>
        <p:nvSpPr>
          <p:cNvPr id="3" name="ZoneTexte 2"/>
          <p:cNvSpPr txBox="1"/>
          <p:nvPr/>
        </p:nvSpPr>
        <p:spPr>
          <a:xfrm>
            <a:off x="1085386" y="1772816"/>
            <a:ext cx="7803112" cy="2031325"/>
          </a:xfrm>
          <a:prstGeom prst="rect">
            <a:avLst/>
          </a:prstGeom>
          <a:noFill/>
        </p:spPr>
        <p:txBody>
          <a:bodyPr wrap="square" rtlCol="0">
            <a:spAutoFit/>
          </a:bodyPr>
          <a:lstStyle/>
          <a:p>
            <a:pPr lvl="0"/>
            <a:r>
              <a:rPr lang="fr-BE" dirty="0"/>
              <a:t>Qu'est-ce qu'une macro ?</a:t>
            </a:r>
          </a:p>
          <a:p>
            <a:pPr lvl="0"/>
            <a:endParaRPr lang="fr-BE" dirty="0"/>
          </a:p>
          <a:p>
            <a:pPr lvl="0"/>
            <a:r>
              <a:rPr lang="fr-BE" dirty="0">
                <a:ln>
                  <a:solidFill>
                    <a:schemeClr val="bg1">
                      <a:lumMod val="85000"/>
                    </a:schemeClr>
                  </a:solidFill>
                </a:ln>
              </a:rPr>
              <a:t>Onglet Développeur</a:t>
            </a:r>
          </a:p>
          <a:p>
            <a:pPr lvl="0"/>
            <a:endParaRPr lang="fr-BE" dirty="0">
              <a:ln>
                <a:solidFill>
                  <a:schemeClr val="bg1">
                    <a:lumMod val="85000"/>
                  </a:schemeClr>
                </a:solidFill>
              </a:ln>
            </a:endParaRPr>
          </a:p>
          <a:p>
            <a:pPr lvl="0"/>
            <a:r>
              <a:rPr lang="fr-BE" dirty="0">
                <a:ln>
                  <a:solidFill>
                    <a:schemeClr val="bg1">
                      <a:lumMod val="85000"/>
                    </a:schemeClr>
                  </a:solidFill>
                </a:ln>
              </a:rPr>
              <a:t>Types de fichiers (.</a:t>
            </a:r>
            <a:r>
              <a:rPr lang="fr-BE" dirty="0" err="1">
                <a:ln>
                  <a:solidFill>
                    <a:schemeClr val="bg1">
                      <a:lumMod val="85000"/>
                    </a:schemeClr>
                  </a:solidFill>
                </a:ln>
              </a:rPr>
              <a:t>xlsm</a:t>
            </a:r>
            <a:r>
              <a:rPr lang="fr-BE" dirty="0">
                <a:ln>
                  <a:solidFill>
                    <a:schemeClr val="bg1">
                      <a:lumMod val="85000"/>
                    </a:schemeClr>
                  </a:solidFill>
                </a:ln>
              </a:rPr>
              <a:t>)</a:t>
            </a:r>
          </a:p>
          <a:p>
            <a:pPr lvl="0"/>
            <a:endParaRPr lang="fr-FR" dirty="0">
              <a:ln>
                <a:solidFill>
                  <a:schemeClr val="bg1">
                    <a:lumMod val="85000"/>
                  </a:schemeClr>
                </a:solidFill>
              </a:ln>
            </a:endParaRPr>
          </a:p>
          <a:p>
            <a:r>
              <a:rPr lang="fr-FR" dirty="0">
                <a:ln>
                  <a:solidFill>
                    <a:schemeClr val="bg1">
                      <a:lumMod val="85000"/>
                    </a:schemeClr>
                  </a:solidFill>
                </a:ln>
              </a:rPr>
              <a:t>Sécurité des macros</a:t>
            </a:r>
            <a:endParaRPr lang="fr-BE" dirty="0">
              <a:ln>
                <a:solidFill>
                  <a:schemeClr val="bg1">
                    <a:lumMod val="85000"/>
                  </a:schemeClr>
                </a:solidFill>
              </a:ln>
            </a:endParaRP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3</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794736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ZoneTexte 2"/>
          <p:cNvSpPr txBox="1"/>
          <p:nvPr/>
        </p:nvSpPr>
        <p:spPr>
          <a:xfrm>
            <a:off x="1085386" y="633973"/>
            <a:ext cx="7803112" cy="2031325"/>
          </a:xfrm>
          <a:prstGeom prst="rect">
            <a:avLst/>
          </a:prstGeom>
          <a:noFill/>
        </p:spPr>
        <p:txBody>
          <a:bodyPr wrap="square" rtlCol="0">
            <a:spAutoFit/>
          </a:bodyPr>
          <a:lstStyle/>
          <a:p>
            <a:r>
              <a:rPr lang="fr-FR" dirty="0"/>
              <a:t>Pour activer l'onglet </a:t>
            </a:r>
            <a:r>
              <a:rPr lang="fr-FR" b="1" dirty="0"/>
              <a:t>Développeur</a:t>
            </a:r>
            <a:r>
              <a:rPr lang="fr-FR" dirty="0"/>
              <a:t> dans Excel:</a:t>
            </a:r>
          </a:p>
          <a:p>
            <a:endParaRPr lang="fr-FR" dirty="0"/>
          </a:p>
          <a:p>
            <a:r>
              <a:rPr lang="fr-FR" b="1" dirty="0"/>
              <a:t>Ouvrez Excel</a:t>
            </a:r>
            <a:r>
              <a:rPr lang="fr-FR" dirty="0"/>
              <a:t> et cliquez sur l'onglet </a:t>
            </a:r>
            <a:r>
              <a:rPr lang="fr-FR" b="1" dirty="0"/>
              <a:t>Fichier</a:t>
            </a:r>
            <a:r>
              <a:rPr lang="fr-FR" dirty="0"/>
              <a:t>.</a:t>
            </a:r>
          </a:p>
          <a:p>
            <a:r>
              <a:rPr lang="fr-FR" dirty="0"/>
              <a:t>Sélectionnez </a:t>
            </a:r>
            <a:r>
              <a:rPr lang="fr-FR" b="1" dirty="0"/>
              <a:t>Options</a:t>
            </a:r>
            <a:r>
              <a:rPr lang="fr-FR" dirty="0"/>
              <a:t> dans le menu.</a:t>
            </a:r>
          </a:p>
          <a:p>
            <a:r>
              <a:rPr lang="fr-FR" dirty="0"/>
              <a:t>Dans la fenêtre </a:t>
            </a:r>
            <a:r>
              <a:rPr lang="fr-FR" b="1" dirty="0"/>
              <a:t>Options Excel</a:t>
            </a:r>
            <a:r>
              <a:rPr lang="fr-FR" dirty="0"/>
              <a:t>, cliquez sur </a:t>
            </a:r>
            <a:r>
              <a:rPr lang="fr-FR" b="1" dirty="0"/>
              <a:t>Personnaliser le ruban</a:t>
            </a:r>
            <a:r>
              <a:rPr lang="fr-FR" dirty="0"/>
              <a:t> à gauche.</a:t>
            </a:r>
          </a:p>
          <a:p>
            <a:r>
              <a:rPr lang="fr-FR" dirty="0"/>
              <a:t>Dans le menu à droite, cochez la case </a:t>
            </a:r>
            <a:r>
              <a:rPr lang="fr-FR" b="1" dirty="0"/>
              <a:t>Développeur</a:t>
            </a:r>
            <a:r>
              <a:rPr lang="fr-FR" dirty="0"/>
              <a:t> sous </a:t>
            </a:r>
            <a:r>
              <a:rPr lang="fr-FR" b="1" dirty="0"/>
              <a:t>Onglets principaux</a:t>
            </a:r>
            <a:r>
              <a:rPr lang="fr-FR" dirty="0"/>
              <a:t>.</a:t>
            </a:r>
          </a:p>
          <a:p>
            <a:r>
              <a:rPr lang="fr-FR" dirty="0"/>
              <a:t>Cliquez sur </a:t>
            </a:r>
            <a:r>
              <a:rPr lang="fr-FR" b="1" dirty="0"/>
              <a:t>OK</a:t>
            </a:r>
            <a:r>
              <a:rPr lang="fr-FR" dirty="0"/>
              <a:t> pour enregistrer les modifications.</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4</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pic>
        <p:nvPicPr>
          <p:cNvPr id="8" name="Image 7"/>
          <p:cNvPicPr>
            <a:picLocks noChangeAspect="1"/>
          </p:cNvPicPr>
          <p:nvPr/>
        </p:nvPicPr>
        <p:blipFill>
          <a:blip r:embed="rId3"/>
          <a:stretch>
            <a:fillRect/>
          </a:stretch>
        </p:blipFill>
        <p:spPr>
          <a:xfrm>
            <a:off x="6006112" y="2443460"/>
            <a:ext cx="4751777" cy="3912890"/>
          </a:xfrm>
          <a:prstGeom prst="rect">
            <a:avLst/>
          </a:prstGeom>
        </p:spPr>
      </p:pic>
    </p:spTree>
    <p:extLst>
      <p:ext uri="{BB962C8B-B14F-4D97-AF65-F5344CB8AC3E}">
        <p14:creationId xmlns:p14="http://schemas.microsoft.com/office/powerpoint/2010/main" val="4162951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ZoneTexte 2"/>
          <p:cNvSpPr txBox="1"/>
          <p:nvPr/>
        </p:nvSpPr>
        <p:spPr>
          <a:xfrm>
            <a:off x="1085386" y="633973"/>
            <a:ext cx="7803112" cy="1477328"/>
          </a:xfrm>
          <a:prstGeom prst="rect">
            <a:avLst/>
          </a:prstGeom>
          <a:noFill/>
        </p:spPr>
        <p:txBody>
          <a:bodyPr wrap="square" rtlCol="0">
            <a:spAutoFit/>
          </a:bodyPr>
          <a:lstStyle/>
          <a:p>
            <a:r>
              <a:rPr lang="fr-FR" b="1" dirty="0"/>
              <a:t>Format de fichier </a:t>
            </a:r>
            <a:r>
              <a:rPr lang="fr-FR" dirty="0"/>
              <a:t>: </a:t>
            </a:r>
          </a:p>
          <a:p>
            <a:endParaRPr lang="fr-FR" dirty="0"/>
          </a:p>
          <a:p>
            <a:r>
              <a:rPr lang="fr-FR" dirty="0"/>
              <a:t>Les macros doivent être enregistrées dans des formats de fichiers compatibles avec les macros, comme .</a:t>
            </a:r>
            <a:r>
              <a:rPr lang="fr-FR" dirty="0" err="1"/>
              <a:t>xlsm</a:t>
            </a:r>
            <a:r>
              <a:rPr lang="fr-FR" dirty="0"/>
              <a:t> (classeur avec macros activées) au lieu de .</a:t>
            </a:r>
            <a:r>
              <a:rPr lang="fr-FR" dirty="0" err="1"/>
              <a:t>xlsx</a:t>
            </a:r>
            <a:r>
              <a:rPr lang="fr-FR" dirty="0"/>
              <a:t> (classeur sans macros).</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5</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pic>
        <p:nvPicPr>
          <p:cNvPr id="2" name="Image 1"/>
          <p:cNvPicPr>
            <a:picLocks noChangeAspect="1"/>
          </p:cNvPicPr>
          <p:nvPr/>
        </p:nvPicPr>
        <p:blipFill>
          <a:blip r:embed="rId3"/>
          <a:stretch>
            <a:fillRect/>
          </a:stretch>
        </p:blipFill>
        <p:spPr>
          <a:xfrm>
            <a:off x="1085386" y="2445790"/>
            <a:ext cx="5849166" cy="819264"/>
          </a:xfrm>
          <a:prstGeom prst="rect">
            <a:avLst/>
          </a:prstGeom>
        </p:spPr>
      </p:pic>
    </p:spTree>
    <p:extLst>
      <p:ext uri="{BB962C8B-B14F-4D97-AF65-F5344CB8AC3E}">
        <p14:creationId xmlns:p14="http://schemas.microsoft.com/office/powerpoint/2010/main" val="943283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ZoneTexte 2"/>
          <p:cNvSpPr txBox="1"/>
          <p:nvPr/>
        </p:nvSpPr>
        <p:spPr>
          <a:xfrm>
            <a:off x="1085386" y="633973"/>
            <a:ext cx="7803112" cy="5355312"/>
          </a:xfrm>
          <a:prstGeom prst="rect">
            <a:avLst/>
          </a:prstGeom>
          <a:noFill/>
        </p:spPr>
        <p:txBody>
          <a:bodyPr wrap="square" rtlCol="0">
            <a:spAutoFit/>
          </a:bodyPr>
          <a:lstStyle/>
          <a:p>
            <a:r>
              <a:rPr lang="fr-FR" dirty="0"/>
              <a:t>Pour configurer la sécurité des macros dans Excel :</a:t>
            </a:r>
          </a:p>
          <a:p>
            <a:endParaRPr lang="fr-FR" dirty="0"/>
          </a:p>
          <a:p>
            <a:pPr>
              <a:buFont typeface="+mj-lt"/>
              <a:buAutoNum type="arabicPeriod"/>
            </a:pPr>
            <a:r>
              <a:rPr lang="fr-FR" b="1" dirty="0"/>
              <a:t>Ouvrez Excel</a:t>
            </a:r>
            <a:r>
              <a:rPr lang="fr-FR" dirty="0"/>
              <a:t> et cliquez sur l'onglet </a:t>
            </a:r>
            <a:r>
              <a:rPr lang="fr-FR" b="1" dirty="0"/>
              <a:t>Fichier</a:t>
            </a:r>
            <a:r>
              <a:rPr lang="fr-FR" dirty="0"/>
              <a:t>.</a:t>
            </a:r>
          </a:p>
          <a:p>
            <a:pPr>
              <a:buFont typeface="+mj-lt"/>
              <a:buAutoNum type="arabicPeriod"/>
            </a:pPr>
            <a:r>
              <a:rPr lang="fr-FR" dirty="0"/>
              <a:t>Sélectionnez </a:t>
            </a:r>
            <a:r>
              <a:rPr lang="fr-FR" b="1" dirty="0"/>
              <a:t>Options</a:t>
            </a:r>
            <a:r>
              <a:rPr lang="fr-FR" dirty="0"/>
              <a:t> dans le menu.</a:t>
            </a:r>
          </a:p>
          <a:p>
            <a:pPr>
              <a:buFont typeface="+mj-lt"/>
              <a:buAutoNum type="arabicPeriod"/>
            </a:pPr>
            <a:r>
              <a:rPr lang="fr-FR" dirty="0"/>
              <a:t>Dans la fenêtre </a:t>
            </a:r>
            <a:r>
              <a:rPr lang="fr-FR" b="1" dirty="0"/>
              <a:t>Options Excel</a:t>
            </a:r>
            <a:r>
              <a:rPr lang="fr-FR" dirty="0"/>
              <a:t>, cliquez sur </a:t>
            </a:r>
            <a:r>
              <a:rPr lang="fr-FR" b="1" dirty="0"/>
              <a:t>Centre de gestion de la confidentialité</a:t>
            </a:r>
            <a:r>
              <a:rPr lang="fr-FR" dirty="0"/>
              <a:t> à gauche.</a:t>
            </a:r>
          </a:p>
          <a:p>
            <a:pPr>
              <a:buFont typeface="+mj-lt"/>
              <a:buAutoNum type="arabicPeriod"/>
            </a:pPr>
            <a:r>
              <a:rPr lang="fr-FR" dirty="0"/>
              <a:t>Cliquez sur </a:t>
            </a:r>
            <a:r>
              <a:rPr lang="fr-FR" b="1" dirty="0"/>
              <a:t>Paramètres du Centre de gestion de la confidentialité</a:t>
            </a:r>
            <a:r>
              <a:rPr lang="fr-FR" dirty="0"/>
              <a:t>.</a:t>
            </a:r>
          </a:p>
          <a:p>
            <a:pPr>
              <a:buFont typeface="+mj-lt"/>
              <a:buAutoNum type="arabicPeriod"/>
            </a:pPr>
            <a:r>
              <a:rPr lang="fr-FR" dirty="0"/>
              <a:t>Dans la nouvelle fenêtre, sélectionnez </a:t>
            </a:r>
            <a:r>
              <a:rPr lang="fr-FR" b="1" dirty="0"/>
              <a:t>Paramètres des macros</a:t>
            </a:r>
            <a:r>
              <a:rPr lang="fr-FR" dirty="0"/>
              <a:t> à gauche.</a:t>
            </a:r>
          </a:p>
          <a:p>
            <a:pPr>
              <a:buFont typeface="+mj-lt"/>
              <a:buAutoNum type="arabicPeriod"/>
            </a:pPr>
            <a:r>
              <a:rPr lang="fr-FR" dirty="0"/>
              <a:t>Vous verrez plusieurs options pour régler la sécurité des macros :</a:t>
            </a:r>
          </a:p>
          <a:p>
            <a:pPr>
              <a:buFont typeface="+mj-lt"/>
              <a:buAutoNum type="arabicPeriod"/>
            </a:pPr>
            <a:endParaRPr lang="fr-FR" dirty="0"/>
          </a:p>
          <a:p>
            <a:pPr marL="742950" lvl="1" indent="-285750">
              <a:buFont typeface="+mj-lt"/>
              <a:buAutoNum type="arabicPeriod"/>
            </a:pPr>
            <a:r>
              <a:rPr lang="fr-FR" b="1" dirty="0"/>
              <a:t>Désactiver toutes les macros sans notification</a:t>
            </a:r>
            <a:r>
              <a:rPr lang="fr-FR" dirty="0"/>
              <a:t> : aucune macro ne sera autorisée à s'exécuter.</a:t>
            </a:r>
          </a:p>
          <a:p>
            <a:pPr marL="742950" lvl="1" indent="-285750">
              <a:buFont typeface="+mj-lt"/>
              <a:buAutoNum type="arabicPeriod"/>
            </a:pPr>
            <a:r>
              <a:rPr lang="fr-FR" b="1" dirty="0"/>
              <a:t>Désactiver toutes les macros avec notification</a:t>
            </a:r>
            <a:r>
              <a:rPr lang="fr-FR" dirty="0"/>
              <a:t> : vous serez averti lorsque des macros sont présentes et aurez la possibilité de les activer.</a:t>
            </a:r>
          </a:p>
          <a:p>
            <a:pPr marL="742950" lvl="1" indent="-285750">
              <a:buFont typeface="+mj-lt"/>
              <a:buAutoNum type="arabicPeriod"/>
            </a:pPr>
            <a:r>
              <a:rPr lang="fr-FR" b="1" dirty="0"/>
              <a:t>Désactiver toutes les macros sauf celles signées numériquement</a:t>
            </a:r>
            <a:r>
              <a:rPr lang="fr-FR" dirty="0"/>
              <a:t> : seules les macros signées par un éditeur de confiance seront exécutées.</a:t>
            </a:r>
          </a:p>
          <a:p>
            <a:pPr marL="742950" lvl="1" indent="-285750">
              <a:buFont typeface="+mj-lt"/>
              <a:buAutoNum type="arabicPeriod"/>
            </a:pPr>
            <a:r>
              <a:rPr lang="fr-FR" b="1" dirty="0"/>
              <a:t>Activer toutes les macros (non recommandé)</a:t>
            </a:r>
            <a:r>
              <a:rPr lang="fr-FR" dirty="0"/>
              <a:t> : toutes les macros, y compris celles potentiellement dangereuses, seront autorisées à s'exécuter.</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6</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pic>
        <p:nvPicPr>
          <p:cNvPr id="2" name="Image 1"/>
          <p:cNvPicPr>
            <a:picLocks noChangeAspect="1"/>
          </p:cNvPicPr>
          <p:nvPr/>
        </p:nvPicPr>
        <p:blipFill>
          <a:blip r:embed="rId3"/>
          <a:stretch>
            <a:fillRect/>
          </a:stretch>
        </p:blipFill>
        <p:spPr>
          <a:xfrm>
            <a:off x="8888498" y="3458094"/>
            <a:ext cx="3172738" cy="1002723"/>
          </a:xfrm>
          <a:prstGeom prst="rect">
            <a:avLst/>
          </a:prstGeom>
        </p:spPr>
      </p:pic>
    </p:spTree>
    <p:extLst>
      <p:ext uri="{BB962C8B-B14F-4D97-AF65-F5344CB8AC3E}">
        <p14:creationId xmlns:p14="http://schemas.microsoft.com/office/powerpoint/2010/main" val="1202208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7376970"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Enregistrement de macros</a:t>
            </a:r>
          </a:p>
        </p:txBody>
      </p:sp>
      <p:sp>
        <p:nvSpPr>
          <p:cNvPr id="3" name="ZoneTexte 2"/>
          <p:cNvSpPr txBox="1"/>
          <p:nvPr/>
        </p:nvSpPr>
        <p:spPr>
          <a:xfrm>
            <a:off x="1085386" y="1772816"/>
            <a:ext cx="7803112" cy="1200329"/>
          </a:xfrm>
          <a:prstGeom prst="rect">
            <a:avLst/>
          </a:prstGeom>
          <a:noFill/>
        </p:spPr>
        <p:txBody>
          <a:bodyPr wrap="square" rtlCol="0">
            <a:spAutoFit/>
          </a:bodyPr>
          <a:lstStyle/>
          <a:p>
            <a:r>
              <a:rPr lang="fr-FR" b="1" dirty="0"/>
              <a:t>Enregistrement des Actions</a:t>
            </a:r>
            <a:r>
              <a:rPr lang="fr-FR" dirty="0"/>
              <a:t> : Lorsque vous activez l'enregistreur de macro, Excel suit toutes vos actions (comme les clics de souris, la saisie de données, les modifications de mise en forme, etc.) et les convertit en code VBA (Visual Basic for Applications).</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7</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3184581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ZoneTexte 2"/>
          <p:cNvSpPr txBox="1"/>
          <p:nvPr/>
        </p:nvSpPr>
        <p:spPr>
          <a:xfrm>
            <a:off x="1085386" y="633973"/>
            <a:ext cx="7803112" cy="5909310"/>
          </a:xfrm>
          <a:prstGeom prst="rect">
            <a:avLst/>
          </a:prstGeom>
          <a:noFill/>
        </p:spPr>
        <p:txBody>
          <a:bodyPr wrap="square" rtlCol="0">
            <a:spAutoFit/>
          </a:bodyPr>
          <a:lstStyle/>
          <a:p>
            <a:endParaRPr lang="fr-FR" dirty="0"/>
          </a:p>
          <a:p>
            <a:r>
              <a:rPr lang="fr-FR" b="1" dirty="0"/>
              <a:t>Cliquez sur Enregistrer une macro </a:t>
            </a:r>
            <a:r>
              <a:rPr lang="fr-FR" dirty="0"/>
              <a:t>: Dans l'onglet Développeur, cliquez sur Enregistrer une macro.</a:t>
            </a:r>
          </a:p>
          <a:p>
            <a:r>
              <a:rPr lang="fr-FR" b="1" dirty="0"/>
              <a:t>Nommez la Macro </a:t>
            </a:r>
            <a:r>
              <a:rPr lang="fr-FR" dirty="0"/>
              <a:t>: Donnez un nom à votre macro et, si nécessaire, assignez-lui un raccourci clavier.</a:t>
            </a:r>
          </a:p>
          <a:p>
            <a:r>
              <a:rPr lang="fr-FR" b="1" dirty="0"/>
              <a:t>Enregistrez vos Actions </a:t>
            </a:r>
            <a:r>
              <a:rPr lang="fr-FR" dirty="0"/>
              <a:t>: Effectuez les actions que vous souhaitez enregistrer. Excel les enregistrera en arrière-plan.</a:t>
            </a:r>
          </a:p>
          <a:p>
            <a:r>
              <a:rPr lang="fr-FR" b="1" dirty="0"/>
              <a:t>Arrêtez l'Enregistrement </a:t>
            </a:r>
            <a:r>
              <a:rPr lang="fr-FR" dirty="0"/>
              <a:t>: Une fois terminé, cliquez sur Arrêter l'enregistrement.</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b="1" dirty="0">
                <a:ln w="0"/>
                <a:effectLst>
                  <a:outerShdw blurRad="38100" dist="19050" dir="2700000" algn="tl" rotWithShape="0">
                    <a:schemeClr val="dk1">
                      <a:alpha val="40000"/>
                    </a:schemeClr>
                  </a:outerShdw>
                </a:effectLst>
              </a:rPr>
              <a:t>A vous de jouer !</a:t>
            </a:r>
          </a:p>
          <a:p>
            <a:endParaRPr lang="fr-FR" b="1" dirty="0">
              <a:ln w="0"/>
              <a:effectLst>
                <a:outerShdw blurRad="38100" dist="19050" dir="2700000" algn="tl" rotWithShape="0">
                  <a:schemeClr val="dk1">
                    <a:alpha val="40000"/>
                  </a:schemeClr>
                </a:outerShdw>
              </a:effectLst>
            </a:endParaRPr>
          </a:p>
          <a:p>
            <a:r>
              <a:rPr lang="fr-FR" dirty="0">
                <a:ln w="0"/>
              </a:rPr>
              <a:t>Testez l’enregistreur de macro… ( Préparer le squelette d’un tableau mis en forme ou ouvrir le fichier Matrix.xlsx)</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8</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pic>
        <p:nvPicPr>
          <p:cNvPr id="2" name="Image 1">
            <a:extLst>
              <a:ext uri="{FF2B5EF4-FFF2-40B4-BE49-F238E27FC236}">
                <a16:creationId xmlns:a16="http://schemas.microsoft.com/office/drawing/2014/main" id="{0AEA9021-F8CD-BC1E-54A8-1ACC1089A300}"/>
              </a:ext>
            </a:extLst>
          </p:cNvPr>
          <p:cNvPicPr>
            <a:picLocks noChangeAspect="1"/>
          </p:cNvPicPr>
          <p:nvPr/>
        </p:nvPicPr>
        <p:blipFill>
          <a:blip r:embed="rId3"/>
          <a:stretch>
            <a:fillRect/>
          </a:stretch>
        </p:blipFill>
        <p:spPr>
          <a:xfrm>
            <a:off x="3329360" y="3010073"/>
            <a:ext cx="3315163" cy="2772162"/>
          </a:xfrm>
          <a:prstGeom prst="rect">
            <a:avLst/>
          </a:prstGeom>
        </p:spPr>
      </p:pic>
    </p:spTree>
    <p:extLst>
      <p:ext uri="{BB962C8B-B14F-4D97-AF65-F5344CB8AC3E}">
        <p14:creationId xmlns:p14="http://schemas.microsoft.com/office/powerpoint/2010/main" val="3769666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ZoneTexte 2"/>
          <p:cNvSpPr txBox="1"/>
          <p:nvPr/>
        </p:nvSpPr>
        <p:spPr>
          <a:xfrm>
            <a:off x="1085386" y="633973"/>
            <a:ext cx="7803112" cy="2862322"/>
          </a:xfrm>
          <a:prstGeom prst="rect">
            <a:avLst/>
          </a:prstGeom>
          <a:noFill/>
        </p:spPr>
        <p:txBody>
          <a:bodyPr wrap="square" rtlCol="0">
            <a:spAutoFit/>
          </a:bodyPr>
          <a:lstStyle/>
          <a:p>
            <a:r>
              <a:rPr lang="fr-FR" b="1" dirty="0"/>
              <a:t>Emplacement des macros</a:t>
            </a:r>
            <a:r>
              <a:rPr lang="fr-FR" dirty="0"/>
              <a:t> : Les macros peuvent être stockées dans différents endroits, par exemple :</a:t>
            </a:r>
          </a:p>
          <a:p>
            <a:endParaRPr lang="fr-FR" dirty="0"/>
          </a:p>
          <a:p>
            <a:r>
              <a:rPr lang="fr-FR" b="1" dirty="0"/>
              <a:t>Dans le même classeur</a:t>
            </a:r>
            <a:r>
              <a:rPr lang="fr-FR" dirty="0"/>
              <a:t> : La macro est enregistrée directement dans le fichier Excel où elle a été créée.</a:t>
            </a:r>
          </a:p>
          <a:p>
            <a:r>
              <a:rPr lang="fr-FR" b="1" dirty="0"/>
              <a:t>Dans un classeur de macros personnelles (PERSONAL.XLSB)</a:t>
            </a:r>
            <a:r>
              <a:rPr lang="fr-FR" dirty="0"/>
              <a:t> : Les macros enregistrées ici sont accessibles depuis n'importe quel classeur sur votre ordinateur.</a:t>
            </a:r>
          </a:p>
          <a:p>
            <a:r>
              <a:rPr lang="fr-FR" b="1" dirty="0"/>
              <a:t>Dans un nouveau classeur</a:t>
            </a:r>
            <a:r>
              <a:rPr lang="fr-FR" dirty="0"/>
              <a:t> : Ouvre automatiquement un nouveau classeur prêt à enregistrer.</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9</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pic>
        <p:nvPicPr>
          <p:cNvPr id="2" name="Image 1"/>
          <p:cNvPicPr>
            <a:picLocks noChangeAspect="1"/>
          </p:cNvPicPr>
          <p:nvPr/>
        </p:nvPicPr>
        <p:blipFill>
          <a:blip r:embed="rId3"/>
          <a:stretch>
            <a:fillRect/>
          </a:stretch>
        </p:blipFill>
        <p:spPr>
          <a:xfrm>
            <a:off x="3334124" y="3496295"/>
            <a:ext cx="3305636" cy="952633"/>
          </a:xfrm>
          <a:prstGeom prst="rect">
            <a:avLst/>
          </a:prstGeom>
        </p:spPr>
      </p:pic>
    </p:spTree>
    <p:extLst>
      <p:ext uri="{BB962C8B-B14F-4D97-AF65-F5344CB8AC3E}">
        <p14:creationId xmlns:p14="http://schemas.microsoft.com/office/powerpoint/2010/main" val="2139555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7068014"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Bases de VBA et IA</a:t>
            </a:r>
          </a:p>
        </p:txBody>
      </p:sp>
      <p:sp>
        <p:nvSpPr>
          <p:cNvPr id="3" name="ZoneTexte 2"/>
          <p:cNvSpPr txBox="1"/>
          <p:nvPr/>
        </p:nvSpPr>
        <p:spPr>
          <a:xfrm>
            <a:off x="1085386" y="1772816"/>
            <a:ext cx="7803112" cy="2031325"/>
          </a:xfrm>
          <a:prstGeom prst="rect">
            <a:avLst/>
          </a:prstGeom>
          <a:noFill/>
        </p:spPr>
        <p:txBody>
          <a:bodyPr wrap="square" rtlCol="0">
            <a:spAutoFit/>
          </a:bodyPr>
          <a:lstStyle/>
          <a:p>
            <a:pPr lvl="0"/>
            <a:r>
              <a:rPr lang="fr-BE" dirty="0"/>
              <a:t>Éditeur VBA (Alt+F11)</a:t>
            </a:r>
          </a:p>
          <a:p>
            <a:pPr lvl="0"/>
            <a:endParaRPr lang="fr-BE" dirty="0">
              <a:solidFill>
                <a:schemeClr val="bg1">
                  <a:lumMod val="50000"/>
                </a:schemeClr>
              </a:solidFill>
            </a:endParaRPr>
          </a:p>
          <a:p>
            <a:pPr lvl="0"/>
            <a:r>
              <a:rPr lang="fr-BE" dirty="0">
                <a:solidFill>
                  <a:schemeClr val="bg1">
                    <a:lumMod val="50000"/>
                  </a:schemeClr>
                </a:solidFill>
              </a:rPr>
              <a:t>Structure du code</a:t>
            </a:r>
          </a:p>
          <a:p>
            <a:pPr lvl="0"/>
            <a:endParaRPr lang="fr-BE" dirty="0">
              <a:solidFill>
                <a:schemeClr val="bg1">
                  <a:lumMod val="50000"/>
                </a:schemeClr>
              </a:solidFill>
            </a:endParaRPr>
          </a:p>
          <a:p>
            <a:pPr lvl="0"/>
            <a:r>
              <a:rPr lang="fr-BE" dirty="0">
                <a:solidFill>
                  <a:schemeClr val="bg1">
                    <a:lumMod val="50000"/>
                  </a:schemeClr>
                </a:solidFill>
              </a:rPr>
              <a:t>Choix d’IA</a:t>
            </a:r>
          </a:p>
          <a:p>
            <a:pPr lvl="0"/>
            <a:endParaRPr lang="fr-BE" dirty="0">
              <a:solidFill>
                <a:schemeClr val="bg1">
                  <a:lumMod val="50000"/>
                </a:schemeClr>
              </a:solidFill>
            </a:endParaRPr>
          </a:p>
          <a:p>
            <a:pPr lvl="0"/>
            <a:r>
              <a:rPr lang="fr-BE" dirty="0">
                <a:solidFill>
                  <a:schemeClr val="bg1">
                    <a:lumMod val="50000"/>
                  </a:schemeClr>
                </a:solidFill>
              </a:rPr>
              <a:t>Prompts</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10</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pic>
        <p:nvPicPr>
          <p:cNvPr id="4" name="Image 3"/>
          <p:cNvPicPr>
            <a:picLocks noChangeAspect="1"/>
          </p:cNvPicPr>
          <p:nvPr/>
        </p:nvPicPr>
        <p:blipFill>
          <a:blip r:embed="rId3"/>
          <a:stretch>
            <a:fillRect/>
          </a:stretch>
        </p:blipFill>
        <p:spPr>
          <a:xfrm>
            <a:off x="3904822" y="1772816"/>
            <a:ext cx="6519942" cy="3507845"/>
          </a:xfrm>
          <a:prstGeom prst="rect">
            <a:avLst/>
          </a:prstGeom>
        </p:spPr>
      </p:pic>
    </p:spTree>
    <p:extLst>
      <p:ext uri="{BB962C8B-B14F-4D97-AF65-F5344CB8AC3E}">
        <p14:creationId xmlns:p14="http://schemas.microsoft.com/office/powerpoint/2010/main" val="388720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7068014"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Bases de VBA et IA</a:t>
            </a:r>
          </a:p>
        </p:txBody>
      </p:sp>
      <p:sp>
        <p:nvSpPr>
          <p:cNvPr id="3" name="ZoneTexte 2"/>
          <p:cNvSpPr txBox="1"/>
          <p:nvPr/>
        </p:nvSpPr>
        <p:spPr>
          <a:xfrm>
            <a:off x="1085386" y="1772816"/>
            <a:ext cx="7803112" cy="1754326"/>
          </a:xfrm>
          <a:prstGeom prst="rect">
            <a:avLst/>
          </a:prstGeom>
          <a:noFill/>
        </p:spPr>
        <p:txBody>
          <a:bodyPr wrap="square" rtlCol="0">
            <a:spAutoFit/>
          </a:bodyPr>
          <a:lstStyle/>
          <a:p>
            <a:r>
              <a:rPr lang="fr-FR" dirty="0"/>
              <a:t>Déclaration variables : DIM </a:t>
            </a:r>
            <a:r>
              <a:rPr lang="fr-FR" i="1" dirty="0"/>
              <a:t>variable</a:t>
            </a:r>
            <a:r>
              <a:rPr lang="fr-FR" dirty="0"/>
              <a:t> As </a:t>
            </a:r>
            <a:r>
              <a:rPr lang="fr-FR" i="1" dirty="0"/>
              <a:t>type de variable</a:t>
            </a:r>
            <a:endParaRPr lang="fr-BE" i="1" dirty="0"/>
          </a:p>
          <a:p>
            <a:endParaRPr lang="fr-BE" dirty="0"/>
          </a:p>
          <a:p>
            <a:r>
              <a:rPr lang="fr-BE" dirty="0"/>
              <a:t>Fonction : </a:t>
            </a:r>
            <a:r>
              <a:rPr lang="fr-BE" dirty="0" err="1"/>
              <a:t>Sub</a:t>
            </a:r>
            <a:r>
              <a:rPr lang="fr-BE" dirty="0"/>
              <a:t> </a:t>
            </a:r>
            <a:r>
              <a:rPr lang="fr-BE" i="1" dirty="0" err="1"/>
              <a:t>NomDeFonction</a:t>
            </a:r>
            <a:r>
              <a:rPr lang="fr-BE" dirty="0"/>
              <a:t>() End </a:t>
            </a:r>
            <a:r>
              <a:rPr lang="fr-BE" dirty="0" err="1"/>
              <a:t>Sub</a:t>
            </a:r>
            <a:endParaRPr lang="fr-BE" dirty="0"/>
          </a:p>
          <a:p>
            <a:endParaRPr lang="fr-FR" dirty="0"/>
          </a:p>
          <a:p>
            <a:r>
              <a:rPr lang="fr-FR" dirty="0"/>
              <a:t>Outil : If (If Not)– </a:t>
            </a:r>
            <a:r>
              <a:rPr lang="fr-FR" dirty="0" err="1"/>
              <a:t>Else</a:t>
            </a:r>
            <a:r>
              <a:rPr lang="fr-FR" dirty="0"/>
              <a:t> - End If  // For </a:t>
            </a:r>
            <a:r>
              <a:rPr lang="fr-FR" dirty="0" err="1"/>
              <a:t>Each</a:t>
            </a:r>
            <a:r>
              <a:rPr lang="fr-FR" dirty="0"/>
              <a:t> – </a:t>
            </a:r>
            <a:r>
              <a:rPr lang="fr-FR" dirty="0" err="1"/>
              <a:t>Next</a:t>
            </a:r>
            <a:r>
              <a:rPr lang="fr-FR" dirty="0"/>
              <a:t> // Select – End Select</a:t>
            </a:r>
            <a:endParaRPr lang="fr-BE" dirty="0"/>
          </a:p>
          <a:p>
            <a:pPr lvl="0"/>
            <a:endParaRPr lang="fr-BE" dirty="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11</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3175167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7068014"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Bases de VBA et IA</a:t>
            </a:r>
          </a:p>
        </p:txBody>
      </p:sp>
      <p:sp>
        <p:nvSpPr>
          <p:cNvPr id="3" name="ZoneTexte 2"/>
          <p:cNvSpPr txBox="1"/>
          <p:nvPr/>
        </p:nvSpPr>
        <p:spPr>
          <a:xfrm>
            <a:off x="1085386" y="1772816"/>
            <a:ext cx="7803112" cy="2031325"/>
          </a:xfrm>
          <a:prstGeom prst="rect">
            <a:avLst/>
          </a:prstGeom>
          <a:noFill/>
        </p:spPr>
        <p:txBody>
          <a:bodyPr wrap="square" rtlCol="0">
            <a:spAutoFit/>
          </a:bodyPr>
          <a:lstStyle/>
          <a:p>
            <a:r>
              <a:rPr lang="fr-FR" dirty="0"/>
              <a:t>Chat GPT (fiable) https://chatgpt.com/</a:t>
            </a:r>
          </a:p>
          <a:p>
            <a:endParaRPr lang="fr-FR" dirty="0"/>
          </a:p>
          <a:p>
            <a:r>
              <a:rPr lang="fr-FR" dirty="0"/>
              <a:t>Claude.AI (puissant) https://claude.ai/</a:t>
            </a:r>
          </a:p>
          <a:p>
            <a:endParaRPr lang="fr-FR" dirty="0"/>
          </a:p>
          <a:p>
            <a:r>
              <a:rPr lang="fr-FR" dirty="0" err="1"/>
              <a:t>Copilot</a:t>
            </a:r>
            <a:r>
              <a:rPr lang="fr-FR" dirty="0"/>
              <a:t> (gratuit) </a:t>
            </a:r>
            <a:r>
              <a:rPr lang="fr-FR" dirty="0">
                <a:hlinkClick r:id="rId3"/>
              </a:rPr>
              <a:t>https://copilot.microsoft.com/</a:t>
            </a:r>
            <a:endParaRPr lang="fr-FR" dirty="0"/>
          </a:p>
          <a:p>
            <a:endParaRPr lang="fr-FR" dirty="0"/>
          </a:p>
          <a:p>
            <a:r>
              <a:rPr lang="fr-FR" dirty="0"/>
              <a:t>Gemini, </a:t>
            </a:r>
            <a:r>
              <a:rPr lang="fr-FR" dirty="0" err="1"/>
              <a:t>Deepeseek</a:t>
            </a:r>
            <a:r>
              <a:rPr lang="fr-FR" dirty="0"/>
              <a:t> et bien d’autres…</a:t>
            </a:r>
            <a:endParaRPr lang="fr-BE" dirty="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12</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pic>
        <p:nvPicPr>
          <p:cNvPr id="4" name="Image 3"/>
          <p:cNvPicPr>
            <a:picLocks noChangeAspect="1"/>
          </p:cNvPicPr>
          <p:nvPr/>
        </p:nvPicPr>
        <p:blipFill>
          <a:blip r:embed="rId4"/>
          <a:stretch>
            <a:fillRect/>
          </a:stretch>
        </p:blipFill>
        <p:spPr>
          <a:xfrm>
            <a:off x="2223547" y="3805162"/>
            <a:ext cx="7744906" cy="1076475"/>
          </a:xfrm>
          <a:prstGeom prst="rect">
            <a:avLst/>
          </a:prstGeom>
        </p:spPr>
      </p:pic>
    </p:spTree>
    <p:extLst>
      <p:ext uri="{BB962C8B-B14F-4D97-AF65-F5344CB8AC3E}">
        <p14:creationId xmlns:p14="http://schemas.microsoft.com/office/powerpoint/2010/main" val="74120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5" name="ZoneTexte 4"/>
          <p:cNvSpPr txBox="1"/>
          <p:nvPr/>
        </p:nvSpPr>
        <p:spPr>
          <a:xfrm>
            <a:off x="1085386" y="1772816"/>
            <a:ext cx="7803112" cy="1754326"/>
          </a:xfrm>
          <a:prstGeom prst="rect">
            <a:avLst/>
          </a:prstGeom>
          <a:noFill/>
        </p:spPr>
        <p:txBody>
          <a:bodyPr wrap="square" rtlCol="0">
            <a:spAutoFit/>
          </a:bodyPr>
          <a:lstStyle/>
          <a:p>
            <a:r>
              <a:rPr lang="fr-BE" dirty="0">
                <a:hlinkClick r:id="rId3"/>
              </a:rPr>
              <a:t>https://copilot.microsoft.com/</a:t>
            </a:r>
            <a:endParaRPr lang="fr-BE" dirty="0"/>
          </a:p>
          <a:p>
            <a:endParaRPr lang="fr-FR" dirty="0"/>
          </a:p>
          <a:p>
            <a:r>
              <a:rPr lang="fr-FR" dirty="0"/>
              <a:t>Demander a </a:t>
            </a:r>
            <a:r>
              <a:rPr lang="fr-FR" dirty="0" err="1"/>
              <a:t>copilot</a:t>
            </a:r>
            <a:r>
              <a:rPr lang="fr-FR" dirty="0"/>
              <a:t> de créer une macro qui va remplir toutes les cellules, comme dans l’image ci-dessous, de la feuille avec des nombres aléatoire (entre 1 et 100)</a:t>
            </a:r>
            <a:endParaRPr lang="fr-BE" dirty="0"/>
          </a:p>
          <a:p>
            <a:endParaRPr lang="fr-FR" dirty="0"/>
          </a:p>
          <a:p>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13</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6" name="Image 5"/>
          <p:cNvPicPr>
            <a:picLocks noChangeAspect="1"/>
          </p:cNvPicPr>
          <p:nvPr/>
        </p:nvPicPr>
        <p:blipFill>
          <a:blip r:embed="rId4"/>
          <a:stretch>
            <a:fillRect/>
          </a:stretch>
        </p:blipFill>
        <p:spPr>
          <a:xfrm>
            <a:off x="1158618" y="3050714"/>
            <a:ext cx="4496427" cy="3305636"/>
          </a:xfrm>
          <a:prstGeom prst="rect">
            <a:avLst/>
          </a:prstGeom>
        </p:spPr>
      </p:pic>
    </p:spTree>
    <p:extLst>
      <p:ext uri="{BB962C8B-B14F-4D97-AF65-F5344CB8AC3E}">
        <p14:creationId xmlns:p14="http://schemas.microsoft.com/office/powerpoint/2010/main" val="1576928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5" name="ZoneTexte 4"/>
          <p:cNvSpPr txBox="1"/>
          <p:nvPr/>
        </p:nvSpPr>
        <p:spPr>
          <a:xfrm>
            <a:off x="1085386" y="1772816"/>
            <a:ext cx="7803112" cy="2031325"/>
          </a:xfrm>
          <a:prstGeom prst="rect">
            <a:avLst/>
          </a:prstGeom>
          <a:noFill/>
        </p:spPr>
        <p:txBody>
          <a:bodyPr wrap="square" rtlCol="0">
            <a:spAutoFit/>
          </a:bodyPr>
          <a:lstStyle/>
          <a:p>
            <a:r>
              <a:rPr lang="fr-BE" dirty="0">
                <a:hlinkClick r:id="rId3"/>
              </a:rPr>
              <a:t>https://copilot.microsoft.com/</a:t>
            </a:r>
            <a:endParaRPr lang="fr-BE" dirty="0"/>
          </a:p>
          <a:p>
            <a:endParaRPr lang="fr-FR" dirty="0"/>
          </a:p>
          <a:p>
            <a:r>
              <a:rPr lang="fr-FR" dirty="0"/>
              <a:t>Crée-moi une macro Excel qui va, dans la feuille active, m’envoyer un message pour me souhaiter la bienvenue dans le générateur de grille de nombres. Ensuite Excel me demandera sur combien de ligne et jusqu’à quelle colonne je veux aller pour remplir la grille. Une fois ces limites définies, il faudra remplir chaque cellule de cette grille avec des nombres aléatoires compris entre 1 et 100.</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14</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3929291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15</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7" name="Image 6"/>
          <p:cNvPicPr>
            <a:picLocks noChangeAspect="1"/>
          </p:cNvPicPr>
          <p:nvPr/>
        </p:nvPicPr>
        <p:blipFill>
          <a:blip r:embed="rId3"/>
          <a:stretch>
            <a:fillRect/>
          </a:stretch>
        </p:blipFill>
        <p:spPr>
          <a:xfrm>
            <a:off x="431611" y="1477526"/>
            <a:ext cx="6839905" cy="771633"/>
          </a:xfrm>
          <a:prstGeom prst="rect">
            <a:avLst/>
          </a:prstGeom>
        </p:spPr>
      </p:pic>
      <p:pic>
        <p:nvPicPr>
          <p:cNvPr id="8" name="Image 7"/>
          <p:cNvPicPr>
            <a:picLocks noChangeAspect="1"/>
          </p:cNvPicPr>
          <p:nvPr/>
        </p:nvPicPr>
        <p:blipFill>
          <a:blip r:embed="rId4"/>
          <a:stretch>
            <a:fillRect/>
          </a:stretch>
        </p:blipFill>
        <p:spPr>
          <a:xfrm>
            <a:off x="431611" y="2317892"/>
            <a:ext cx="5088040" cy="4038458"/>
          </a:xfrm>
          <a:prstGeom prst="rect">
            <a:avLst/>
          </a:prstGeom>
        </p:spPr>
      </p:pic>
    </p:spTree>
    <p:extLst>
      <p:ext uri="{BB962C8B-B14F-4D97-AF65-F5344CB8AC3E}">
        <p14:creationId xmlns:p14="http://schemas.microsoft.com/office/powerpoint/2010/main" val="2274718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5" name="ZoneTexte 4"/>
          <p:cNvSpPr txBox="1"/>
          <p:nvPr/>
        </p:nvSpPr>
        <p:spPr>
          <a:xfrm>
            <a:off x="1085386" y="1772816"/>
            <a:ext cx="7803112" cy="3139321"/>
          </a:xfrm>
          <a:prstGeom prst="rect">
            <a:avLst/>
          </a:prstGeom>
          <a:noFill/>
        </p:spPr>
        <p:txBody>
          <a:bodyPr wrap="square" rtlCol="0">
            <a:spAutoFit/>
          </a:bodyPr>
          <a:lstStyle/>
          <a:p>
            <a:r>
              <a:rPr lang="fr-FR" dirty="0"/>
              <a:t>Pour utiliser cette macro, suivez ces étapes :</a:t>
            </a:r>
          </a:p>
          <a:p>
            <a:endParaRPr lang="fr-FR" dirty="0"/>
          </a:p>
          <a:p>
            <a:r>
              <a:rPr lang="fr-FR" dirty="0"/>
              <a:t>Activez l'onglet Développeur si ce n'est pas déjà fait.</a:t>
            </a:r>
          </a:p>
          <a:p>
            <a:r>
              <a:rPr lang="fr-FR" dirty="0"/>
              <a:t>Cliquez sur Visual Basic ou appuyez sur Alt + F11 pour ouvrir l'éditeur VBA.</a:t>
            </a:r>
          </a:p>
          <a:p>
            <a:r>
              <a:rPr lang="fr-FR" dirty="0"/>
              <a:t>Dans l'éditeur VBA, insérez un nouveau module : Insertion &gt; </a:t>
            </a:r>
            <a:r>
              <a:rPr lang="fr-FR" dirty="0" err="1"/>
              <a:t>Module.Copiez-collez</a:t>
            </a:r>
            <a:r>
              <a:rPr lang="fr-FR" dirty="0"/>
              <a:t> le code ci-dessus dans le </a:t>
            </a:r>
            <a:r>
              <a:rPr lang="fr-FR" dirty="0" err="1"/>
              <a:t>module.Fermez</a:t>
            </a:r>
            <a:r>
              <a:rPr lang="fr-FR" dirty="0"/>
              <a:t> l'éditeur VBA.</a:t>
            </a:r>
          </a:p>
          <a:p>
            <a:r>
              <a:rPr lang="fr-FR" dirty="0"/>
              <a:t>Revenez à Excel et exécutez la macro : Développeur &gt; Macros &gt; sélectionnez </a:t>
            </a:r>
            <a:r>
              <a:rPr lang="fr-FR" dirty="0" err="1"/>
              <a:t>GenerateurDeGrilleDeNombres</a:t>
            </a:r>
            <a:r>
              <a:rPr lang="fr-FR" dirty="0"/>
              <a:t> &gt; Exécuter.</a:t>
            </a:r>
          </a:p>
          <a:p>
            <a:endParaRPr lang="fr-FR" dirty="0"/>
          </a:p>
          <a:p>
            <a:r>
              <a:rPr lang="fr-FR" dirty="0"/>
              <a:t>N'hésitez pas à ajuster le code si nécessaire ou à poser des questions si vous avez besoin d'aide supplémentaire ! 😊</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16</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4085951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17</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6" name="Image 5"/>
          <p:cNvPicPr>
            <a:picLocks noChangeAspect="1"/>
          </p:cNvPicPr>
          <p:nvPr/>
        </p:nvPicPr>
        <p:blipFill>
          <a:blip r:embed="rId3"/>
          <a:stretch>
            <a:fillRect/>
          </a:stretch>
        </p:blipFill>
        <p:spPr>
          <a:xfrm>
            <a:off x="393008" y="1751226"/>
            <a:ext cx="10671233" cy="3018012"/>
          </a:xfrm>
          <a:prstGeom prst="rect">
            <a:avLst/>
          </a:prstGeom>
        </p:spPr>
      </p:pic>
    </p:spTree>
    <p:extLst>
      <p:ext uri="{BB962C8B-B14F-4D97-AF65-F5344CB8AC3E}">
        <p14:creationId xmlns:p14="http://schemas.microsoft.com/office/powerpoint/2010/main" val="772813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18</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5" name="Image 4"/>
          <p:cNvPicPr>
            <a:picLocks noChangeAspect="1"/>
          </p:cNvPicPr>
          <p:nvPr/>
        </p:nvPicPr>
        <p:blipFill>
          <a:blip r:embed="rId3"/>
          <a:stretch>
            <a:fillRect/>
          </a:stretch>
        </p:blipFill>
        <p:spPr>
          <a:xfrm>
            <a:off x="1085385" y="2102714"/>
            <a:ext cx="4477375" cy="3334215"/>
          </a:xfrm>
          <a:prstGeom prst="rect">
            <a:avLst/>
          </a:prstGeom>
        </p:spPr>
      </p:pic>
    </p:spTree>
    <p:extLst>
      <p:ext uri="{BB962C8B-B14F-4D97-AF65-F5344CB8AC3E}">
        <p14:creationId xmlns:p14="http://schemas.microsoft.com/office/powerpoint/2010/main" val="2597091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Point d’attention</a:t>
            </a:r>
          </a:p>
        </p:txBody>
      </p:sp>
      <p:sp>
        <p:nvSpPr>
          <p:cNvPr id="5" name="ZoneTexte 4"/>
          <p:cNvSpPr txBox="1"/>
          <p:nvPr/>
        </p:nvSpPr>
        <p:spPr>
          <a:xfrm>
            <a:off x="1085386" y="1772816"/>
            <a:ext cx="7803112" cy="1754326"/>
          </a:xfrm>
          <a:prstGeom prst="rect">
            <a:avLst/>
          </a:prstGeom>
          <a:noFill/>
        </p:spPr>
        <p:txBody>
          <a:bodyPr wrap="square" rtlCol="0">
            <a:spAutoFit/>
          </a:bodyPr>
          <a:lstStyle/>
          <a:p>
            <a:r>
              <a:rPr lang="fr-BE" dirty="0"/>
              <a:t>L’IA a toujours raison ?</a:t>
            </a:r>
          </a:p>
          <a:p>
            <a:endParaRPr lang="fr-FR" dirty="0"/>
          </a:p>
          <a:p>
            <a:r>
              <a:rPr lang="fr-FR" dirty="0"/>
              <a:t>Voici un cas particulier :</a:t>
            </a:r>
          </a:p>
          <a:p>
            <a:endParaRPr lang="fr-FR" dirty="0"/>
          </a:p>
          <a:p>
            <a:r>
              <a:rPr lang="fr-FR" dirty="0"/>
              <a:t>Demander a </a:t>
            </a:r>
            <a:r>
              <a:rPr lang="fr-FR" dirty="0" err="1"/>
              <a:t>copilot</a:t>
            </a:r>
            <a:r>
              <a:rPr lang="fr-FR" dirty="0"/>
              <a:t> de lancer cette macro quand on appuie sur les touches CTRL et 1</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19</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3470906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Point d’attention</a:t>
            </a:r>
          </a:p>
        </p:txBody>
      </p:sp>
      <p:sp>
        <p:nvSpPr>
          <p:cNvPr id="5" name="ZoneTexte 4"/>
          <p:cNvSpPr txBox="1"/>
          <p:nvPr/>
        </p:nvSpPr>
        <p:spPr>
          <a:xfrm>
            <a:off x="1085386" y="1772816"/>
            <a:ext cx="7803112" cy="923330"/>
          </a:xfrm>
          <a:prstGeom prst="rect">
            <a:avLst/>
          </a:prstGeom>
          <a:noFill/>
        </p:spPr>
        <p:txBody>
          <a:bodyPr wrap="square" rtlCol="0">
            <a:spAutoFit/>
          </a:bodyPr>
          <a:lstStyle/>
          <a:p>
            <a:r>
              <a:rPr lang="fr-FR" dirty="0"/>
              <a:t>Explique moi comment exécuter cette macro quand on appuie sur les touches CTRL et 1 du pavé numérique, faut il modifier le code ou juste des options dans Excel ?</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20</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6" name="Image 5"/>
          <p:cNvPicPr>
            <a:picLocks noChangeAspect="1"/>
          </p:cNvPicPr>
          <p:nvPr/>
        </p:nvPicPr>
        <p:blipFill>
          <a:blip r:embed="rId3"/>
          <a:stretch>
            <a:fillRect/>
          </a:stretch>
        </p:blipFill>
        <p:spPr>
          <a:xfrm>
            <a:off x="2250703" y="2467773"/>
            <a:ext cx="5347130" cy="3606034"/>
          </a:xfrm>
          <a:prstGeom prst="rect">
            <a:avLst/>
          </a:prstGeom>
        </p:spPr>
      </p:pic>
    </p:spTree>
    <p:extLst>
      <p:ext uri="{BB962C8B-B14F-4D97-AF65-F5344CB8AC3E}">
        <p14:creationId xmlns:p14="http://schemas.microsoft.com/office/powerpoint/2010/main" val="512485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Point d’attention</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21</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7" name="Image 6"/>
          <p:cNvPicPr>
            <a:picLocks noChangeAspect="1"/>
          </p:cNvPicPr>
          <p:nvPr/>
        </p:nvPicPr>
        <p:blipFill>
          <a:blip r:embed="rId3"/>
          <a:stretch>
            <a:fillRect/>
          </a:stretch>
        </p:blipFill>
        <p:spPr>
          <a:xfrm>
            <a:off x="1085385" y="1752000"/>
            <a:ext cx="4582164" cy="3620005"/>
          </a:xfrm>
          <a:prstGeom prst="rect">
            <a:avLst/>
          </a:prstGeom>
        </p:spPr>
      </p:pic>
    </p:spTree>
    <p:extLst>
      <p:ext uri="{BB962C8B-B14F-4D97-AF65-F5344CB8AC3E}">
        <p14:creationId xmlns:p14="http://schemas.microsoft.com/office/powerpoint/2010/main" val="453726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Point d’attention</a:t>
            </a:r>
          </a:p>
        </p:txBody>
      </p:sp>
      <p:sp>
        <p:nvSpPr>
          <p:cNvPr id="5" name="ZoneTexte 4"/>
          <p:cNvSpPr txBox="1"/>
          <p:nvPr/>
        </p:nvSpPr>
        <p:spPr>
          <a:xfrm>
            <a:off x="1085386" y="1772816"/>
            <a:ext cx="7803112" cy="2031325"/>
          </a:xfrm>
          <a:prstGeom prst="rect">
            <a:avLst/>
          </a:prstGeom>
          <a:noFill/>
        </p:spPr>
        <p:txBody>
          <a:bodyPr wrap="square" rtlCol="0">
            <a:spAutoFit/>
          </a:bodyPr>
          <a:lstStyle/>
          <a:p>
            <a:r>
              <a:rPr lang="fr-FR" dirty="0"/>
              <a:t>Continuer de dialoguer avec l’IA pour corriger notre problème :</a:t>
            </a:r>
          </a:p>
          <a:p>
            <a:endParaRPr lang="fr-FR" dirty="0"/>
          </a:p>
          <a:p>
            <a:r>
              <a:rPr lang="fr-FR" dirty="0"/>
              <a:t>D'accord, pour configurer un raccourci clavier </a:t>
            </a:r>
            <a:r>
              <a:rPr lang="fr-FR" b="1" dirty="0"/>
              <a:t>CTRL + 1 du</a:t>
            </a:r>
            <a:r>
              <a:rPr lang="fr-FR" dirty="0"/>
              <a:t> pavé numérique pour lancer votre macro, nous allons devoir utiliser le code VBA pour attribuer un raccourci clavier. Excel ne permet pas directement l'utilisation des chiffres du pavé numérique comme raccourci pour les macros via les options normales, mais on peut contourner cela en utilisant VBA</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22</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4206041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23</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5" name="Image 4"/>
          <p:cNvPicPr>
            <a:picLocks noChangeAspect="1"/>
          </p:cNvPicPr>
          <p:nvPr/>
        </p:nvPicPr>
        <p:blipFill>
          <a:blip r:embed="rId3"/>
          <a:stretch>
            <a:fillRect/>
          </a:stretch>
        </p:blipFill>
        <p:spPr>
          <a:xfrm>
            <a:off x="1201655" y="1778940"/>
            <a:ext cx="4677428" cy="533474"/>
          </a:xfrm>
          <a:prstGeom prst="rect">
            <a:avLst/>
          </a:prstGeom>
        </p:spPr>
      </p:pic>
      <p:pic>
        <p:nvPicPr>
          <p:cNvPr id="6" name="Image 5"/>
          <p:cNvPicPr>
            <a:picLocks noChangeAspect="1"/>
          </p:cNvPicPr>
          <p:nvPr/>
        </p:nvPicPr>
        <p:blipFill>
          <a:blip r:embed="rId4"/>
          <a:stretch>
            <a:fillRect/>
          </a:stretch>
        </p:blipFill>
        <p:spPr>
          <a:xfrm>
            <a:off x="1201655" y="2557319"/>
            <a:ext cx="6242499" cy="3799031"/>
          </a:xfrm>
          <a:prstGeom prst="rect">
            <a:avLst/>
          </a:prstGeom>
        </p:spPr>
      </p:pic>
      <p:pic>
        <p:nvPicPr>
          <p:cNvPr id="7" name="Image 6"/>
          <p:cNvPicPr>
            <a:picLocks noChangeAspect="1"/>
          </p:cNvPicPr>
          <p:nvPr/>
        </p:nvPicPr>
        <p:blipFill>
          <a:blip r:embed="rId5"/>
          <a:stretch>
            <a:fillRect/>
          </a:stretch>
        </p:blipFill>
        <p:spPr>
          <a:xfrm>
            <a:off x="7444154" y="2530649"/>
            <a:ext cx="4065831" cy="2628189"/>
          </a:xfrm>
          <a:prstGeom prst="rect">
            <a:avLst/>
          </a:prstGeom>
        </p:spPr>
      </p:pic>
      <p:sp>
        <p:nvSpPr>
          <p:cNvPr id="8" name="Rectangle 7"/>
          <p:cNvSpPr/>
          <p:nvPr/>
        </p:nvSpPr>
        <p:spPr>
          <a:xfrm>
            <a:off x="7444154" y="4655507"/>
            <a:ext cx="1166446" cy="3256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cxnSp>
        <p:nvCxnSpPr>
          <p:cNvPr id="10" name="Connecteur en angle 9"/>
          <p:cNvCxnSpPr/>
          <p:nvPr/>
        </p:nvCxnSpPr>
        <p:spPr>
          <a:xfrm>
            <a:off x="8734816" y="4914378"/>
            <a:ext cx="426768" cy="3924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p:cNvSpPr txBox="1"/>
          <p:nvPr/>
        </p:nvSpPr>
        <p:spPr>
          <a:xfrm>
            <a:off x="9084564" y="5199138"/>
            <a:ext cx="1063112" cy="215444"/>
          </a:xfrm>
          <a:prstGeom prst="rect">
            <a:avLst/>
          </a:prstGeom>
          <a:noFill/>
        </p:spPr>
        <p:txBody>
          <a:bodyPr wrap="none" rtlCol="0">
            <a:spAutoFit/>
          </a:bodyPr>
          <a:lstStyle/>
          <a:p>
            <a:r>
              <a:rPr lang="fr-FR" sz="800" dirty="0"/>
              <a:t>Dans le </a:t>
            </a:r>
            <a:r>
              <a:rPr lang="fr-FR" sz="800" dirty="0" err="1"/>
              <a:t>ThisWorkook</a:t>
            </a:r>
            <a:endParaRPr lang="fr-BE" sz="800" dirty="0"/>
          </a:p>
        </p:txBody>
      </p:sp>
    </p:spTree>
    <p:extLst>
      <p:ext uri="{BB962C8B-B14F-4D97-AF65-F5344CB8AC3E}">
        <p14:creationId xmlns:p14="http://schemas.microsoft.com/office/powerpoint/2010/main" val="792415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Créer une interface</a:t>
            </a:r>
          </a:p>
        </p:txBody>
      </p:sp>
      <p:sp>
        <p:nvSpPr>
          <p:cNvPr id="5" name="ZoneTexte 4"/>
          <p:cNvSpPr txBox="1"/>
          <p:nvPr/>
        </p:nvSpPr>
        <p:spPr>
          <a:xfrm>
            <a:off x="1085386" y="1772816"/>
            <a:ext cx="7803112" cy="923330"/>
          </a:xfrm>
          <a:prstGeom prst="rect">
            <a:avLst/>
          </a:prstGeom>
          <a:noFill/>
        </p:spPr>
        <p:txBody>
          <a:bodyPr wrap="square" rtlCol="0">
            <a:spAutoFit/>
          </a:bodyPr>
          <a:lstStyle/>
          <a:p>
            <a:r>
              <a:rPr lang="fr-FR" dirty="0"/>
              <a:t>Créer un menu avec des cases à cocher dans Excel peut être très utile pour permettre à l'utilisateur de faire plusieurs choix parmi plusieurs options.</a:t>
            </a:r>
          </a:p>
          <a:p>
            <a:r>
              <a:rPr lang="fr-FR" dirty="0"/>
              <a:t>Voici comment procéder pour créer un tel menu à l'aide de VBA. Via </a:t>
            </a:r>
            <a:r>
              <a:rPr lang="fr-FR" dirty="0" err="1"/>
              <a:t>UserForm</a:t>
            </a:r>
            <a:r>
              <a:rPr lang="fr-FR" dirty="0"/>
              <a:t>.</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24</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9" name="Image 8"/>
          <p:cNvPicPr>
            <a:picLocks noChangeAspect="1"/>
          </p:cNvPicPr>
          <p:nvPr/>
        </p:nvPicPr>
        <p:blipFill>
          <a:blip r:embed="rId3"/>
          <a:stretch>
            <a:fillRect/>
          </a:stretch>
        </p:blipFill>
        <p:spPr>
          <a:xfrm>
            <a:off x="1085385" y="2696146"/>
            <a:ext cx="5039554" cy="3698090"/>
          </a:xfrm>
          <a:prstGeom prst="rect">
            <a:avLst/>
          </a:prstGeom>
        </p:spPr>
      </p:pic>
      <p:pic>
        <p:nvPicPr>
          <p:cNvPr id="10" name="Image 9"/>
          <p:cNvPicPr>
            <a:picLocks noChangeAspect="1"/>
          </p:cNvPicPr>
          <p:nvPr/>
        </p:nvPicPr>
        <p:blipFill>
          <a:blip r:embed="rId4"/>
          <a:stretch>
            <a:fillRect/>
          </a:stretch>
        </p:blipFill>
        <p:spPr>
          <a:xfrm>
            <a:off x="6243971" y="2991436"/>
            <a:ext cx="5289054" cy="2250039"/>
          </a:xfrm>
          <a:prstGeom prst="rect">
            <a:avLst/>
          </a:prstGeom>
        </p:spPr>
      </p:pic>
    </p:spTree>
    <p:extLst>
      <p:ext uri="{BB962C8B-B14F-4D97-AF65-F5344CB8AC3E}">
        <p14:creationId xmlns:p14="http://schemas.microsoft.com/office/powerpoint/2010/main" val="3319826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25</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6" name="Image 5"/>
          <p:cNvPicPr>
            <a:picLocks noChangeAspect="1"/>
          </p:cNvPicPr>
          <p:nvPr/>
        </p:nvPicPr>
        <p:blipFill>
          <a:blip r:embed="rId3"/>
          <a:stretch>
            <a:fillRect/>
          </a:stretch>
        </p:blipFill>
        <p:spPr>
          <a:xfrm>
            <a:off x="1144139" y="3633382"/>
            <a:ext cx="4686954" cy="2905530"/>
          </a:xfrm>
          <a:prstGeom prst="rect">
            <a:avLst/>
          </a:prstGeom>
        </p:spPr>
      </p:pic>
      <p:pic>
        <p:nvPicPr>
          <p:cNvPr id="7" name="Image 6"/>
          <p:cNvPicPr>
            <a:picLocks noChangeAspect="1"/>
          </p:cNvPicPr>
          <p:nvPr/>
        </p:nvPicPr>
        <p:blipFill>
          <a:blip r:embed="rId4"/>
          <a:stretch>
            <a:fillRect/>
          </a:stretch>
        </p:blipFill>
        <p:spPr>
          <a:xfrm>
            <a:off x="6799054" y="692696"/>
            <a:ext cx="2362530" cy="5639587"/>
          </a:xfrm>
          <a:prstGeom prst="rect">
            <a:avLst/>
          </a:prstGeom>
        </p:spPr>
      </p:pic>
      <p:pic>
        <p:nvPicPr>
          <p:cNvPr id="8" name="Image 7"/>
          <p:cNvPicPr>
            <a:picLocks noChangeAspect="1"/>
          </p:cNvPicPr>
          <p:nvPr/>
        </p:nvPicPr>
        <p:blipFill>
          <a:blip r:embed="rId5"/>
          <a:stretch>
            <a:fillRect/>
          </a:stretch>
        </p:blipFill>
        <p:spPr>
          <a:xfrm>
            <a:off x="1144139" y="1643077"/>
            <a:ext cx="5315415" cy="1984726"/>
          </a:xfrm>
          <a:prstGeom prst="rect">
            <a:avLst/>
          </a:prstGeom>
        </p:spPr>
      </p:pic>
    </p:spTree>
    <p:extLst>
      <p:ext uri="{BB962C8B-B14F-4D97-AF65-F5344CB8AC3E}">
        <p14:creationId xmlns:p14="http://schemas.microsoft.com/office/powerpoint/2010/main" val="3062949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26</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pic>
        <p:nvPicPr>
          <p:cNvPr id="5" name="Image 4"/>
          <p:cNvPicPr>
            <a:picLocks noChangeAspect="1"/>
          </p:cNvPicPr>
          <p:nvPr/>
        </p:nvPicPr>
        <p:blipFill>
          <a:blip r:embed="rId3"/>
          <a:stretch>
            <a:fillRect/>
          </a:stretch>
        </p:blipFill>
        <p:spPr>
          <a:xfrm>
            <a:off x="1085386" y="1715676"/>
            <a:ext cx="4993030" cy="2973991"/>
          </a:xfrm>
          <a:prstGeom prst="rect">
            <a:avLst/>
          </a:prstGeom>
        </p:spPr>
      </p:pic>
      <p:pic>
        <p:nvPicPr>
          <p:cNvPr id="9" name="Image 8"/>
          <p:cNvPicPr>
            <a:picLocks noChangeAspect="1"/>
          </p:cNvPicPr>
          <p:nvPr/>
        </p:nvPicPr>
        <p:blipFill>
          <a:blip r:embed="rId4"/>
          <a:stretch>
            <a:fillRect/>
          </a:stretch>
        </p:blipFill>
        <p:spPr>
          <a:xfrm>
            <a:off x="6166009" y="1716564"/>
            <a:ext cx="4725059" cy="1486107"/>
          </a:xfrm>
          <a:prstGeom prst="rect">
            <a:avLst/>
          </a:prstGeom>
        </p:spPr>
      </p:pic>
      <p:pic>
        <p:nvPicPr>
          <p:cNvPr id="10" name="Image 9"/>
          <p:cNvPicPr>
            <a:picLocks noChangeAspect="1"/>
          </p:cNvPicPr>
          <p:nvPr/>
        </p:nvPicPr>
        <p:blipFill>
          <a:blip r:embed="rId5"/>
          <a:stretch>
            <a:fillRect/>
          </a:stretch>
        </p:blipFill>
        <p:spPr>
          <a:xfrm>
            <a:off x="6166009" y="3174071"/>
            <a:ext cx="5801535" cy="2629267"/>
          </a:xfrm>
          <a:prstGeom prst="rect">
            <a:avLst/>
          </a:prstGeom>
        </p:spPr>
      </p:pic>
    </p:spTree>
    <p:extLst>
      <p:ext uri="{BB962C8B-B14F-4D97-AF65-F5344CB8AC3E}">
        <p14:creationId xmlns:p14="http://schemas.microsoft.com/office/powerpoint/2010/main" val="19284256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5" y="692696"/>
            <a:ext cx="6927337" cy="784830"/>
          </a:xfrm>
          <a:prstGeom prst="rect">
            <a:avLst/>
          </a:prstGeom>
          <a:noFill/>
        </p:spPr>
        <p:txBody>
          <a:bodyPr wrap="square" rtlCol="0">
            <a:spAutoFit/>
          </a:bodyPr>
          <a:lstStyle/>
          <a:p>
            <a:r>
              <a:rPr lang="fr-FR" sz="4500" dirty="0" err="1">
                <a:solidFill>
                  <a:srgbClr val="00205B"/>
                </a:solidFill>
                <a:latin typeface="Arial" panose="020B0604020202020204" pitchFamily="34" charset="0"/>
                <a:cs typeface="Arial" panose="020B0604020202020204" pitchFamily="34" charset="0"/>
              </a:rPr>
              <a:t>UserForm</a:t>
            </a:r>
            <a:r>
              <a:rPr lang="fr-FR" sz="4500" dirty="0">
                <a:solidFill>
                  <a:srgbClr val="00205B"/>
                </a:solidFill>
                <a:latin typeface="Arial" panose="020B0604020202020204" pitchFamily="34" charset="0"/>
                <a:cs typeface="Arial" panose="020B0604020202020204" pitchFamily="34" charset="0"/>
              </a:rPr>
              <a:t> vs </a:t>
            </a:r>
            <a:r>
              <a:rPr lang="fr-FR" sz="4500" dirty="0" err="1">
                <a:solidFill>
                  <a:srgbClr val="00205B"/>
                </a:solidFill>
                <a:latin typeface="Arial" panose="020B0604020202020204" pitchFamily="34" charset="0"/>
                <a:cs typeface="Arial" panose="020B0604020202020204" pitchFamily="34" charset="0"/>
              </a:rPr>
              <a:t>CreationTool</a:t>
            </a:r>
            <a:endParaRPr lang="fr-FR" sz="4500" dirty="0">
              <a:solidFill>
                <a:srgbClr val="00205B"/>
              </a:solidFill>
              <a:latin typeface="Arial" panose="020B0604020202020204" pitchFamily="34" charset="0"/>
              <a:cs typeface="Arial" panose="020B0604020202020204" pitchFamily="34" charset="0"/>
            </a:endParaRP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27</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pic>
        <p:nvPicPr>
          <p:cNvPr id="4" name="Image 3"/>
          <p:cNvPicPr>
            <a:picLocks noChangeAspect="1"/>
          </p:cNvPicPr>
          <p:nvPr/>
        </p:nvPicPr>
        <p:blipFill>
          <a:blip r:embed="rId3"/>
          <a:stretch>
            <a:fillRect/>
          </a:stretch>
        </p:blipFill>
        <p:spPr>
          <a:xfrm>
            <a:off x="1085385" y="2222768"/>
            <a:ext cx="3200847" cy="3162741"/>
          </a:xfrm>
          <a:prstGeom prst="rect">
            <a:avLst/>
          </a:prstGeom>
        </p:spPr>
      </p:pic>
      <p:pic>
        <p:nvPicPr>
          <p:cNvPr id="5" name="Image 4"/>
          <p:cNvPicPr>
            <a:picLocks noChangeAspect="1"/>
          </p:cNvPicPr>
          <p:nvPr/>
        </p:nvPicPr>
        <p:blipFill>
          <a:blip r:embed="rId4"/>
          <a:stretch>
            <a:fillRect/>
          </a:stretch>
        </p:blipFill>
        <p:spPr>
          <a:xfrm>
            <a:off x="5233867" y="2709762"/>
            <a:ext cx="1724266" cy="1438476"/>
          </a:xfrm>
          <a:prstGeom prst="rect">
            <a:avLst/>
          </a:prstGeom>
        </p:spPr>
      </p:pic>
    </p:spTree>
    <p:extLst>
      <p:ext uri="{BB962C8B-B14F-4D97-AF65-F5344CB8AC3E}">
        <p14:creationId xmlns:p14="http://schemas.microsoft.com/office/powerpoint/2010/main" val="1600803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6640122"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Pour aller plus loin…</a:t>
            </a:r>
          </a:p>
        </p:txBody>
      </p:sp>
      <p:sp>
        <p:nvSpPr>
          <p:cNvPr id="3" name="ZoneTexte 2"/>
          <p:cNvSpPr txBox="1"/>
          <p:nvPr/>
        </p:nvSpPr>
        <p:spPr>
          <a:xfrm>
            <a:off x="1085386" y="1772816"/>
            <a:ext cx="7803112" cy="2585323"/>
          </a:xfrm>
          <a:prstGeom prst="rect">
            <a:avLst/>
          </a:prstGeom>
          <a:noFill/>
        </p:spPr>
        <p:txBody>
          <a:bodyPr wrap="square" rtlCol="0">
            <a:spAutoFit/>
          </a:bodyPr>
          <a:lstStyle/>
          <a:p>
            <a:pPr lvl="0"/>
            <a:r>
              <a:rPr lang="fr-FR" dirty="0"/>
              <a:t>Un projet en cours ? </a:t>
            </a:r>
          </a:p>
          <a:p>
            <a:pPr lvl="0"/>
            <a:endParaRPr lang="fr-FR" dirty="0"/>
          </a:p>
          <a:p>
            <a:pPr lvl="0"/>
            <a:r>
              <a:rPr lang="fr-FR"/>
              <a:t>Ou alors…</a:t>
            </a:r>
            <a:endParaRPr lang="fr-FR" dirty="0"/>
          </a:p>
          <a:p>
            <a:pPr lvl="0"/>
            <a:endParaRPr lang="fr-FR" dirty="0"/>
          </a:p>
          <a:p>
            <a:pPr lvl="0"/>
            <a:r>
              <a:rPr lang="fr-FR" dirty="0"/>
              <a:t>Ouvrir le fichier : Tableau de Bord Interactif.xlsm</a:t>
            </a:r>
          </a:p>
          <a:p>
            <a:pPr lvl="0"/>
            <a:endParaRPr lang="fr-FR" dirty="0"/>
          </a:p>
          <a:p>
            <a:pPr lvl="0"/>
            <a:r>
              <a:rPr lang="fr-FR" dirty="0"/>
              <a:t>Télécharger ce document</a:t>
            </a:r>
            <a:endParaRPr lang="fr-BE" dirty="0"/>
          </a:p>
          <a:p>
            <a:pPr lvl="0"/>
            <a:endParaRPr lang="fr-BE" dirty="0"/>
          </a:p>
          <a:p>
            <a:pPr lvl="0"/>
            <a:r>
              <a:rPr lang="fr-FR" dirty="0"/>
              <a:t>Utiliser l’IA pour aller encore plus loin…</a:t>
            </a:r>
            <a:endParaRPr lang="fr-BE" dirty="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28</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873444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6640122"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Macro bonus</a:t>
            </a:r>
          </a:p>
        </p:txBody>
      </p:sp>
      <p:sp>
        <p:nvSpPr>
          <p:cNvPr id="3" name="ZoneTexte 2"/>
          <p:cNvSpPr txBox="1"/>
          <p:nvPr/>
        </p:nvSpPr>
        <p:spPr>
          <a:xfrm>
            <a:off x="1085386" y="1772816"/>
            <a:ext cx="7803112" cy="2862322"/>
          </a:xfrm>
          <a:prstGeom prst="rect">
            <a:avLst/>
          </a:prstGeom>
          <a:noFill/>
        </p:spPr>
        <p:txBody>
          <a:bodyPr wrap="square" rtlCol="0">
            <a:spAutoFit/>
          </a:bodyPr>
          <a:lstStyle/>
          <a:p>
            <a:pPr lvl="0"/>
            <a:r>
              <a:rPr lang="fr-BE" dirty="0"/>
              <a:t>Macro de sauvegarde automatiquement formatée :</a:t>
            </a:r>
          </a:p>
          <a:p>
            <a:pPr lvl="0"/>
            <a:endParaRPr lang="fr-BE" dirty="0"/>
          </a:p>
          <a:p>
            <a:r>
              <a:rPr lang="fr-BE" dirty="0" err="1"/>
              <a:t>vba</a:t>
            </a:r>
            <a:endParaRPr lang="fr-BE" dirty="0"/>
          </a:p>
          <a:p>
            <a:endParaRPr lang="fr-BE" dirty="0"/>
          </a:p>
          <a:p>
            <a:r>
              <a:rPr lang="fr-BE" dirty="0" err="1"/>
              <a:t>Sub</a:t>
            </a:r>
            <a:r>
              <a:rPr lang="fr-BE" dirty="0"/>
              <a:t> </a:t>
            </a:r>
            <a:r>
              <a:rPr lang="fr-BE" dirty="0" err="1"/>
              <a:t>SauvegardeAuto</a:t>
            </a:r>
            <a:r>
              <a:rPr lang="fr-BE" dirty="0"/>
              <a:t>()</a:t>
            </a:r>
          </a:p>
          <a:p>
            <a:r>
              <a:rPr lang="fr-BE" dirty="0"/>
              <a:t>    </a:t>
            </a:r>
            <a:r>
              <a:rPr lang="fr-BE" i="1" dirty="0"/>
              <a:t>' Sauvegarde avec date</a:t>
            </a:r>
            <a:endParaRPr lang="fr-BE" dirty="0"/>
          </a:p>
          <a:p>
            <a:r>
              <a:rPr lang="fr-BE" dirty="0"/>
              <a:t>    Dim </a:t>
            </a:r>
            <a:r>
              <a:rPr lang="fr-BE" dirty="0" err="1"/>
              <a:t>nomFichier</a:t>
            </a:r>
            <a:r>
              <a:rPr lang="fr-BE" dirty="0"/>
              <a:t> As String</a:t>
            </a:r>
          </a:p>
          <a:p>
            <a:r>
              <a:rPr lang="fr-BE" dirty="0"/>
              <a:t>    </a:t>
            </a:r>
            <a:r>
              <a:rPr lang="fr-BE" dirty="0" err="1"/>
              <a:t>nomFichier</a:t>
            </a:r>
            <a:r>
              <a:rPr lang="fr-BE" dirty="0"/>
              <a:t> = "Rapport_" &amp; Format(Date, "</a:t>
            </a:r>
            <a:r>
              <a:rPr lang="fr-BE" dirty="0" err="1"/>
              <a:t>yyyymmdd</a:t>
            </a:r>
            <a:r>
              <a:rPr lang="fr-BE" dirty="0"/>
              <a:t>") &amp; ".</a:t>
            </a:r>
            <a:r>
              <a:rPr lang="fr-BE" dirty="0" err="1"/>
              <a:t>xlsx</a:t>
            </a:r>
            <a:r>
              <a:rPr lang="fr-BE" dirty="0"/>
              <a:t>"</a:t>
            </a:r>
          </a:p>
          <a:p>
            <a:r>
              <a:rPr lang="fr-BE" dirty="0"/>
              <a:t>    </a:t>
            </a:r>
            <a:r>
              <a:rPr lang="fr-BE" dirty="0" err="1"/>
              <a:t>ActiveWorkbook.SaveAs</a:t>
            </a:r>
            <a:r>
              <a:rPr lang="fr-BE" dirty="0"/>
              <a:t> </a:t>
            </a:r>
            <a:r>
              <a:rPr lang="fr-BE" dirty="0" err="1"/>
              <a:t>Filename</a:t>
            </a:r>
            <a:r>
              <a:rPr lang="fr-BE" dirty="0"/>
              <a:t>:=</a:t>
            </a:r>
            <a:r>
              <a:rPr lang="fr-BE" dirty="0" err="1"/>
              <a:t>nomFichier</a:t>
            </a:r>
            <a:endParaRPr lang="fr-BE" dirty="0"/>
          </a:p>
          <a:p>
            <a:r>
              <a:rPr lang="fr-BE" dirty="0"/>
              <a:t>End </a:t>
            </a:r>
            <a:r>
              <a:rPr lang="fr-BE" dirty="0" err="1"/>
              <a:t>Sub</a:t>
            </a:r>
            <a:endParaRPr lang="fr-BE" dirty="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29</a:t>
            </a:fld>
            <a:endParaRPr lang="fr-BE" dirty="0"/>
          </a:p>
        </p:txBody>
      </p:sp>
      <p:sp>
        <p:nvSpPr>
          <p:cNvPr id="7" name="Espace réservé du pied de page 6"/>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2343244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08DCF6BF-19FA-4A5F-BF39-DB960C4A6126}" type="slidenum">
              <a:rPr lang="fr-BE" smtClean="0"/>
              <a:t>30</a:t>
            </a:fld>
            <a:endParaRPr lang="fr-BE"/>
          </a:p>
        </p:txBody>
      </p:sp>
      <p:sp>
        <p:nvSpPr>
          <p:cNvPr id="3" name="Espace réservé du pied de page 2"/>
          <p:cNvSpPr>
            <a:spLocks noGrp="1"/>
          </p:cNvSpPr>
          <p:nvPr>
            <p:ph type="ftr" sz="quarter" idx="11"/>
          </p:nvPr>
        </p:nvSpPr>
        <p:spPr/>
        <p:txBody>
          <a:bodyPr/>
          <a:lstStyle/>
          <a:p>
            <a:r>
              <a:rPr lang="fr-BE" dirty="0"/>
              <a:t>Niveau Avancé</a:t>
            </a:r>
          </a:p>
        </p:txBody>
      </p:sp>
    </p:spTree>
    <p:extLst>
      <p:ext uri="{BB962C8B-B14F-4D97-AF65-F5344CB8AC3E}">
        <p14:creationId xmlns:p14="http://schemas.microsoft.com/office/powerpoint/2010/main" val="13500234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1781</TotalTime>
  <Words>1223</Words>
  <Application>Microsoft Office PowerPoint</Application>
  <PresentationFormat>Grand écran</PresentationFormat>
  <Paragraphs>207</Paragraphs>
  <Slides>30</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30</vt:i4>
      </vt:variant>
    </vt:vector>
  </HeadingPairs>
  <TitlesOfParts>
    <vt:vector size="34"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SPRUMONT, Valerie</dc:creator>
  <cp:lastModifiedBy>BUSSERS, Charles</cp:lastModifiedBy>
  <cp:revision>84</cp:revision>
  <dcterms:created xsi:type="dcterms:W3CDTF">2021-01-18T12:43:54Z</dcterms:created>
  <dcterms:modified xsi:type="dcterms:W3CDTF">2026-05-26T11:09:09Z</dcterms:modified>
</cp:coreProperties>
</file>