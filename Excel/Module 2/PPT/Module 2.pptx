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handoutMasterIdLst>
    <p:handoutMasterId r:id="rId40"/>
  </p:handoutMasterIdLst>
  <p:sldIdLst>
    <p:sldId id="256" r:id="rId2"/>
    <p:sldId id="257" r:id="rId3"/>
    <p:sldId id="323" r:id="rId4"/>
    <p:sldId id="260" r:id="rId5"/>
    <p:sldId id="264" r:id="rId6"/>
    <p:sldId id="325" r:id="rId7"/>
    <p:sldId id="329" r:id="rId8"/>
    <p:sldId id="327" r:id="rId9"/>
    <p:sldId id="328" r:id="rId10"/>
    <p:sldId id="331" r:id="rId11"/>
    <p:sldId id="262" r:id="rId12"/>
    <p:sldId id="324" r:id="rId13"/>
    <p:sldId id="322" r:id="rId14"/>
    <p:sldId id="332" r:id="rId15"/>
    <p:sldId id="330" r:id="rId16"/>
    <p:sldId id="303" r:id="rId17"/>
    <p:sldId id="304" r:id="rId18"/>
    <p:sldId id="305" r:id="rId19"/>
    <p:sldId id="306" r:id="rId20"/>
    <p:sldId id="308" r:id="rId21"/>
    <p:sldId id="333" r:id="rId22"/>
    <p:sldId id="334" r:id="rId23"/>
    <p:sldId id="309" r:id="rId24"/>
    <p:sldId id="310" r:id="rId25"/>
    <p:sldId id="312" r:id="rId26"/>
    <p:sldId id="320" r:id="rId27"/>
    <p:sldId id="335" r:id="rId28"/>
    <p:sldId id="338" r:id="rId29"/>
    <p:sldId id="336" r:id="rId30"/>
    <p:sldId id="339" r:id="rId31"/>
    <p:sldId id="337" r:id="rId32"/>
    <p:sldId id="315" r:id="rId33"/>
    <p:sldId id="316" r:id="rId34"/>
    <p:sldId id="318" r:id="rId35"/>
    <p:sldId id="314" r:id="rId36"/>
    <p:sldId id="321" r:id="rId37"/>
    <p:sldId id="301" r:id="rId3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4" autoAdjust="0"/>
    <p:restoredTop sz="96395" autoAdjust="0"/>
  </p:normalViewPr>
  <p:slideViewPr>
    <p:cSldViewPr snapToGrid="0">
      <p:cViewPr varScale="1">
        <p:scale>
          <a:sx n="163" d="100"/>
          <a:sy n="163" d="100"/>
        </p:scale>
        <p:origin x="144" y="15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381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E9E3A2E-B7EC-4B7B-BB59-A012054395C4}" type="datetimeFigureOut">
              <a:rPr lang="fr-BE" smtClean="0"/>
              <a:t>17/02/2025</a:t>
            </a:fld>
            <a:endParaRPr lang="fr-BE"/>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ABD471-78C6-4E91-ACC7-9034B4697514}" type="slidenum">
              <a:rPr lang="fr-BE" smtClean="0"/>
              <a:t>‹N°›</a:t>
            </a:fld>
            <a:endParaRPr lang="fr-BE"/>
          </a:p>
        </p:txBody>
      </p:sp>
    </p:spTree>
    <p:extLst>
      <p:ext uri="{BB962C8B-B14F-4D97-AF65-F5344CB8AC3E}">
        <p14:creationId xmlns:p14="http://schemas.microsoft.com/office/powerpoint/2010/main" val="3448965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43C837-5F14-4368-9E37-7CA1E092319A}" type="datetimeFigureOut">
              <a:rPr lang="fr-BE" smtClean="0"/>
              <a:t>17/02/2025</a:t>
            </a:fld>
            <a:endParaRPr lang="fr-BE"/>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3464EE-1245-4F8A-BD5B-B87F494EEB22}" type="slidenum">
              <a:rPr lang="fr-BE" smtClean="0"/>
              <a:t>‹N°›</a:t>
            </a:fld>
            <a:endParaRPr lang="fr-BE"/>
          </a:p>
        </p:txBody>
      </p:sp>
    </p:spTree>
    <p:extLst>
      <p:ext uri="{BB962C8B-B14F-4D97-AF65-F5344CB8AC3E}">
        <p14:creationId xmlns:p14="http://schemas.microsoft.com/office/powerpoint/2010/main" val="2363158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843464EE-1245-4F8A-BD5B-B87F494EEB22}" type="slidenum">
              <a:rPr lang="fr-BE" smtClean="0"/>
              <a:t>1</a:t>
            </a:fld>
            <a:endParaRPr lang="fr-BE"/>
          </a:p>
        </p:txBody>
      </p:sp>
    </p:spTree>
    <p:extLst>
      <p:ext uri="{BB962C8B-B14F-4D97-AF65-F5344CB8AC3E}">
        <p14:creationId xmlns:p14="http://schemas.microsoft.com/office/powerpoint/2010/main" val="2320041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843464EE-1245-4F8A-BD5B-B87F494EEB22}" type="slidenum">
              <a:rPr lang="fr-BE" smtClean="0"/>
              <a:t>3</a:t>
            </a:fld>
            <a:endParaRPr lang="fr-BE"/>
          </a:p>
        </p:txBody>
      </p:sp>
    </p:spTree>
    <p:extLst>
      <p:ext uri="{BB962C8B-B14F-4D97-AF65-F5344CB8AC3E}">
        <p14:creationId xmlns:p14="http://schemas.microsoft.com/office/powerpoint/2010/main" val="2226935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843464EE-1245-4F8A-BD5B-B87F494EEB22}" type="slidenum">
              <a:rPr lang="fr-BE" smtClean="0"/>
              <a:t>4</a:t>
            </a:fld>
            <a:endParaRPr lang="fr-BE"/>
          </a:p>
        </p:txBody>
      </p:sp>
    </p:spTree>
    <p:extLst>
      <p:ext uri="{BB962C8B-B14F-4D97-AF65-F5344CB8AC3E}">
        <p14:creationId xmlns:p14="http://schemas.microsoft.com/office/powerpoint/2010/main" val="1550018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843464EE-1245-4F8A-BD5B-B87F494EEB22}" type="slidenum">
              <a:rPr lang="fr-BE" smtClean="0"/>
              <a:t>6</a:t>
            </a:fld>
            <a:endParaRPr lang="fr-BE"/>
          </a:p>
        </p:txBody>
      </p:sp>
    </p:spTree>
    <p:extLst>
      <p:ext uri="{BB962C8B-B14F-4D97-AF65-F5344CB8AC3E}">
        <p14:creationId xmlns:p14="http://schemas.microsoft.com/office/powerpoint/2010/main" val="25319555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843464EE-1245-4F8A-BD5B-B87F494EEB22}" type="slidenum">
              <a:rPr lang="fr-BE" smtClean="0"/>
              <a:t>7</a:t>
            </a:fld>
            <a:endParaRPr lang="fr-BE"/>
          </a:p>
        </p:txBody>
      </p:sp>
    </p:spTree>
    <p:extLst>
      <p:ext uri="{BB962C8B-B14F-4D97-AF65-F5344CB8AC3E}">
        <p14:creationId xmlns:p14="http://schemas.microsoft.com/office/powerpoint/2010/main" val="2479214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843464EE-1245-4F8A-BD5B-B87F494EEB22}" type="slidenum">
              <a:rPr lang="fr-BE" smtClean="0"/>
              <a:t>16</a:t>
            </a:fld>
            <a:endParaRPr lang="fr-BE"/>
          </a:p>
        </p:txBody>
      </p:sp>
    </p:spTree>
    <p:extLst>
      <p:ext uri="{BB962C8B-B14F-4D97-AF65-F5344CB8AC3E}">
        <p14:creationId xmlns:p14="http://schemas.microsoft.com/office/powerpoint/2010/main" val="2562845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843464EE-1245-4F8A-BD5B-B87F494EEB22}" type="slidenum">
              <a:rPr lang="fr-BE" smtClean="0"/>
              <a:t>23</a:t>
            </a:fld>
            <a:endParaRPr lang="fr-BE"/>
          </a:p>
        </p:txBody>
      </p:sp>
    </p:spTree>
    <p:extLst>
      <p:ext uri="{BB962C8B-B14F-4D97-AF65-F5344CB8AC3E}">
        <p14:creationId xmlns:p14="http://schemas.microsoft.com/office/powerpoint/2010/main" val="26296356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843464EE-1245-4F8A-BD5B-B87F494EEB22}" type="slidenum">
              <a:rPr lang="fr-BE" smtClean="0"/>
              <a:t>32</a:t>
            </a:fld>
            <a:endParaRPr lang="fr-BE"/>
          </a:p>
        </p:txBody>
      </p:sp>
    </p:spTree>
    <p:extLst>
      <p:ext uri="{BB962C8B-B14F-4D97-AF65-F5344CB8AC3E}">
        <p14:creationId xmlns:p14="http://schemas.microsoft.com/office/powerpoint/2010/main" val="4050713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BE"/>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BE"/>
          </a:p>
        </p:txBody>
      </p:sp>
      <p:sp>
        <p:nvSpPr>
          <p:cNvPr id="4" name="Espace réservé de la date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B87CAEF6-4FE7-4448-B314-7C7E64EABAED}" type="datetime1">
              <a:rPr lang="fr-BE" smtClean="0"/>
              <a:pPr/>
              <a:t>17/02/2025</a:t>
            </a:fld>
            <a:endParaRPr lang="fr-BE" dirty="0"/>
          </a:p>
        </p:txBody>
      </p:sp>
      <p:sp>
        <p:nvSpPr>
          <p:cNvPr id="5" name="Espace réservé du pied de page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fr-BE" dirty="0"/>
          </a:p>
        </p:txBody>
      </p:sp>
      <p:sp>
        <p:nvSpPr>
          <p:cNvPr id="6" name="Espace réservé du numéro de diapositive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08DCF6BF-19FA-4A5F-BF39-DB960C4A6126}" type="slidenum">
              <a:rPr lang="fr-BE" smtClean="0"/>
              <a:pPr/>
              <a:t>‹N°›</a:t>
            </a:fld>
            <a:endParaRPr lang="fr-BE" dirty="0"/>
          </a:p>
        </p:txBody>
      </p:sp>
    </p:spTree>
    <p:extLst>
      <p:ext uri="{BB962C8B-B14F-4D97-AF65-F5344CB8AC3E}">
        <p14:creationId xmlns:p14="http://schemas.microsoft.com/office/powerpoint/2010/main" val="132792301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BE"/>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358C9A06-0B0C-4422-9FE8-302B2023551E}" type="datetime1">
              <a:rPr lang="fr-BE" smtClean="0"/>
              <a:t>17/02/2025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‹N°›</a:t>
            </a:fld>
            <a:endParaRPr lang="fr-BE"/>
          </a:p>
        </p:txBody>
      </p:sp>
    </p:spTree>
    <p:extLst>
      <p:ext uri="{BB962C8B-B14F-4D97-AF65-F5344CB8AC3E}">
        <p14:creationId xmlns:p14="http://schemas.microsoft.com/office/powerpoint/2010/main" val="106166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BE"/>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289A7D33-FF56-4D54-AB99-948A6BBFFFF5}" type="datetime1">
              <a:rPr lang="fr-BE" smtClean="0"/>
              <a:t>17/02/2025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‹N°›</a:t>
            </a:fld>
            <a:endParaRPr lang="fr-BE"/>
          </a:p>
        </p:txBody>
      </p:sp>
    </p:spTree>
    <p:extLst>
      <p:ext uri="{BB962C8B-B14F-4D97-AF65-F5344CB8AC3E}">
        <p14:creationId xmlns:p14="http://schemas.microsoft.com/office/powerpoint/2010/main" val="4017386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BE"/>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e la date 4"/>
          <p:cNvSpPr>
            <a:spLocks noGrp="1"/>
          </p:cNvSpPr>
          <p:nvPr>
            <p:ph type="dt" sz="half" idx="10"/>
          </p:nvPr>
        </p:nvSpPr>
        <p:spPr/>
        <p:txBody>
          <a:bodyPr/>
          <a:lstStyle/>
          <a:p>
            <a:fld id="{D06D6F8C-CE5F-466F-AECF-7F94038A6464}" type="datetime1">
              <a:rPr lang="fr-BE" smtClean="0"/>
              <a:t>17/02/2025</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08DCF6BF-19FA-4A5F-BF39-DB960C4A6126}" type="slidenum">
              <a:rPr lang="fr-BE" smtClean="0"/>
              <a:t>‹N°›</a:t>
            </a:fld>
            <a:endParaRPr lang="fr-BE"/>
          </a:p>
        </p:txBody>
      </p:sp>
    </p:spTree>
    <p:extLst>
      <p:ext uri="{BB962C8B-B14F-4D97-AF65-F5344CB8AC3E}">
        <p14:creationId xmlns:p14="http://schemas.microsoft.com/office/powerpoint/2010/main" val="920898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BE"/>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7" name="Espace réservé de la date 6"/>
          <p:cNvSpPr>
            <a:spLocks noGrp="1"/>
          </p:cNvSpPr>
          <p:nvPr>
            <p:ph type="dt" sz="half" idx="10"/>
          </p:nvPr>
        </p:nvSpPr>
        <p:spPr/>
        <p:txBody>
          <a:bodyPr/>
          <a:lstStyle/>
          <a:p>
            <a:fld id="{4B8F1B59-7ABA-48F2-9808-852589A25813}" type="datetime1">
              <a:rPr lang="fr-BE" smtClean="0"/>
              <a:t>17/02/2025</a:t>
            </a:fld>
            <a:endParaRPr lang="fr-BE"/>
          </a:p>
        </p:txBody>
      </p:sp>
      <p:sp>
        <p:nvSpPr>
          <p:cNvPr id="8" name="Espace réservé du pied de page 7"/>
          <p:cNvSpPr>
            <a:spLocks noGrp="1"/>
          </p:cNvSpPr>
          <p:nvPr>
            <p:ph type="ftr" sz="quarter" idx="11"/>
          </p:nvPr>
        </p:nvSpPr>
        <p:spPr/>
        <p:txBody>
          <a:bodyPr/>
          <a:lstStyle/>
          <a:p>
            <a:endParaRPr lang="fr-BE"/>
          </a:p>
        </p:txBody>
      </p:sp>
      <p:sp>
        <p:nvSpPr>
          <p:cNvPr id="9" name="Espace réservé du numéro de diapositive 8"/>
          <p:cNvSpPr>
            <a:spLocks noGrp="1"/>
          </p:cNvSpPr>
          <p:nvPr>
            <p:ph type="sldNum" sz="quarter" idx="12"/>
          </p:nvPr>
        </p:nvSpPr>
        <p:spPr/>
        <p:txBody>
          <a:bodyPr/>
          <a:lstStyle/>
          <a:p>
            <a:fld id="{08DCF6BF-19FA-4A5F-BF39-DB960C4A6126}" type="slidenum">
              <a:rPr lang="fr-BE" smtClean="0"/>
              <a:t>‹N°›</a:t>
            </a:fld>
            <a:endParaRPr lang="fr-BE"/>
          </a:p>
        </p:txBody>
      </p:sp>
    </p:spTree>
    <p:extLst>
      <p:ext uri="{BB962C8B-B14F-4D97-AF65-F5344CB8AC3E}">
        <p14:creationId xmlns:p14="http://schemas.microsoft.com/office/powerpoint/2010/main" val="2602860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BE"/>
          </a:p>
        </p:txBody>
      </p:sp>
      <p:sp>
        <p:nvSpPr>
          <p:cNvPr id="3" name="Espace réservé de la date 2"/>
          <p:cNvSpPr>
            <a:spLocks noGrp="1"/>
          </p:cNvSpPr>
          <p:nvPr>
            <p:ph type="dt" sz="half" idx="10"/>
          </p:nvPr>
        </p:nvSpPr>
        <p:spPr/>
        <p:txBody>
          <a:bodyPr/>
          <a:lstStyle/>
          <a:p>
            <a:fld id="{D0F46885-B1FD-466D-9489-79FED6E3F70C}" type="datetime1">
              <a:rPr lang="fr-BE" smtClean="0"/>
              <a:t>17/02/2025</a:t>
            </a:fld>
            <a:endParaRPr lang="fr-BE"/>
          </a:p>
        </p:txBody>
      </p:sp>
      <p:sp>
        <p:nvSpPr>
          <p:cNvPr id="4" name="Espace réservé du pied de page 3"/>
          <p:cNvSpPr>
            <a:spLocks noGrp="1"/>
          </p:cNvSpPr>
          <p:nvPr>
            <p:ph type="ftr" sz="quarter" idx="11"/>
          </p:nvPr>
        </p:nvSpPr>
        <p:spPr/>
        <p:txBody>
          <a:bodyPr/>
          <a:lstStyle/>
          <a:p>
            <a:endParaRPr lang="fr-BE"/>
          </a:p>
        </p:txBody>
      </p:sp>
      <p:sp>
        <p:nvSpPr>
          <p:cNvPr id="5" name="Espace réservé du numéro de diapositive 4"/>
          <p:cNvSpPr>
            <a:spLocks noGrp="1"/>
          </p:cNvSpPr>
          <p:nvPr>
            <p:ph type="sldNum" sz="quarter" idx="12"/>
          </p:nvPr>
        </p:nvSpPr>
        <p:spPr/>
        <p:txBody>
          <a:bodyPr/>
          <a:lstStyle/>
          <a:p>
            <a:fld id="{08DCF6BF-19FA-4A5F-BF39-DB960C4A6126}" type="slidenum">
              <a:rPr lang="fr-BE" smtClean="0"/>
              <a:t>‹N°›</a:t>
            </a:fld>
            <a:endParaRPr lang="fr-BE"/>
          </a:p>
        </p:txBody>
      </p:sp>
    </p:spTree>
    <p:extLst>
      <p:ext uri="{BB962C8B-B14F-4D97-AF65-F5344CB8AC3E}">
        <p14:creationId xmlns:p14="http://schemas.microsoft.com/office/powerpoint/2010/main" val="260407447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7435354-2220-4DA3-BF11-876AD3448588}" type="datetime1">
              <a:rPr lang="fr-BE" smtClean="0"/>
              <a:t>17/02/2025</a:t>
            </a:fld>
            <a:endParaRPr lang="fr-BE"/>
          </a:p>
        </p:txBody>
      </p:sp>
      <p:sp>
        <p:nvSpPr>
          <p:cNvPr id="3" name="Espace réservé du pied de page 2"/>
          <p:cNvSpPr>
            <a:spLocks noGrp="1"/>
          </p:cNvSpPr>
          <p:nvPr>
            <p:ph type="ftr" sz="quarter" idx="11"/>
          </p:nvPr>
        </p:nvSpPr>
        <p:spPr/>
        <p:txBody>
          <a:bodyPr/>
          <a:lstStyle/>
          <a:p>
            <a:endParaRPr lang="fr-BE"/>
          </a:p>
        </p:txBody>
      </p:sp>
      <p:sp>
        <p:nvSpPr>
          <p:cNvPr id="4" name="Espace réservé du numéro de diapositive 3"/>
          <p:cNvSpPr>
            <a:spLocks noGrp="1"/>
          </p:cNvSpPr>
          <p:nvPr>
            <p:ph type="sldNum" sz="quarter" idx="12"/>
          </p:nvPr>
        </p:nvSpPr>
        <p:spPr/>
        <p:txBody>
          <a:bodyPr/>
          <a:lstStyle/>
          <a:p>
            <a:fld id="{08DCF6BF-19FA-4A5F-BF39-DB960C4A6126}" type="slidenum">
              <a:rPr lang="fr-BE" smtClean="0"/>
              <a:t>‹N°›</a:t>
            </a:fld>
            <a:endParaRPr lang="fr-BE"/>
          </a:p>
        </p:txBody>
      </p:sp>
    </p:spTree>
    <p:extLst>
      <p:ext uri="{BB962C8B-B14F-4D97-AF65-F5344CB8AC3E}">
        <p14:creationId xmlns:p14="http://schemas.microsoft.com/office/powerpoint/2010/main" val="165406275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BE"/>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1A12E0ED-3BDA-414D-ADA4-DA4C99E9C056}" type="datetime1">
              <a:rPr lang="fr-BE" smtClean="0"/>
              <a:t>17/02/2025</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08DCF6BF-19FA-4A5F-BF39-DB960C4A6126}" type="slidenum">
              <a:rPr lang="fr-BE" smtClean="0"/>
              <a:t>‹N°›</a:t>
            </a:fld>
            <a:endParaRPr lang="fr-BE"/>
          </a:p>
        </p:txBody>
      </p:sp>
    </p:spTree>
    <p:extLst>
      <p:ext uri="{BB962C8B-B14F-4D97-AF65-F5344CB8AC3E}">
        <p14:creationId xmlns:p14="http://schemas.microsoft.com/office/powerpoint/2010/main" val="277840882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BE"/>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3802C9F0-F73E-4B1A-805A-422AAC841FBF}" type="datetime1">
              <a:rPr lang="fr-BE" smtClean="0"/>
              <a:t>17/02/2025</a:t>
            </a:fld>
            <a:endParaRPr lang="fr-BE" dirty="0"/>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08DCF6BF-19FA-4A5F-BF39-DB960C4A6126}" type="slidenum">
              <a:rPr lang="fr-BE" smtClean="0"/>
              <a:t>‹N°›</a:t>
            </a:fld>
            <a:endParaRPr lang="fr-BE"/>
          </a:p>
        </p:txBody>
      </p:sp>
    </p:spTree>
    <p:extLst>
      <p:ext uri="{BB962C8B-B14F-4D97-AF65-F5344CB8AC3E}">
        <p14:creationId xmlns:p14="http://schemas.microsoft.com/office/powerpoint/2010/main" val="1866453682"/>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BE"/>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16DC2672-5B6F-42F7-8752-CC873C5A9E1B}" type="datetime1">
              <a:rPr lang="fr-BE" smtClean="0"/>
              <a:t>17/02/2025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‹N°›</a:t>
            </a:fld>
            <a:endParaRPr lang="fr-BE"/>
          </a:p>
        </p:txBody>
      </p:sp>
    </p:spTree>
    <p:extLst>
      <p:ext uri="{BB962C8B-B14F-4D97-AF65-F5344CB8AC3E}">
        <p14:creationId xmlns:p14="http://schemas.microsoft.com/office/powerpoint/2010/main" val="1918457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BE"/>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7FC2762C-A4E3-4A48-A1F1-470326FBA4AB}" type="datetime1">
              <a:rPr lang="fr-BE" smtClean="0"/>
              <a:t>17/02/2025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‹N°›</a:t>
            </a:fld>
            <a:endParaRPr lang="fr-BE"/>
          </a:p>
        </p:txBody>
      </p:sp>
    </p:spTree>
    <p:extLst>
      <p:ext uri="{BB962C8B-B14F-4D97-AF65-F5344CB8AC3E}">
        <p14:creationId xmlns:p14="http://schemas.microsoft.com/office/powerpoint/2010/main" val="924425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BE"/>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7EE93BB7-7E8D-42CC-BD51-E6E3E8E1658B}" type="datetime1">
              <a:rPr lang="fr-BE" smtClean="0"/>
              <a:pPr/>
              <a:t>17/02/2025</a:t>
            </a:fld>
            <a:endParaRPr lang="fr-BE" dirty="0"/>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fr-BE" dirty="0"/>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08DCF6BF-19FA-4A5F-BF39-DB960C4A6126}" type="slidenum">
              <a:rPr lang="fr-BE" smtClean="0"/>
              <a:pPr/>
              <a:t>‹N°›</a:t>
            </a:fld>
            <a:endParaRPr lang="fr-BE" dirty="0"/>
          </a:p>
        </p:txBody>
      </p:sp>
    </p:spTree>
    <p:extLst>
      <p:ext uri="{BB962C8B-B14F-4D97-AF65-F5344CB8AC3E}">
        <p14:creationId xmlns:p14="http://schemas.microsoft.com/office/powerpoint/2010/main" val="357964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ZoneTexte 4"/>
          <p:cNvSpPr txBox="1"/>
          <p:nvPr/>
        </p:nvSpPr>
        <p:spPr>
          <a:xfrm>
            <a:off x="993945" y="1235404"/>
            <a:ext cx="6894833"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Formules avancées Excel</a:t>
            </a:r>
            <a:endParaRPr lang="fr-BE" sz="4500" dirty="0">
              <a:solidFill>
                <a:srgbClr val="00205B"/>
              </a:solidFill>
              <a:latin typeface="Arial" panose="020B0604020202020204" pitchFamily="34" charset="0"/>
              <a:cs typeface="Arial" panose="020B0604020202020204" pitchFamily="34" charset="0"/>
            </a:endParaRP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1</a:t>
            </a:fld>
            <a:endParaRPr lang="fr-BE" dirty="0"/>
          </a:p>
        </p:txBody>
      </p:sp>
      <p:sp>
        <p:nvSpPr>
          <p:cNvPr id="3" name="Espace réservé du pied de page 2"/>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8449862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Objectifs pédagogiques</a:t>
            </a:r>
          </a:p>
        </p:txBody>
      </p:sp>
      <p:sp>
        <p:nvSpPr>
          <p:cNvPr id="5" name="ZoneTexte 4"/>
          <p:cNvSpPr txBox="1"/>
          <p:nvPr/>
        </p:nvSpPr>
        <p:spPr>
          <a:xfrm>
            <a:off x="1085386" y="1772816"/>
            <a:ext cx="7803112" cy="1477328"/>
          </a:xfrm>
          <a:prstGeom prst="rect">
            <a:avLst/>
          </a:prstGeom>
          <a:noFill/>
        </p:spPr>
        <p:txBody>
          <a:bodyPr wrap="square" rtlCol="0">
            <a:spAutoFit/>
          </a:bodyPr>
          <a:lstStyle/>
          <a:p>
            <a:pPr lvl="0"/>
            <a:r>
              <a:rPr lang="fr-BE" dirty="0" smtClean="0"/>
              <a:t>1 - </a:t>
            </a:r>
            <a:r>
              <a:rPr lang="fr-BE" dirty="0"/>
              <a:t>Améliorer l'efficacité dans </a:t>
            </a:r>
            <a:r>
              <a:rPr lang="fr-BE" dirty="0" smtClean="0"/>
              <a:t>Excel</a:t>
            </a:r>
          </a:p>
          <a:p>
            <a:pPr lvl="0"/>
            <a:endParaRPr lang="fr-BE" dirty="0"/>
          </a:p>
          <a:p>
            <a:pPr lvl="0"/>
            <a:r>
              <a:rPr lang="fr-BE" dirty="0" smtClean="0"/>
              <a:t>2 - </a:t>
            </a:r>
            <a:r>
              <a:rPr lang="fr-FR" dirty="0"/>
              <a:t>Utiliser des formules plus </a:t>
            </a:r>
            <a:r>
              <a:rPr lang="fr-FR" dirty="0" smtClean="0"/>
              <a:t>complexes</a:t>
            </a:r>
          </a:p>
          <a:p>
            <a:pPr lvl="0"/>
            <a:endParaRPr lang="fr-FR" dirty="0"/>
          </a:p>
          <a:p>
            <a:pPr lvl="0"/>
            <a:r>
              <a:rPr lang="fr-FR" dirty="0"/>
              <a:t>3 - Exploiter et analyser efficacement les données</a:t>
            </a:r>
            <a:endParaRPr lang="fr-BE" dirty="0" smtClean="0"/>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2</a:t>
            </a:fld>
            <a:endParaRPr lang="fr-BE"/>
          </a:p>
        </p:txBody>
      </p:sp>
      <p:sp>
        <p:nvSpPr>
          <p:cNvPr id="3" name="Espace réservé du pied de page 2"/>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9270442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ZoneTexte 4"/>
          <p:cNvSpPr txBox="1"/>
          <p:nvPr/>
        </p:nvSpPr>
        <p:spPr>
          <a:xfrm>
            <a:off x="993945" y="1235404"/>
            <a:ext cx="6894833" cy="784830"/>
          </a:xfrm>
          <a:prstGeom prst="rect">
            <a:avLst/>
          </a:prstGeom>
          <a:noFill/>
        </p:spPr>
        <p:txBody>
          <a:bodyPr wrap="square" rtlCol="0">
            <a:spAutoFit/>
          </a:bodyPr>
          <a:lstStyle/>
          <a:p>
            <a:r>
              <a:rPr lang="fr-FR" sz="4500" dirty="0" smtClean="0">
                <a:solidFill>
                  <a:srgbClr val="00205B"/>
                </a:solidFill>
                <a:latin typeface="Arial" panose="020B0604020202020204" pitchFamily="34" charset="0"/>
                <a:cs typeface="Arial" panose="020B0604020202020204" pitchFamily="34" charset="0"/>
              </a:rPr>
              <a:t>Formules avancées</a:t>
            </a:r>
            <a:endParaRPr lang="fr-BE" sz="4500" dirty="0">
              <a:solidFill>
                <a:srgbClr val="00205B"/>
              </a:solidFill>
              <a:latin typeface="Arial" panose="020B0604020202020204" pitchFamily="34" charset="0"/>
              <a:cs typeface="Arial" panose="020B0604020202020204" pitchFamily="34" charset="0"/>
            </a:endParaRP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3</a:t>
            </a:fld>
            <a:endParaRPr lang="fr-BE" dirty="0"/>
          </a:p>
        </p:txBody>
      </p:sp>
      <p:sp>
        <p:nvSpPr>
          <p:cNvPr id="3" name="Espace réservé du pied de page 2"/>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19866023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ZoneTexte 1"/>
          <p:cNvSpPr txBox="1"/>
          <p:nvPr/>
        </p:nvSpPr>
        <p:spPr>
          <a:xfrm>
            <a:off x="1085386" y="692696"/>
            <a:ext cx="7525214"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Adresses de cellules</a:t>
            </a:r>
          </a:p>
        </p:txBody>
      </p:sp>
      <p:sp>
        <p:nvSpPr>
          <p:cNvPr id="3" name="ZoneTexte 2"/>
          <p:cNvSpPr txBox="1"/>
          <p:nvPr/>
        </p:nvSpPr>
        <p:spPr>
          <a:xfrm>
            <a:off x="1085386" y="1772816"/>
            <a:ext cx="7803112" cy="4247317"/>
          </a:xfrm>
          <a:prstGeom prst="rect">
            <a:avLst/>
          </a:prstGeom>
          <a:noFill/>
        </p:spPr>
        <p:txBody>
          <a:bodyPr wrap="square" rtlCol="0">
            <a:spAutoFit/>
          </a:bodyPr>
          <a:lstStyle/>
          <a:p>
            <a:pPr lvl="0"/>
            <a:r>
              <a:rPr lang="fr-FR" dirty="0"/>
              <a:t>Adresses relatives vs </a:t>
            </a:r>
            <a:r>
              <a:rPr lang="fr-FR" dirty="0" smtClean="0"/>
              <a:t>absolues</a:t>
            </a:r>
          </a:p>
          <a:p>
            <a:pPr lvl="0"/>
            <a:endParaRPr lang="fr-FR" dirty="0" smtClean="0"/>
          </a:p>
          <a:p>
            <a:pPr lvl="0"/>
            <a:r>
              <a:rPr lang="fr-FR" dirty="0"/>
              <a:t>Une adresse relative est une référence de cellule qui change automatiquement lorsque vous la copiez ou la déplacez</a:t>
            </a:r>
            <a:r>
              <a:rPr lang="fr-FR" dirty="0" smtClean="0"/>
              <a:t>.</a:t>
            </a:r>
          </a:p>
          <a:p>
            <a:pPr lvl="0"/>
            <a:r>
              <a:rPr lang="fr-FR" dirty="0"/>
              <a:t>Une adresse absolue reste fixe, même quand vous la copiez ou la déplacez.</a:t>
            </a:r>
            <a:endParaRPr lang="fr-FR" dirty="0" smtClean="0"/>
          </a:p>
          <a:p>
            <a:pPr lvl="0"/>
            <a:endParaRPr lang="fr-FR" dirty="0" smtClean="0"/>
          </a:p>
          <a:p>
            <a:pPr lvl="0"/>
            <a:r>
              <a:rPr lang="fr-FR" dirty="0" smtClean="0"/>
              <a:t>Exemple : une table </a:t>
            </a:r>
            <a:r>
              <a:rPr lang="fr-FR" dirty="0"/>
              <a:t>de multiplication </a:t>
            </a:r>
            <a:r>
              <a:rPr lang="fr-FR" dirty="0" smtClean="0"/>
              <a:t>dynamique</a:t>
            </a:r>
          </a:p>
          <a:p>
            <a:pPr lvl="0"/>
            <a:endParaRPr lang="fr-FR" dirty="0" smtClean="0"/>
          </a:p>
          <a:p>
            <a:pPr lvl="0"/>
            <a:r>
              <a:rPr lang="fr-FR" dirty="0" smtClean="0"/>
              <a:t>Utilisation </a:t>
            </a:r>
            <a:r>
              <a:rPr lang="fr-FR" dirty="0"/>
              <a:t>du symbole $ pour figer les </a:t>
            </a:r>
            <a:r>
              <a:rPr lang="fr-FR" dirty="0" smtClean="0"/>
              <a:t>références</a:t>
            </a:r>
          </a:p>
          <a:p>
            <a:pPr lvl="0"/>
            <a:endParaRPr lang="fr-FR" dirty="0"/>
          </a:p>
          <a:p>
            <a:r>
              <a:rPr lang="fr-FR" dirty="0"/>
              <a:t>Syntaxes possibles : </a:t>
            </a:r>
            <a:endParaRPr lang="fr-FR" dirty="0" smtClean="0"/>
          </a:p>
          <a:p>
            <a:r>
              <a:rPr lang="fr-FR" dirty="0" smtClean="0"/>
              <a:t>$</a:t>
            </a:r>
            <a:r>
              <a:rPr lang="fr-FR" dirty="0"/>
              <a:t>A$1 : Référence complètement fixe (ni ligne ni colonne ne changent)</a:t>
            </a:r>
          </a:p>
          <a:p>
            <a:r>
              <a:rPr lang="fr-FR" dirty="0"/>
              <a:t>$A1 : Colonne fixe, ligne variable</a:t>
            </a:r>
          </a:p>
          <a:p>
            <a:r>
              <a:rPr lang="fr-FR" dirty="0"/>
              <a:t>A$1 : Ligne fixe, colonne variable</a:t>
            </a:r>
          </a:p>
          <a:p>
            <a:pPr lvl="0"/>
            <a:endParaRPr lang="fr-BE" dirty="0"/>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4</a:t>
            </a:fld>
            <a:endParaRPr lang="fr-BE" dirty="0"/>
          </a:p>
        </p:txBody>
      </p:sp>
      <p:sp>
        <p:nvSpPr>
          <p:cNvPr id="7" name="Espace réservé du pied de page 6"/>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7947366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a:t>
            </a:r>
            <a:r>
              <a:rPr lang="fr-FR" sz="4500" dirty="0" smtClean="0">
                <a:solidFill>
                  <a:srgbClr val="00205B"/>
                </a:solidFill>
                <a:latin typeface="Arial" panose="020B0604020202020204" pitchFamily="34" charset="0"/>
                <a:cs typeface="Arial" panose="020B0604020202020204" pitchFamily="34" charset="0"/>
              </a:rPr>
              <a:t>pratique</a:t>
            </a:r>
            <a:endParaRPr lang="fr-FR" sz="4500" dirty="0">
              <a:solidFill>
                <a:srgbClr val="00205B"/>
              </a:solidFill>
              <a:latin typeface="Arial" panose="020B0604020202020204" pitchFamily="34" charset="0"/>
              <a:cs typeface="Arial" panose="020B0604020202020204" pitchFamily="34" charset="0"/>
            </a:endParaRPr>
          </a:p>
        </p:txBody>
      </p:sp>
      <p:sp>
        <p:nvSpPr>
          <p:cNvPr id="5" name="ZoneTexte 4"/>
          <p:cNvSpPr txBox="1"/>
          <p:nvPr/>
        </p:nvSpPr>
        <p:spPr>
          <a:xfrm>
            <a:off x="1085386" y="1772816"/>
            <a:ext cx="7803112" cy="4247317"/>
          </a:xfrm>
          <a:prstGeom prst="rect">
            <a:avLst/>
          </a:prstGeom>
          <a:noFill/>
        </p:spPr>
        <p:txBody>
          <a:bodyPr wrap="square" rtlCol="0">
            <a:spAutoFit/>
          </a:bodyPr>
          <a:lstStyle/>
          <a:p>
            <a:r>
              <a:rPr lang="fr-FR" dirty="0" smtClean="0"/>
              <a:t>Exercice </a:t>
            </a:r>
            <a:r>
              <a:rPr lang="fr-FR" dirty="0"/>
              <a:t>1 : Maîtrise des Références de Cellules</a:t>
            </a:r>
          </a:p>
          <a:p>
            <a:r>
              <a:rPr lang="fr-FR" dirty="0" smtClean="0"/>
              <a:t>Objectif</a:t>
            </a:r>
          </a:p>
          <a:p>
            <a:endParaRPr lang="fr-FR" dirty="0"/>
          </a:p>
          <a:p>
            <a:r>
              <a:rPr lang="fr-FR" dirty="0"/>
              <a:t>Créer une table de multiplication dynamique utilisant des références absolues et relatives</a:t>
            </a:r>
            <a:r>
              <a:rPr lang="fr-FR" dirty="0" smtClean="0"/>
              <a:t>.</a:t>
            </a:r>
          </a:p>
          <a:p>
            <a:endParaRPr lang="fr-FR" dirty="0"/>
          </a:p>
          <a:p>
            <a:r>
              <a:rPr lang="fr-FR" dirty="0"/>
              <a:t>Consignes</a:t>
            </a:r>
          </a:p>
          <a:p>
            <a:r>
              <a:rPr lang="fr-FR" dirty="0"/>
              <a:t>1.	Créez une grille de multiplication de 1 à 10</a:t>
            </a:r>
          </a:p>
          <a:p>
            <a:r>
              <a:rPr lang="fr-FR" dirty="0"/>
              <a:t>2.	Utilisez des références absolues ($) pour figer certaines cellules</a:t>
            </a:r>
          </a:p>
          <a:p>
            <a:pPr marL="342900" indent="-342900">
              <a:buAutoNum type="arabicPeriod" startAt="3"/>
            </a:pPr>
            <a:r>
              <a:rPr lang="fr-FR" dirty="0" smtClean="0"/>
              <a:t>           Permettre </a:t>
            </a:r>
            <a:r>
              <a:rPr lang="fr-FR" dirty="0"/>
              <a:t>un redimensionnement facile de la </a:t>
            </a:r>
            <a:r>
              <a:rPr lang="fr-FR" dirty="0" smtClean="0"/>
              <a:t>table</a:t>
            </a:r>
          </a:p>
          <a:p>
            <a:pPr marL="342900" indent="-342900">
              <a:buAutoNum type="arabicPeriod" startAt="3"/>
            </a:pPr>
            <a:endParaRPr lang="fr-FR" dirty="0"/>
          </a:p>
          <a:p>
            <a:r>
              <a:rPr lang="fr-FR" dirty="0"/>
              <a:t>Critères de Réussite</a:t>
            </a:r>
          </a:p>
          <a:p>
            <a:r>
              <a:rPr lang="fr-FR" dirty="0"/>
              <a:t>•	Table complète et précise</a:t>
            </a:r>
          </a:p>
          <a:p>
            <a:r>
              <a:rPr lang="fr-FR" dirty="0"/>
              <a:t>•	Utilisation correcte des $ dans les formules</a:t>
            </a:r>
          </a:p>
          <a:p>
            <a:r>
              <a:rPr lang="fr-FR" dirty="0"/>
              <a:t>•	Possibilité de modifier facilement la taille de la </a:t>
            </a:r>
            <a:r>
              <a:rPr lang="fr-FR" dirty="0" smtClean="0"/>
              <a:t>table</a:t>
            </a:r>
            <a:endParaRPr lang="fr-FR" dirty="0"/>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5</a:t>
            </a:fld>
            <a:endParaRPr lang="fr-BE"/>
          </a:p>
        </p:txBody>
      </p:sp>
      <p:sp>
        <p:nvSpPr>
          <p:cNvPr id="3" name="Espace réservé du pied de page 2"/>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15769287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ZoneTexte 1"/>
          <p:cNvSpPr txBox="1"/>
          <p:nvPr/>
        </p:nvSpPr>
        <p:spPr>
          <a:xfrm>
            <a:off x="1085386" y="692696"/>
            <a:ext cx="7525214"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Fonctions Logiques</a:t>
            </a:r>
          </a:p>
        </p:txBody>
      </p:sp>
      <p:sp>
        <p:nvSpPr>
          <p:cNvPr id="3" name="ZoneTexte 2"/>
          <p:cNvSpPr txBox="1"/>
          <p:nvPr/>
        </p:nvSpPr>
        <p:spPr>
          <a:xfrm>
            <a:off x="1085386" y="1772816"/>
            <a:ext cx="7803112" cy="2031325"/>
          </a:xfrm>
          <a:prstGeom prst="rect">
            <a:avLst/>
          </a:prstGeom>
          <a:noFill/>
        </p:spPr>
        <p:txBody>
          <a:bodyPr wrap="square" rtlCol="0">
            <a:spAutoFit/>
          </a:bodyPr>
          <a:lstStyle/>
          <a:p>
            <a:pPr lvl="0"/>
            <a:r>
              <a:rPr lang="fr-FR" dirty="0"/>
              <a:t>Fonction SI : test </a:t>
            </a:r>
            <a:r>
              <a:rPr lang="fr-FR" dirty="0" smtClean="0"/>
              <a:t>conditionnel</a:t>
            </a:r>
          </a:p>
          <a:p>
            <a:pPr lvl="0"/>
            <a:endParaRPr lang="fr-FR" dirty="0"/>
          </a:p>
          <a:p>
            <a:pPr lvl="0"/>
            <a:r>
              <a:rPr lang="fr-FR" dirty="0" smtClean="0"/>
              <a:t>Fonction </a:t>
            </a:r>
            <a:r>
              <a:rPr lang="fr-FR" dirty="0"/>
              <a:t>ET : combinaison de </a:t>
            </a:r>
            <a:r>
              <a:rPr lang="fr-FR" dirty="0" smtClean="0"/>
              <a:t>conditions</a:t>
            </a:r>
          </a:p>
          <a:p>
            <a:pPr lvl="0"/>
            <a:endParaRPr lang="fr-FR" dirty="0"/>
          </a:p>
          <a:p>
            <a:pPr lvl="0"/>
            <a:r>
              <a:rPr lang="fr-FR" dirty="0" smtClean="0"/>
              <a:t>Exemples </a:t>
            </a:r>
            <a:r>
              <a:rPr lang="fr-FR" dirty="0"/>
              <a:t>pratiques de conditions </a:t>
            </a:r>
            <a:r>
              <a:rPr lang="fr-FR" dirty="0" smtClean="0"/>
              <a:t>multiples</a:t>
            </a:r>
          </a:p>
          <a:p>
            <a:pPr lvl="0"/>
            <a:endParaRPr lang="fr-FR" dirty="0"/>
          </a:p>
          <a:p>
            <a:pPr lvl="0"/>
            <a:endParaRPr lang="fr-FR" dirty="0" smtClean="0"/>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6</a:t>
            </a:fld>
            <a:endParaRPr lang="fr-BE" dirty="0"/>
          </a:p>
        </p:txBody>
      </p:sp>
      <p:sp>
        <p:nvSpPr>
          <p:cNvPr id="7" name="Espace réservé du pied de page 6"/>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10683995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ZoneTexte 1"/>
          <p:cNvSpPr txBox="1"/>
          <p:nvPr/>
        </p:nvSpPr>
        <p:spPr>
          <a:xfrm>
            <a:off x="1085386" y="692696"/>
            <a:ext cx="7525214"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Fonctions Logiques</a:t>
            </a:r>
          </a:p>
        </p:txBody>
      </p:sp>
      <p:sp>
        <p:nvSpPr>
          <p:cNvPr id="3" name="ZoneTexte 2"/>
          <p:cNvSpPr txBox="1"/>
          <p:nvPr/>
        </p:nvSpPr>
        <p:spPr>
          <a:xfrm>
            <a:off x="1085386" y="1772816"/>
            <a:ext cx="7803112" cy="4801314"/>
          </a:xfrm>
          <a:prstGeom prst="rect">
            <a:avLst/>
          </a:prstGeom>
          <a:noFill/>
        </p:spPr>
        <p:txBody>
          <a:bodyPr wrap="square" rtlCol="0">
            <a:spAutoFit/>
          </a:bodyPr>
          <a:lstStyle/>
          <a:p>
            <a:pPr lvl="0"/>
            <a:r>
              <a:rPr lang="en-US" dirty="0"/>
              <a:t>=</a:t>
            </a:r>
            <a:r>
              <a:rPr lang="en-US" dirty="0">
                <a:solidFill>
                  <a:srgbClr val="00B050"/>
                </a:solidFill>
              </a:rPr>
              <a:t>SI</a:t>
            </a:r>
            <a:r>
              <a:rPr lang="en-US" dirty="0"/>
              <a:t>(</a:t>
            </a:r>
            <a:r>
              <a:rPr lang="en-US" dirty="0">
                <a:solidFill>
                  <a:srgbClr val="00B050"/>
                </a:solidFill>
              </a:rPr>
              <a:t>C2</a:t>
            </a:r>
            <a:r>
              <a:rPr lang="en-US" dirty="0"/>
              <a:t>=”</a:t>
            </a:r>
            <a:r>
              <a:rPr lang="en-US" dirty="0">
                <a:solidFill>
                  <a:srgbClr val="00B050"/>
                </a:solidFill>
              </a:rPr>
              <a:t>Oui</a:t>
            </a:r>
            <a:r>
              <a:rPr lang="en-US" dirty="0"/>
              <a:t>”,</a:t>
            </a:r>
            <a:r>
              <a:rPr lang="en-US" dirty="0">
                <a:solidFill>
                  <a:srgbClr val="00B050"/>
                </a:solidFill>
              </a:rPr>
              <a:t>1</a:t>
            </a:r>
            <a:r>
              <a:rPr lang="en-US" dirty="0"/>
              <a:t>,</a:t>
            </a:r>
            <a:r>
              <a:rPr lang="en-US" dirty="0">
                <a:solidFill>
                  <a:srgbClr val="FF0000"/>
                </a:solidFill>
              </a:rPr>
              <a:t>2</a:t>
            </a:r>
            <a:r>
              <a:rPr lang="en-US" dirty="0"/>
              <a:t>) se </a:t>
            </a:r>
            <a:r>
              <a:rPr lang="en-US" dirty="0" err="1"/>
              <a:t>traduit</a:t>
            </a:r>
            <a:r>
              <a:rPr lang="en-US" dirty="0"/>
              <a:t> par SI(C2 = </a:t>
            </a:r>
            <a:r>
              <a:rPr lang="en-US" dirty="0" err="1"/>
              <a:t>Oui</a:t>
            </a:r>
            <a:r>
              <a:rPr lang="en-US" dirty="0"/>
              <a:t>, </a:t>
            </a:r>
            <a:r>
              <a:rPr lang="en-US" dirty="0" err="1"/>
              <a:t>alors</a:t>
            </a:r>
            <a:r>
              <a:rPr lang="en-US" dirty="0"/>
              <a:t> </a:t>
            </a:r>
            <a:r>
              <a:rPr lang="en-US" dirty="0" err="1"/>
              <a:t>affiche</a:t>
            </a:r>
            <a:r>
              <a:rPr lang="en-US" dirty="0"/>
              <a:t> 1, </a:t>
            </a:r>
            <a:r>
              <a:rPr lang="en-US" dirty="0" err="1"/>
              <a:t>sinon</a:t>
            </a:r>
            <a:r>
              <a:rPr lang="en-US" dirty="0"/>
              <a:t> </a:t>
            </a:r>
            <a:r>
              <a:rPr lang="en-US" dirty="0" err="1"/>
              <a:t>affiche</a:t>
            </a:r>
            <a:r>
              <a:rPr lang="en-US" dirty="0"/>
              <a:t> 2)</a:t>
            </a:r>
          </a:p>
          <a:p>
            <a:pPr lvl="0"/>
            <a:endParaRPr lang="en-US" dirty="0"/>
          </a:p>
          <a:p>
            <a:pPr lvl="0"/>
            <a:r>
              <a:rPr lang="en-US" dirty="0"/>
              <a:t>=</a:t>
            </a:r>
            <a:r>
              <a:rPr lang="en-US" dirty="0">
                <a:solidFill>
                  <a:schemeClr val="accent1"/>
                </a:solidFill>
              </a:rPr>
              <a:t>SI</a:t>
            </a:r>
            <a:r>
              <a:rPr lang="en-US" dirty="0"/>
              <a:t>(</a:t>
            </a:r>
            <a:r>
              <a:rPr lang="en-US" dirty="0">
                <a:solidFill>
                  <a:schemeClr val="accent1"/>
                </a:solidFill>
              </a:rPr>
              <a:t>ET</a:t>
            </a:r>
            <a:r>
              <a:rPr lang="en-US" dirty="0"/>
              <a:t>(</a:t>
            </a:r>
            <a:r>
              <a:rPr lang="en-US" dirty="0">
                <a:solidFill>
                  <a:schemeClr val="accent1"/>
                </a:solidFill>
              </a:rPr>
              <a:t>B2&gt;50; C2&gt;100</a:t>
            </a:r>
            <a:r>
              <a:rPr lang="en-US" dirty="0"/>
              <a:t>); "</a:t>
            </a:r>
            <a:r>
              <a:rPr lang="en-US" dirty="0" err="1">
                <a:solidFill>
                  <a:schemeClr val="accent1"/>
                </a:solidFill>
              </a:rPr>
              <a:t>Vente</a:t>
            </a:r>
            <a:r>
              <a:rPr lang="en-US" dirty="0">
                <a:solidFill>
                  <a:schemeClr val="accent1"/>
                </a:solidFill>
              </a:rPr>
              <a:t> </a:t>
            </a:r>
            <a:r>
              <a:rPr lang="en-US" dirty="0" err="1">
                <a:solidFill>
                  <a:schemeClr val="accent1"/>
                </a:solidFill>
              </a:rPr>
              <a:t>Importante</a:t>
            </a:r>
            <a:r>
              <a:rPr lang="en-US" dirty="0"/>
              <a:t>"; </a:t>
            </a:r>
            <a:r>
              <a:rPr lang="en-US" dirty="0">
                <a:solidFill>
                  <a:srgbClr val="FFC000"/>
                </a:solidFill>
              </a:rPr>
              <a:t>SI</a:t>
            </a:r>
            <a:r>
              <a:rPr lang="en-US" dirty="0"/>
              <a:t>(</a:t>
            </a:r>
            <a:r>
              <a:rPr lang="en-US" dirty="0">
                <a:solidFill>
                  <a:srgbClr val="FFC000"/>
                </a:solidFill>
              </a:rPr>
              <a:t>B2&gt;20</a:t>
            </a:r>
            <a:r>
              <a:rPr lang="en-US" dirty="0"/>
              <a:t>; "</a:t>
            </a:r>
            <a:r>
              <a:rPr lang="en-US" dirty="0" err="1">
                <a:solidFill>
                  <a:srgbClr val="FFC000"/>
                </a:solidFill>
              </a:rPr>
              <a:t>Vente</a:t>
            </a:r>
            <a:r>
              <a:rPr lang="en-US" dirty="0">
                <a:solidFill>
                  <a:srgbClr val="FFC000"/>
                </a:solidFill>
              </a:rPr>
              <a:t> </a:t>
            </a:r>
            <a:r>
              <a:rPr lang="en-US" dirty="0" err="1">
                <a:solidFill>
                  <a:srgbClr val="FFC000"/>
                </a:solidFill>
              </a:rPr>
              <a:t>Moyenne</a:t>
            </a:r>
            <a:r>
              <a:rPr lang="en-US" dirty="0"/>
              <a:t>"; "</a:t>
            </a:r>
            <a:r>
              <a:rPr lang="en-US" dirty="0">
                <a:solidFill>
                  <a:srgbClr val="C00000"/>
                </a:solidFill>
              </a:rPr>
              <a:t>Petite </a:t>
            </a:r>
            <a:r>
              <a:rPr lang="en-US" dirty="0" err="1">
                <a:solidFill>
                  <a:srgbClr val="C00000"/>
                </a:solidFill>
              </a:rPr>
              <a:t>Vente</a:t>
            </a:r>
            <a:r>
              <a:rPr lang="en-US" dirty="0"/>
              <a:t>"))</a:t>
            </a:r>
          </a:p>
          <a:p>
            <a:pPr lvl="0"/>
            <a:endParaRPr lang="en-US" dirty="0"/>
          </a:p>
          <a:p>
            <a:pPr lvl="0"/>
            <a:r>
              <a:rPr lang="fr-FR" dirty="0"/>
              <a:t>Elle permet d'afficher "Vente Importante" si la valeur de B2 est supérieure à 50 </a:t>
            </a:r>
            <a:r>
              <a:rPr lang="fr-FR" b="1" dirty="0"/>
              <a:t>ET</a:t>
            </a:r>
            <a:r>
              <a:rPr lang="fr-FR" dirty="0"/>
              <a:t> que la valeur de C2 est supérieure à 100. Sinon, elle affiche "Vente Moyenne" si la valeur de B2 est supérieure à 20. Si aucune de ces conditions n'est remplie, elle affiche "Petite Vente</a:t>
            </a:r>
            <a:r>
              <a:rPr lang="fr-FR" dirty="0" smtClean="0"/>
              <a:t>".</a:t>
            </a:r>
          </a:p>
          <a:p>
            <a:pPr lvl="0"/>
            <a:endParaRPr lang="fr-FR" dirty="0"/>
          </a:p>
          <a:p>
            <a:pPr lvl="0"/>
            <a:r>
              <a:rPr lang="it-IT" dirty="0"/>
              <a:t>=</a:t>
            </a:r>
            <a:r>
              <a:rPr lang="it-IT" dirty="0">
                <a:solidFill>
                  <a:schemeClr val="accent1"/>
                </a:solidFill>
              </a:rPr>
              <a:t>SI</a:t>
            </a:r>
            <a:r>
              <a:rPr lang="it-IT" dirty="0"/>
              <a:t>(</a:t>
            </a:r>
            <a:r>
              <a:rPr lang="it-IT" dirty="0">
                <a:solidFill>
                  <a:schemeClr val="accent1"/>
                </a:solidFill>
              </a:rPr>
              <a:t>ET</a:t>
            </a:r>
            <a:r>
              <a:rPr lang="it-IT" dirty="0"/>
              <a:t>(</a:t>
            </a:r>
            <a:r>
              <a:rPr lang="it-IT" dirty="0">
                <a:solidFill>
                  <a:schemeClr val="accent1"/>
                </a:solidFill>
              </a:rPr>
              <a:t>D2=</a:t>
            </a:r>
            <a:r>
              <a:rPr lang="it-IT" dirty="0"/>
              <a:t>"</a:t>
            </a:r>
            <a:r>
              <a:rPr lang="it-IT" dirty="0">
                <a:solidFill>
                  <a:schemeClr val="accent1"/>
                </a:solidFill>
              </a:rPr>
              <a:t>Liège</a:t>
            </a:r>
            <a:r>
              <a:rPr lang="it-IT" dirty="0"/>
              <a:t>"; </a:t>
            </a:r>
            <a:r>
              <a:rPr lang="it-IT" dirty="0">
                <a:solidFill>
                  <a:schemeClr val="accent1"/>
                </a:solidFill>
              </a:rPr>
              <a:t>E2=</a:t>
            </a:r>
            <a:r>
              <a:rPr lang="it-IT" dirty="0"/>
              <a:t>"</a:t>
            </a:r>
            <a:r>
              <a:rPr lang="it-IT" dirty="0">
                <a:solidFill>
                  <a:schemeClr val="accent1"/>
                </a:solidFill>
              </a:rPr>
              <a:t>Vente Importante</a:t>
            </a:r>
            <a:r>
              <a:rPr lang="it-IT" dirty="0"/>
              <a:t>"); </a:t>
            </a:r>
            <a:r>
              <a:rPr lang="it-IT" dirty="0">
                <a:solidFill>
                  <a:schemeClr val="accent1"/>
                </a:solidFill>
              </a:rPr>
              <a:t>500</a:t>
            </a:r>
            <a:r>
              <a:rPr lang="it-IT" dirty="0"/>
              <a:t>; </a:t>
            </a:r>
            <a:r>
              <a:rPr lang="it-IT" dirty="0">
                <a:solidFill>
                  <a:srgbClr val="FFC000"/>
                </a:solidFill>
              </a:rPr>
              <a:t>SI</a:t>
            </a:r>
            <a:r>
              <a:rPr lang="it-IT" dirty="0"/>
              <a:t>(</a:t>
            </a:r>
            <a:r>
              <a:rPr lang="it-IT" dirty="0">
                <a:solidFill>
                  <a:srgbClr val="FFC000"/>
                </a:solidFill>
              </a:rPr>
              <a:t>E2=</a:t>
            </a:r>
            <a:r>
              <a:rPr lang="it-IT" dirty="0"/>
              <a:t>"</a:t>
            </a:r>
            <a:r>
              <a:rPr lang="it-IT" dirty="0">
                <a:solidFill>
                  <a:srgbClr val="FFC000"/>
                </a:solidFill>
              </a:rPr>
              <a:t>Vente Importante</a:t>
            </a:r>
            <a:r>
              <a:rPr lang="it-IT" dirty="0"/>
              <a:t>"; </a:t>
            </a:r>
            <a:r>
              <a:rPr lang="it-IT" dirty="0">
                <a:solidFill>
                  <a:srgbClr val="FFC000"/>
                </a:solidFill>
              </a:rPr>
              <a:t>300</a:t>
            </a:r>
            <a:r>
              <a:rPr lang="it-IT" dirty="0"/>
              <a:t>; </a:t>
            </a:r>
            <a:r>
              <a:rPr lang="it-IT" dirty="0">
                <a:solidFill>
                  <a:srgbClr val="C00000"/>
                </a:solidFill>
              </a:rPr>
              <a:t>0</a:t>
            </a:r>
            <a:r>
              <a:rPr lang="it-IT" dirty="0" smtClean="0"/>
              <a:t>))</a:t>
            </a:r>
            <a:endParaRPr lang="fr-FR" dirty="0" smtClean="0"/>
          </a:p>
          <a:p>
            <a:pPr lvl="0"/>
            <a:endParaRPr lang="fr-FR" dirty="0"/>
          </a:p>
          <a:p>
            <a:pPr lvl="0"/>
            <a:r>
              <a:rPr lang="fr-FR" dirty="0" smtClean="0"/>
              <a:t>Si </a:t>
            </a:r>
            <a:r>
              <a:rPr lang="fr-FR" dirty="0"/>
              <a:t>la valeur en D2 est "Liège" et la valeur en E2 est "Vente Importante", elle renvoie 500.Si seule la valeur en E2 est "Vente Importante" (et pas D2), elle renvoie 300.Si aucune de ces conditions n'est remplie, elle renvoie 0.</a:t>
            </a:r>
            <a:endParaRPr lang="it-IT" dirty="0"/>
          </a:p>
          <a:p>
            <a:pPr lvl="0"/>
            <a:endParaRPr lang="fr-BE" dirty="0"/>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7</a:t>
            </a:fld>
            <a:endParaRPr lang="fr-BE" dirty="0"/>
          </a:p>
        </p:txBody>
      </p:sp>
      <p:sp>
        <p:nvSpPr>
          <p:cNvPr id="7" name="Espace réservé du pied de page 6"/>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35568990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a:t>
            </a:r>
            <a:r>
              <a:rPr lang="fr-FR" sz="4500" dirty="0" smtClean="0">
                <a:solidFill>
                  <a:srgbClr val="00205B"/>
                </a:solidFill>
                <a:latin typeface="Arial" panose="020B0604020202020204" pitchFamily="34" charset="0"/>
                <a:cs typeface="Arial" panose="020B0604020202020204" pitchFamily="34" charset="0"/>
              </a:rPr>
              <a:t>pratique</a:t>
            </a:r>
            <a:endParaRPr lang="fr-FR" sz="4500" dirty="0">
              <a:solidFill>
                <a:srgbClr val="00205B"/>
              </a:solidFill>
              <a:latin typeface="Arial" panose="020B0604020202020204" pitchFamily="34" charset="0"/>
              <a:cs typeface="Arial" panose="020B0604020202020204" pitchFamily="34" charset="0"/>
            </a:endParaRPr>
          </a:p>
        </p:txBody>
      </p:sp>
      <p:sp>
        <p:nvSpPr>
          <p:cNvPr id="5" name="ZoneTexte 4"/>
          <p:cNvSpPr txBox="1"/>
          <p:nvPr/>
        </p:nvSpPr>
        <p:spPr>
          <a:xfrm>
            <a:off x="1085386" y="1772816"/>
            <a:ext cx="7803112" cy="3139321"/>
          </a:xfrm>
          <a:prstGeom prst="rect">
            <a:avLst/>
          </a:prstGeom>
          <a:noFill/>
        </p:spPr>
        <p:txBody>
          <a:bodyPr wrap="square" rtlCol="0">
            <a:spAutoFit/>
          </a:bodyPr>
          <a:lstStyle/>
          <a:p>
            <a:r>
              <a:rPr lang="fr-FR" smtClean="0"/>
              <a:t>Exercice 2 : Fonctions Logiques Avancées</a:t>
            </a:r>
          </a:p>
          <a:p>
            <a:r>
              <a:rPr lang="fr-FR" smtClean="0"/>
              <a:t>Préparation des Données</a:t>
            </a:r>
          </a:p>
          <a:p>
            <a:r>
              <a:rPr lang="fr-FR" smtClean="0"/>
              <a:t>1.	Créez une nouvelle feuille</a:t>
            </a:r>
          </a:p>
          <a:p>
            <a:r>
              <a:rPr lang="fr-FR" smtClean="0"/>
              <a:t>2.	Entrez les en-têtes : </a:t>
            </a:r>
          </a:p>
          <a:p>
            <a:r>
              <a:rPr lang="fr-FR" smtClean="0"/>
              <a:t>o	A1: Produit</a:t>
            </a:r>
          </a:p>
          <a:p>
            <a:r>
              <a:rPr lang="fr-FR" smtClean="0"/>
              <a:t>o	B1: Quantité</a:t>
            </a:r>
          </a:p>
          <a:p>
            <a:r>
              <a:rPr lang="fr-FR" smtClean="0"/>
              <a:t>o	C1: Prix Unitaire</a:t>
            </a:r>
          </a:p>
          <a:p>
            <a:r>
              <a:rPr lang="fr-FR" smtClean="0"/>
              <a:t>o	D1: Région</a:t>
            </a:r>
          </a:p>
          <a:p>
            <a:r>
              <a:rPr lang="fr-FR" smtClean="0"/>
              <a:t>o	E1: Statut Vente</a:t>
            </a:r>
          </a:p>
          <a:p>
            <a:r>
              <a:rPr lang="fr-FR" smtClean="0"/>
              <a:t>o	F1: Bonus Commercial</a:t>
            </a:r>
          </a:p>
          <a:p>
            <a:endParaRPr lang="fr-FR" dirty="0"/>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8</a:t>
            </a:fld>
            <a:endParaRPr lang="fr-BE"/>
          </a:p>
        </p:txBody>
      </p:sp>
      <p:sp>
        <p:nvSpPr>
          <p:cNvPr id="3" name="Espace réservé du pied de page 2"/>
          <p:cNvSpPr>
            <a:spLocks noGrp="1"/>
          </p:cNvSpPr>
          <p:nvPr>
            <p:ph type="ftr" sz="quarter" idx="11"/>
          </p:nvPr>
        </p:nvSpPr>
        <p:spPr/>
        <p:txBody>
          <a:bodyPr/>
          <a:lstStyle/>
          <a:p>
            <a:r>
              <a:rPr lang="fr-BE" dirty="0"/>
              <a:t>Niveau Intermédiaire</a:t>
            </a:r>
          </a:p>
        </p:txBody>
      </p:sp>
      <p:sp>
        <p:nvSpPr>
          <p:cNvPr id="7" name="Rectangle 6"/>
          <p:cNvSpPr/>
          <p:nvPr/>
        </p:nvSpPr>
        <p:spPr>
          <a:xfrm>
            <a:off x="1085385" y="4745762"/>
            <a:ext cx="6096000" cy="646331"/>
          </a:xfrm>
          <a:prstGeom prst="rect">
            <a:avLst/>
          </a:prstGeom>
        </p:spPr>
        <p:txBody>
          <a:bodyPr>
            <a:spAutoFit/>
          </a:bodyPr>
          <a:lstStyle/>
          <a:p>
            <a:r>
              <a:rPr lang="fr-FR" dirty="0"/>
              <a:t>Étape 3 : Remplissage des Données</a:t>
            </a:r>
          </a:p>
          <a:p>
            <a:r>
              <a:rPr lang="fr-FR" dirty="0"/>
              <a:t>1.	Ajoutez plusieurs lignes de données </a:t>
            </a:r>
            <a:r>
              <a:rPr lang="fr-FR" dirty="0" smtClean="0"/>
              <a:t>variées -&gt;</a:t>
            </a:r>
            <a:endParaRPr lang="fr-FR" dirty="0"/>
          </a:p>
        </p:txBody>
      </p:sp>
      <p:graphicFrame>
        <p:nvGraphicFramePr>
          <p:cNvPr id="9" name="Tableau 8"/>
          <p:cNvGraphicFramePr>
            <a:graphicFrameLocks noGrp="1"/>
          </p:cNvGraphicFramePr>
          <p:nvPr>
            <p:extLst>
              <p:ext uri="{D42A27DB-BD31-4B8C-83A1-F6EECF244321}">
                <p14:modId xmlns:p14="http://schemas.microsoft.com/office/powerpoint/2010/main" val="4098081239"/>
              </p:ext>
            </p:extLst>
          </p:nvPr>
        </p:nvGraphicFramePr>
        <p:xfrm>
          <a:off x="6529301" y="4826427"/>
          <a:ext cx="2857500" cy="762000"/>
        </p:xfrm>
        <a:graphic>
          <a:graphicData uri="http://schemas.openxmlformats.org/drawingml/2006/table">
            <a:tbl>
              <a:tblPr>
                <a:tableStyleId>{5C22544A-7EE6-4342-B048-85BDC9FD1C3A}</a:tableStyleId>
              </a:tblPr>
              <a:tblGrid>
                <a:gridCol w="713582">
                  <a:extLst>
                    <a:ext uri="{9D8B030D-6E8A-4147-A177-3AD203B41FA5}">
                      <a16:colId xmlns:a16="http://schemas.microsoft.com/office/drawing/2014/main" val="1471106292"/>
                    </a:ext>
                  </a:extLst>
                </a:gridCol>
                <a:gridCol w="596238">
                  <a:extLst>
                    <a:ext uri="{9D8B030D-6E8A-4147-A177-3AD203B41FA5}">
                      <a16:colId xmlns:a16="http://schemas.microsoft.com/office/drawing/2014/main" val="2091625192"/>
                    </a:ext>
                  </a:extLst>
                </a:gridCol>
                <a:gridCol w="799212">
                  <a:extLst>
                    <a:ext uri="{9D8B030D-6E8A-4147-A177-3AD203B41FA5}">
                      <a16:colId xmlns:a16="http://schemas.microsoft.com/office/drawing/2014/main" val="567020172"/>
                    </a:ext>
                  </a:extLst>
                </a:gridCol>
                <a:gridCol w="748468">
                  <a:extLst>
                    <a:ext uri="{9D8B030D-6E8A-4147-A177-3AD203B41FA5}">
                      <a16:colId xmlns:a16="http://schemas.microsoft.com/office/drawing/2014/main" val="1452076448"/>
                    </a:ext>
                  </a:extLst>
                </a:gridCol>
              </a:tblGrid>
              <a:tr h="190500">
                <a:tc>
                  <a:txBody>
                    <a:bodyPr/>
                    <a:lstStyle/>
                    <a:p>
                      <a:pPr algn="l" fontAlgn="b"/>
                      <a:r>
                        <a:rPr lang="fr-BE" sz="1100" u="none" strike="noStrike">
                          <a:effectLst/>
                        </a:rPr>
                        <a:t>Ecran</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r" fontAlgn="b"/>
                      <a:r>
                        <a:rPr lang="fr-BE" sz="1100" u="none" strike="noStrike">
                          <a:effectLst/>
                        </a:rPr>
                        <a:t>200</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r" fontAlgn="b"/>
                      <a:r>
                        <a:rPr lang="fr-BE" sz="1100" u="none" strike="noStrike">
                          <a:effectLst/>
                        </a:rPr>
                        <a:t>800</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l" fontAlgn="b"/>
                      <a:r>
                        <a:rPr lang="fr-BE" sz="1100" u="none" strike="noStrike">
                          <a:effectLst/>
                        </a:rPr>
                        <a:t>Verviers</a:t>
                      </a:r>
                      <a:endParaRPr lang="fr-BE" sz="1100" b="0" i="0" u="none" strike="noStrike">
                        <a:solidFill>
                          <a:srgbClr val="3F3F76"/>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24132355"/>
                  </a:ext>
                </a:extLst>
              </a:tr>
              <a:tr h="190500">
                <a:tc>
                  <a:txBody>
                    <a:bodyPr/>
                    <a:lstStyle/>
                    <a:p>
                      <a:pPr algn="l" fontAlgn="b"/>
                      <a:r>
                        <a:rPr lang="fr-BE" sz="1100" u="none" strike="noStrike">
                          <a:effectLst/>
                        </a:rPr>
                        <a:t>Clavier</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r" fontAlgn="b"/>
                      <a:r>
                        <a:rPr lang="fr-BE" sz="1100" u="none" strike="noStrike">
                          <a:effectLst/>
                        </a:rPr>
                        <a:t>30</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r" fontAlgn="b"/>
                      <a:r>
                        <a:rPr lang="fr-BE" sz="1100" u="none" strike="noStrike">
                          <a:effectLst/>
                        </a:rPr>
                        <a:t>50</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l" fontAlgn="b"/>
                      <a:r>
                        <a:rPr lang="fr-BE" sz="1100" u="none" strike="noStrike">
                          <a:effectLst/>
                        </a:rPr>
                        <a:t>Verviers</a:t>
                      </a:r>
                      <a:endParaRPr lang="fr-BE" sz="1100" b="0" i="0" u="none" strike="noStrike">
                        <a:solidFill>
                          <a:srgbClr val="3F3F76"/>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77729710"/>
                  </a:ext>
                </a:extLst>
              </a:tr>
              <a:tr h="190500">
                <a:tc>
                  <a:txBody>
                    <a:bodyPr/>
                    <a:lstStyle/>
                    <a:p>
                      <a:pPr algn="l" fontAlgn="b"/>
                      <a:r>
                        <a:rPr lang="fr-BE" sz="1100" u="none" strike="noStrike">
                          <a:effectLst/>
                        </a:rPr>
                        <a:t>Souris</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r" fontAlgn="b"/>
                      <a:r>
                        <a:rPr lang="fr-BE" sz="1100" u="none" strike="noStrike">
                          <a:effectLst/>
                        </a:rPr>
                        <a:t>15</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r" fontAlgn="b"/>
                      <a:r>
                        <a:rPr lang="fr-BE" sz="1100" u="none" strike="noStrike">
                          <a:effectLst/>
                        </a:rPr>
                        <a:t>40</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l" fontAlgn="b"/>
                      <a:r>
                        <a:rPr lang="fr-BE" sz="1100" u="none" strike="noStrike">
                          <a:effectLst/>
                        </a:rPr>
                        <a:t>Liège</a:t>
                      </a:r>
                      <a:endParaRPr lang="fr-BE" sz="1100" b="0" i="0" u="none" strike="noStrike">
                        <a:solidFill>
                          <a:srgbClr val="3F3F76"/>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98618006"/>
                  </a:ext>
                </a:extLst>
              </a:tr>
              <a:tr h="190500">
                <a:tc>
                  <a:txBody>
                    <a:bodyPr/>
                    <a:lstStyle/>
                    <a:p>
                      <a:pPr algn="l" fontAlgn="b"/>
                      <a:r>
                        <a:rPr lang="fr-BE" sz="1100" u="none" strike="noStrike">
                          <a:effectLst/>
                        </a:rPr>
                        <a:t>Ordinateur</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r" fontAlgn="b"/>
                      <a:r>
                        <a:rPr lang="fr-BE" sz="1100" u="none" strike="noStrike">
                          <a:effectLst/>
                        </a:rPr>
                        <a:t>200</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r" fontAlgn="b"/>
                      <a:r>
                        <a:rPr lang="fr-BE" sz="1100" u="none" strike="noStrike">
                          <a:effectLst/>
                        </a:rPr>
                        <a:t>1200</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l" fontAlgn="b"/>
                      <a:r>
                        <a:rPr lang="fr-BE" sz="1100" u="none" strike="noStrike" dirty="0">
                          <a:effectLst/>
                        </a:rPr>
                        <a:t>Liège</a:t>
                      </a:r>
                      <a:endParaRPr lang="fr-BE" sz="1100" b="0" i="0" u="none" strike="noStrike" dirty="0">
                        <a:solidFill>
                          <a:srgbClr val="3F3F76"/>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71514751"/>
                  </a:ext>
                </a:extLst>
              </a:tr>
            </a:tbl>
          </a:graphicData>
        </a:graphic>
      </p:graphicFrame>
    </p:spTree>
    <p:extLst>
      <p:ext uri="{BB962C8B-B14F-4D97-AF65-F5344CB8AC3E}">
        <p14:creationId xmlns:p14="http://schemas.microsoft.com/office/powerpoint/2010/main" val="15721283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a:t>
            </a:r>
            <a:r>
              <a:rPr lang="fr-FR" sz="4500" dirty="0" smtClean="0">
                <a:solidFill>
                  <a:srgbClr val="00205B"/>
                </a:solidFill>
                <a:latin typeface="Arial" panose="020B0604020202020204" pitchFamily="34" charset="0"/>
                <a:cs typeface="Arial" panose="020B0604020202020204" pitchFamily="34" charset="0"/>
              </a:rPr>
              <a:t>pratique</a:t>
            </a:r>
            <a:endParaRPr lang="fr-FR" sz="4500" dirty="0">
              <a:solidFill>
                <a:srgbClr val="00205B"/>
              </a:solidFill>
              <a:latin typeface="Arial" panose="020B0604020202020204" pitchFamily="34" charset="0"/>
              <a:cs typeface="Arial" panose="020B0604020202020204" pitchFamily="34" charset="0"/>
            </a:endParaRPr>
          </a:p>
        </p:txBody>
      </p:sp>
      <p:sp>
        <p:nvSpPr>
          <p:cNvPr id="5" name="ZoneTexte 4"/>
          <p:cNvSpPr txBox="1"/>
          <p:nvPr/>
        </p:nvSpPr>
        <p:spPr>
          <a:xfrm>
            <a:off x="1085385" y="1772816"/>
            <a:ext cx="8740258" cy="2585323"/>
          </a:xfrm>
          <a:prstGeom prst="rect">
            <a:avLst/>
          </a:prstGeom>
          <a:noFill/>
        </p:spPr>
        <p:txBody>
          <a:bodyPr wrap="square" rtlCol="0">
            <a:spAutoFit/>
          </a:bodyPr>
          <a:lstStyle/>
          <a:p>
            <a:r>
              <a:rPr lang="fr-FR" dirty="0"/>
              <a:t>Tâches</a:t>
            </a:r>
          </a:p>
          <a:p>
            <a:r>
              <a:rPr lang="fr-FR" dirty="0"/>
              <a:t>1.	Créez une colonne "Statut Vente" avec les conditions suivantes : </a:t>
            </a:r>
          </a:p>
          <a:p>
            <a:r>
              <a:rPr lang="fr-FR" dirty="0"/>
              <a:t>o	Si Quantité &gt; 50 ET Prix Unitaire &gt; 100 → "Vente Importante"</a:t>
            </a:r>
          </a:p>
          <a:p>
            <a:r>
              <a:rPr lang="fr-FR" dirty="0"/>
              <a:t>o	Si Quantité &gt; 20 → "Vente Moyenne"</a:t>
            </a:r>
          </a:p>
          <a:p>
            <a:r>
              <a:rPr lang="fr-FR" dirty="0"/>
              <a:t>o	Sinon → "Petite Vente"</a:t>
            </a:r>
          </a:p>
          <a:p>
            <a:r>
              <a:rPr lang="fr-FR" dirty="0"/>
              <a:t>2.	Ajoutez une colonne "Bonus Commercial" : </a:t>
            </a:r>
          </a:p>
          <a:p>
            <a:r>
              <a:rPr lang="fr-FR" dirty="0"/>
              <a:t>o	Si Région = "Liège" ET Vente Importante → Prime de 500€</a:t>
            </a:r>
          </a:p>
          <a:p>
            <a:r>
              <a:rPr lang="fr-FR" dirty="0"/>
              <a:t>o	Si Vente Importante → Prime de 300€</a:t>
            </a:r>
          </a:p>
          <a:p>
            <a:r>
              <a:rPr lang="fr-FR" dirty="0"/>
              <a:t>o	Sinon → Pas de Prime</a:t>
            </a: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9</a:t>
            </a:fld>
            <a:endParaRPr lang="fr-BE"/>
          </a:p>
        </p:txBody>
      </p:sp>
      <p:sp>
        <p:nvSpPr>
          <p:cNvPr id="3" name="Espace réservé du pied de page 2"/>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12785051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a:t>
            </a:r>
            <a:r>
              <a:rPr lang="fr-FR" sz="4500" dirty="0" smtClean="0">
                <a:solidFill>
                  <a:srgbClr val="00205B"/>
                </a:solidFill>
                <a:latin typeface="Arial" panose="020B0604020202020204" pitchFamily="34" charset="0"/>
                <a:cs typeface="Arial" panose="020B0604020202020204" pitchFamily="34" charset="0"/>
              </a:rPr>
              <a:t>pratique</a:t>
            </a:r>
            <a:endParaRPr lang="fr-FR" sz="4500" dirty="0">
              <a:solidFill>
                <a:srgbClr val="00205B"/>
              </a:solidFill>
              <a:latin typeface="Arial" panose="020B0604020202020204" pitchFamily="34" charset="0"/>
              <a:cs typeface="Arial" panose="020B0604020202020204" pitchFamily="34" charset="0"/>
            </a:endParaRPr>
          </a:p>
        </p:txBody>
      </p:sp>
      <p:sp>
        <p:nvSpPr>
          <p:cNvPr id="5" name="ZoneTexte 4"/>
          <p:cNvSpPr txBox="1"/>
          <p:nvPr/>
        </p:nvSpPr>
        <p:spPr>
          <a:xfrm>
            <a:off x="1085385" y="1772816"/>
            <a:ext cx="8740258" cy="2308324"/>
          </a:xfrm>
          <a:prstGeom prst="rect">
            <a:avLst/>
          </a:prstGeom>
          <a:noFill/>
        </p:spPr>
        <p:txBody>
          <a:bodyPr wrap="square" rtlCol="0">
            <a:spAutoFit/>
          </a:bodyPr>
          <a:lstStyle/>
          <a:p>
            <a:r>
              <a:rPr lang="fr-FR" dirty="0"/>
              <a:t>Étape 1 : Colonne Statut Vente</a:t>
            </a:r>
          </a:p>
          <a:p>
            <a:r>
              <a:rPr lang="fr-FR" dirty="0"/>
              <a:t>Dans E2, utilisez la formule : </a:t>
            </a:r>
          </a:p>
          <a:p>
            <a:r>
              <a:rPr lang="fr-FR" dirty="0"/>
              <a:t>=SI(ET(B2&gt;50; C2&gt;100); "Vente Importante"; SI(B2&gt;20; "Vente Moyenne"; "Petite Vente"))</a:t>
            </a:r>
          </a:p>
          <a:p>
            <a:endParaRPr lang="fr-FR" dirty="0"/>
          </a:p>
          <a:p>
            <a:r>
              <a:rPr lang="fr-FR" dirty="0"/>
              <a:t>Étape 2 : Colonne Bonus Commercial</a:t>
            </a:r>
          </a:p>
          <a:p>
            <a:r>
              <a:rPr lang="fr-FR" dirty="0"/>
              <a:t>Dans F2, utilisez la formule : </a:t>
            </a:r>
          </a:p>
          <a:p>
            <a:r>
              <a:rPr lang="fr-FR" dirty="0"/>
              <a:t>=SI(ET(D2</a:t>
            </a:r>
            <a:r>
              <a:rPr lang="fr-FR" dirty="0" smtClean="0"/>
              <a:t>=</a:t>
            </a:r>
            <a:r>
              <a:rPr lang="fr-FR" dirty="0"/>
              <a:t>"</a:t>
            </a:r>
            <a:r>
              <a:rPr lang="fr-FR" dirty="0" smtClean="0"/>
              <a:t>Liège"; </a:t>
            </a:r>
            <a:r>
              <a:rPr lang="fr-FR" dirty="0"/>
              <a:t>E2="Vente Importante</a:t>
            </a:r>
            <a:r>
              <a:rPr lang="fr-FR" dirty="0" smtClean="0"/>
              <a:t>"); 500; SI(E2</a:t>
            </a:r>
            <a:r>
              <a:rPr lang="fr-FR" dirty="0"/>
              <a:t>="Vente </a:t>
            </a:r>
            <a:r>
              <a:rPr lang="fr-FR" dirty="0" smtClean="0"/>
              <a:t>Importante"; 300; </a:t>
            </a:r>
            <a:r>
              <a:rPr lang="fr-FR" dirty="0"/>
              <a:t>0))</a:t>
            </a:r>
          </a:p>
          <a:p>
            <a:endParaRPr lang="fr-FR" dirty="0"/>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10</a:t>
            </a:fld>
            <a:endParaRPr lang="fr-BE"/>
          </a:p>
        </p:txBody>
      </p:sp>
      <p:sp>
        <p:nvSpPr>
          <p:cNvPr id="3" name="Espace réservé du pied de page 2"/>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32069502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ZoneTexte 1"/>
          <p:cNvSpPr txBox="1"/>
          <p:nvPr/>
        </p:nvSpPr>
        <p:spPr>
          <a:xfrm>
            <a:off x="1085386" y="692696"/>
            <a:ext cx="6182922"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Fonctions de recherche</a:t>
            </a:r>
          </a:p>
        </p:txBody>
      </p:sp>
      <p:sp>
        <p:nvSpPr>
          <p:cNvPr id="3" name="ZoneTexte 2"/>
          <p:cNvSpPr txBox="1"/>
          <p:nvPr/>
        </p:nvSpPr>
        <p:spPr>
          <a:xfrm>
            <a:off x="1085386" y="1772816"/>
            <a:ext cx="7803112" cy="1477328"/>
          </a:xfrm>
          <a:prstGeom prst="rect">
            <a:avLst/>
          </a:prstGeom>
          <a:noFill/>
        </p:spPr>
        <p:txBody>
          <a:bodyPr wrap="square" rtlCol="0">
            <a:spAutoFit/>
          </a:bodyPr>
          <a:lstStyle/>
          <a:p>
            <a:pPr lvl="0"/>
            <a:r>
              <a:rPr lang="fr-FR" dirty="0"/>
              <a:t>RECHERCHEV : recherche </a:t>
            </a:r>
            <a:r>
              <a:rPr lang="fr-FR" dirty="0" smtClean="0"/>
              <a:t>verticale</a:t>
            </a:r>
          </a:p>
          <a:p>
            <a:pPr lvl="0"/>
            <a:endParaRPr lang="fr-FR" dirty="0" smtClean="0"/>
          </a:p>
          <a:p>
            <a:pPr lvl="0"/>
            <a:r>
              <a:rPr lang="fr-FR" dirty="0" smtClean="0"/>
              <a:t>INDEX </a:t>
            </a:r>
            <a:r>
              <a:rPr lang="fr-FR" dirty="0"/>
              <a:t>et EQUIV : alternatives </a:t>
            </a:r>
            <a:r>
              <a:rPr lang="fr-FR" dirty="0" smtClean="0"/>
              <a:t>puissantes</a:t>
            </a:r>
          </a:p>
          <a:p>
            <a:pPr lvl="0"/>
            <a:endParaRPr lang="fr-FR" dirty="0"/>
          </a:p>
          <a:p>
            <a:pPr lvl="0"/>
            <a:r>
              <a:rPr lang="fr-FR" dirty="0" smtClean="0"/>
              <a:t>Comparaison </a:t>
            </a:r>
            <a:r>
              <a:rPr lang="fr-FR" dirty="0"/>
              <a:t>et cas d'utilisation</a:t>
            </a:r>
            <a:endParaRPr lang="fr-BE" dirty="0"/>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11</a:t>
            </a:fld>
            <a:endParaRPr lang="fr-BE" dirty="0"/>
          </a:p>
        </p:txBody>
      </p:sp>
      <p:sp>
        <p:nvSpPr>
          <p:cNvPr id="7" name="Espace réservé du pied de page 6"/>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31845811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a:t>
            </a:r>
            <a:r>
              <a:rPr lang="fr-FR" sz="4500" dirty="0" smtClean="0">
                <a:solidFill>
                  <a:srgbClr val="00205B"/>
                </a:solidFill>
                <a:latin typeface="Arial" panose="020B0604020202020204" pitchFamily="34" charset="0"/>
                <a:cs typeface="Arial" panose="020B0604020202020204" pitchFamily="34" charset="0"/>
              </a:rPr>
              <a:t>pratique</a:t>
            </a:r>
            <a:endParaRPr lang="fr-FR" sz="4500" dirty="0">
              <a:solidFill>
                <a:srgbClr val="00205B"/>
              </a:solidFill>
              <a:latin typeface="Arial" panose="020B0604020202020204" pitchFamily="34" charset="0"/>
              <a:cs typeface="Arial" panose="020B0604020202020204" pitchFamily="34" charset="0"/>
            </a:endParaRPr>
          </a:p>
        </p:txBody>
      </p:sp>
      <p:sp>
        <p:nvSpPr>
          <p:cNvPr id="5" name="ZoneTexte 4"/>
          <p:cNvSpPr txBox="1"/>
          <p:nvPr/>
        </p:nvSpPr>
        <p:spPr>
          <a:xfrm>
            <a:off x="1085386" y="1772816"/>
            <a:ext cx="7803112" cy="2862322"/>
          </a:xfrm>
          <a:prstGeom prst="rect">
            <a:avLst/>
          </a:prstGeom>
          <a:noFill/>
        </p:spPr>
        <p:txBody>
          <a:bodyPr wrap="square" rtlCol="0">
            <a:spAutoFit/>
          </a:bodyPr>
          <a:lstStyle/>
          <a:p>
            <a:r>
              <a:rPr lang="fr-FR" dirty="0"/>
              <a:t>Exercice 3 : Fonctions de Recherche</a:t>
            </a:r>
          </a:p>
          <a:p>
            <a:r>
              <a:rPr lang="fr-FR" dirty="0"/>
              <a:t>Préparation</a:t>
            </a:r>
          </a:p>
          <a:p>
            <a:r>
              <a:rPr lang="fr-FR" dirty="0"/>
              <a:t>1.	Créez deux feuilles : </a:t>
            </a:r>
            <a:r>
              <a:rPr lang="fr-FR" dirty="0" smtClean="0"/>
              <a:t>« Produits » </a:t>
            </a:r>
            <a:r>
              <a:rPr lang="fr-FR" dirty="0"/>
              <a:t>et </a:t>
            </a:r>
            <a:r>
              <a:rPr lang="fr-FR" dirty="0" smtClean="0"/>
              <a:t>« Prix »</a:t>
            </a:r>
            <a:endParaRPr lang="fr-FR" dirty="0"/>
          </a:p>
          <a:p>
            <a:r>
              <a:rPr lang="fr-FR" dirty="0"/>
              <a:t>2.	Dans </a:t>
            </a:r>
            <a:r>
              <a:rPr lang="fr-FR" dirty="0" smtClean="0"/>
              <a:t>« Produits" </a:t>
            </a:r>
            <a:r>
              <a:rPr lang="fr-FR" dirty="0"/>
              <a:t>: </a:t>
            </a:r>
          </a:p>
          <a:p>
            <a:r>
              <a:rPr lang="fr-FR" dirty="0"/>
              <a:t>o	A1: Code Produit</a:t>
            </a:r>
          </a:p>
          <a:p>
            <a:r>
              <a:rPr lang="fr-FR" dirty="0"/>
              <a:t>o	B1: Nom Produit</a:t>
            </a:r>
          </a:p>
          <a:p>
            <a:r>
              <a:rPr lang="fr-FR" dirty="0"/>
              <a:t>o	C1: Stock Disponible</a:t>
            </a:r>
          </a:p>
          <a:p>
            <a:r>
              <a:rPr lang="fr-FR" dirty="0"/>
              <a:t>3.	Dans "Prix" : </a:t>
            </a:r>
          </a:p>
          <a:p>
            <a:r>
              <a:rPr lang="fr-FR" dirty="0"/>
              <a:t>o	A1: Code Produit</a:t>
            </a:r>
          </a:p>
          <a:p>
            <a:r>
              <a:rPr lang="fr-FR" dirty="0"/>
              <a:t>o	B1: Prix</a:t>
            </a: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12</a:t>
            </a:fld>
            <a:endParaRPr lang="fr-BE"/>
          </a:p>
        </p:txBody>
      </p:sp>
      <p:sp>
        <p:nvSpPr>
          <p:cNvPr id="3" name="Espace réservé du pied de page 2"/>
          <p:cNvSpPr>
            <a:spLocks noGrp="1"/>
          </p:cNvSpPr>
          <p:nvPr>
            <p:ph type="ftr" sz="quarter" idx="11"/>
          </p:nvPr>
        </p:nvSpPr>
        <p:spPr/>
        <p:txBody>
          <a:bodyPr/>
          <a:lstStyle/>
          <a:p>
            <a:r>
              <a:rPr lang="fr-BE" dirty="0"/>
              <a:t>Niveau Intermédiaire</a:t>
            </a:r>
          </a:p>
        </p:txBody>
      </p:sp>
      <p:graphicFrame>
        <p:nvGraphicFramePr>
          <p:cNvPr id="6" name="Tableau 5"/>
          <p:cNvGraphicFramePr>
            <a:graphicFrameLocks noGrp="1"/>
          </p:cNvGraphicFramePr>
          <p:nvPr>
            <p:extLst>
              <p:ext uri="{D42A27DB-BD31-4B8C-83A1-F6EECF244321}">
                <p14:modId xmlns:p14="http://schemas.microsoft.com/office/powerpoint/2010/main" val="3506338239"/>
              </p:ext>
            </p:extLst>
          </p:nvPr>
        </p:nvGraphicFramePr>
        <p:xfrm>
          <a:off x="5734628" y="3111138"/>
          <a:ext cx="2717800" cy="1524000"/>
        </p:xfrm>
        <a:graphic>
          <a:graphicData uri="http://schemas.openxmlformats.org/drawingml/2006/table">
            <a:tbl>
              <a:tblPr>
                <a:tableStyleId>{5C22544A-7EE6-4342-B048-85BDC9FD1C3A}</a:tableStyleId>
              </a:tblPr>
              <a:tblGrid>
                <a:gridCol w="838200">
                  <a:extLst>
                    <a:ext uri="{9D8B030D-6E8A-4147-A177-3AD203B41FA5}">
                      <a16:colId xmlns:a16="http://schemas.microsoft.com/office/drawing/2014/main" val="2997032126"/>
                    </a:ext>
                  </a:extLst>
                </a:gridCol>
                <a:gridCol w="825500">
                  <a:extLst>
                    <a:ext uri="{9D8B030D-6E8A-4147-A177-3AD203B41FA5}">
                      <a16:colId xmlns:a16="http://schemas.microsoft.com/office/drawing/2014/main" val="1345355977"/>
                    </a:ext>
                  </a:extLst>
                </a:gridCol>
                <a:gridCol w="1054100">
                  <a:extLst>
                    <a:ext uri="{9D8B030D-6E8A-4147-A177-3AD203B41FA5}">
                      <a16:colId xmlns:a16="http://schemas.microsoft.com/office/drawing/2014/main" val="839461774"/>
                    </a:ext>
                  </a:extLst>
                </a:gridCol>
              </a:tblGrid>
              <a:tr h="190500">
                <a:tc>
                  <a:txBody>
                    <a:bodyPr/>
                    <a:lstStyle/>
                    <a:p>
                      <a:pPr algn="l" fontAlgn="b"/>
                      <a:r>
                        <a:rPr lang="fr-BE" sz="1100" u="none" strike="noStrike">
                          <a:effectLst/>
                        </a:rPr>
                        <a:t>Code Produit</a:t>
                      </a:r>
                      <a:endParaRPr lang="fr-BE" sz="1100" b="1" i="0" u="none" strike="noStrike">
                        <a:solidFill>
                          <a:srgbClr val="FA7D00"/>
                        </a:solidFill>
                        <a:effectLst/>
                        <a:latin typeface="Calibri" panose="020F0502020204030204" pitchFamily="34" charset="0"/>
                      </a:endParaRPr>
                    </a:p>
                  </a:txBody>
                  <a:tcPr marL="9525" marR="9525" marT="9525" marB="0" anchor="b"/>
                </a:tc>
                <a:tc>
                  <a:txBody>
                    <a:bodyPr/>
                    <a:lstStyle/>
                    <a:p>
                      <a:pPr algn="l" fontAlgn="b"/>
                      <a:r>
                        <a:rPr lang="fr-BE" sz="1100" u="none" strike="noStrike">
                          <a:effectLst/>
                        </a:rPr>
                        <a:t>Nom Produit</a:t>
                      </a:r>
                      <a:endParaRPr lang="fr-BE" sz="1100" b="1" i="0" u="none" strike="noStrike">
                        <a:solidFill>
                          <a:srgbClr val="FA7D00"/>
                        </a:solidFill>
                        <a:effectLst/>
                        <a:latin typeface="Calibri" panose="020F0502020204030204" pitchFamily="34" charset="0"/>
                      </a:endParaRPr>
                    </a:p>
                  </a:txBody>
                  <a:tcPr marL="9525" marR="9525" marT="9525" marB="0" anchor="b"/>
                </a:tc>
                <a:tc>
                  <a:txBody>
                    <a:bodyPr/>
                    <a:lstStyle/>
                    <a:p>
                      <a:pPr algn="l" fontAlgn="b"/>
                      <a:r>
                        <a:rPr lang="fr-BE" sz="1100" u="none" strike="noStrike">
                          <a:effectLst/>
                        </a:rPr>
                        <a:t>Stock Disponible</a:t>
                      </a:r>
                      <a:endParaRPr lang="fr-BE" sz="1100" b="1" i="0" u="none" strike="noStrike">
                        <a:solidFill>
                          <a:srgbClr val="FA7D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78967433"/>
                  </a:ext>
                </a:extLst>
              </a:tr>
              <a:tr h="190500">
                <a:tc>
                  <a:txBody>
                    <a:bodyPr/>
                    <a:lstStyle/>
                    <a:p>
                      <a:pPr algn="l" fontAlgn="b"/>
                      <a:r>
                        <a:rPr lang="fr-BE" sz="1100" u="none" strike="noStrike">
                          <a:effectLst/>
                        </a:rPr>
                        <a:t>CP001</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l" fontAlgn="b"/>
                      <a:r>
                        <a:rPr lang="fr-BE" sz="1100" u="none" strike="noStrike">
                          <a:effectLst/>
                        </a:rPr>
                        <a:t>Ecran</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r" fontAlgn="b"/>
                      <a:r>
                        <a:rPr lang="fr-BE" sz="1100" u="none" strike="noStrike">
                          <a:effectLst/>
                        </a:rPr>
                        <a:t>50</a:t>
                      </a:r>
                      <a:endParaRPr lang="fr-BE" sz="1100" b="0" i="0" u="none" strike="noStrike">
                        <a:solidFill>
                          <a:srgbClr val="3F3F76"/>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51863458"/>
                  </a:ext>
                </a:extLst>
              </a:tr>
              <a:tr h="190500">
                <a:tc>
                  <a:txBody>
                    <a:bodyPr/>
                    <a:lstStyle/>
                    <a:p>
                      <a:pPr algn="l" fontAlgn="b"/>
                      <a:r>
                        <a:rPr lang="fr-BE" sz="1100" u="none" strike="noStrike">
                          <a:effectLst/>
                        </a:rPr>
                        <a:t>CP002</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l" fontAlgn="b"/>
                      <a:r>
                        <a:rPr lang="fr-BE" sz="1100" u="none" strike="noStrike">
                          <a:effectLst/>
                        </a:rPr>
                        <a:t>Cable</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r" fontAlgn="b"/>
                      <a:r>
                        <a:rPr lang="fr-BE" sz="1100" u="none" strike="noStrike">
                          <a:effectLst/>
                        </a:rPr>
                        <a:t>100</a:t>
                      </a:r>
                      <a:endParaRPr lang="fr-BE" sz="1100" b="0" i="0" u="none" strike="noStrike">
                        <a:solidFill>
                          <a:srgbClr val="3F3F76"/>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33479246"/>
                  </a:ext>
                </a:extLst>
              </a:tr>
              <a:tr h="190500">
                <a:tc>
                  <a:txBody>
                    <a:bodyPr/>
                    <a:lstStyle/>
                    <a:p>
                      <a:pPr algn="l" fontAlgn="b"/>
                      <a:r>
                        <a:rPr lang="fr-BE" sz="1100" u="none" strike="noStrike">
                          <a:effectLst/>
                        </a:rPr>
                        <a:t>CP003</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l" fontAlgn="b"/>
                      <a:r>
                        <a:rPr lang="fr-BE" sz="1100" u="none" strike="noStrike">
                          <a:effectLst/>
                        </a:rPr>
                        <a:t>Clavier</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r" fontAlgn="b"/>
                      <a:r>
                        <a:rPr lang="fr-BE" sz="1100" u="none" strike="noStrike">
                          <a:effectLst/>
                        </a:rPr>
                        <a:t>20</a:t>
                      </a:r>
                      <a:endParaRPr lang="fr-BE" sz="1100" b="0" i="0" u="none" strike="noStrike">
                        <a:solidFill>
                          <a:srgbClr val="3F3F76"/>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24637107"/>
                  </a:ext>
                </a:extLst>
              </a:tr>
              <a:tr h="190500">
                <a:tc>
                  <a:txBody>
                    <a:bodyPr/>
                    <a:lstStyle/>
                    <a:p>
                      <a:pPr algn="l" fontAlgn="b"/>
                      <a:r>
                        <a:rPr lang="fr-BE" sz="1100" u="none" strike="noStrike">
                          <a:effectLst/>
                        </a:rPr>
                        <a:t>CP004</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l" fontAlgn="b"/>
                      <a:r>
                        <a:rPr lang="fr-BE" sz="1100" u="none" strike="noStrike">
                          <a:effectLst/>
                        </a:rPr>
                        <a:t>Souris</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r" fontAlgn="b"/>
                      <a:r>
                        <a:rPr lang="fr-BE" sz="1100" u="none" strike="noStrike">
                          <a:effectLst/>
                        </a:rPr>
                        <a:t>10</a:t>
                      </a:r>
                      <a:endParaRPr lang="fr-BE" sz="1100" b="0" i="0" u="none" strike="noStrike">
                        <a:solidFill>
                          <a:srgbClr val="3F3F76"/>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13772228"/>
                  </a:ext>
                </a:extLst>
              </a:tr>
              <a:tr h="190500">
                <a:tc>
                  <a:txBody>
                    <a:bodyPr/>
                    <a:lstStyle/>
                    <a:p>
                      <a:pPr algn="l" fontAlgn="b"/>
                      <a:r>
                        <a:rPr lang="fr-BE" sz="1100" u="none" strike="noStrike">
                          <a:effectLst/>
                        </a:rPr>
                        <a:t>CP005</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l" fontAlgn="b"/>
                      <a:r>
                        <a:rPr lang="fr-BE" sz="1100" u="none" strike="noStrike">
                          <a:effectLst/>
                        </a:rPr>
                        <a:t>Ordinateur</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r" fontAlgn="b"/>
                      <a:r>
                        <a:rPr lang="fr-BE" sz="1100" u="none" strike="noStrike">
                          <a:effectLst/>
                        </a:rPr>
                        <a:t>40</a:t>
                      </a:r>
                      <a:endParaRPr lang="fr-BE" sz="1100" b="0" i="0" u="none" strike="noStrike">
                        <a:solidFill>
                          <a:srgbClr val="3F3F76"/>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79745826"/>
                  </a:ext>
                </a:extLst>
              </a:tr>
              <a:tr h="190500">
                <a:tc>
                  <a:txBody>
                    <a:bodyPr/>
                    <a:lstStyle/>
                    <a:p>
                      <a:pPr algn="l" fontAlgn="b"/>
                      <a:r>
                        <a:rPr lang="fr-BE" sz="1100" u="none" strike="noStrike">
                          <a:effectLst/>
                        </a:rPr>
                        <a:t>CP006</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l" fontAlgn="b"/>
                      <a:r>
                        <a:rPr lang="fr-BE" sz="1100" u="none" strike="noStrike">
                          <a:effectLst/>
                        </a:rPr>
                        <a:t>Casque</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r" fontAlgn="b"/>
                      <a:r>
                        <a:rPr lang="fr-BE" sz="1100" u="none" strike="noStrike">
                          <a:effectLst/>
                        </a:rPr>
                        <a:t>5</a:t>
                      </a:r>
                      <a:endParaRPr lang="fr-BE" sz="1100" b="0" i="0" u="none" strike="noStrike">
                        <a:solidFill>
                          <a:srgbClr val="3F3F76"/>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946270403"/>
                  </a:ext>
                </a:extLst>
              </a:tr>
              <a:tr h="190500">
                <a:tc>
                  <a:txBody>
                    <a:bodyPr/>
                    <a:lstStyle/>
                    <a:p>
                      <a:pPr algn="l" fontAlgn="b"/>
                      <a:r>
                        <a:rPr lang="fr-BE" sz="1100" u="none" strike="noStrike">
                          <a:effectLst/>
                        </a:rPr>
                        <a:t>CP007</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l" fontAlgn="b"/>
                      <a:r>
                        <a:rPr lang="fr-BE" sz="1100" u="none" strike="noStrike">
                          <a:effectLst/>
                        </a:rPr>
                        <a:t>Micro</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r" fontAlgn="b"/>
                      <a:r>
                        <a:rPr lang="fr-BE" sz="1100" u="none" strike="noStrike" dirty="0">
                          <a:effectLst/>
                        </a:rPr>
                        <a:t>1</a:t>
                      </a:r>
                      <a:endParaRPr lang="fr-BE" sz="1100" b="0" i="0" u="none" strike="noStrike" dirty="0">
                        <a:solidFill>
                          <a:srgbClr val="3F3F76"/>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83347812"/>
                  </a:ext>
                </a:extLst>
              </a:tr>
            </a:tbl>
          </a:graphicData>
        </a:graphic>
      </p:graphicFrame>
      <p:graphicFrame>
        <p:nvGraphicFramePr>
          <p:cNvPr id="7" name="Tableau 6"/>
          <p:cNvGraphicFramePr>
            <a:graphicFrameLocks noGrp="1"/>
          </p:cNvGraphicFramePr>
          <p:nvPr>
            <p:extLst>
              <p:ext uri="{D42A27DB-BD31-4B8C-83A1-F6EECF244321}">
                <p14:modId xmlns:p14="http://schemas.microsoft.com/office/powerpoint/2010/main" val="537317054"/>
              </p:ext>
            </p:extLst>
          </p:nvPr>
        </p:nvGraphicFramePr>
        <p:xfrm>
          <a:off x="9161584" y="3111138"/>
          <a:ext cx="1428831" cy="1524000"/>
        </p:xfrm>
        <a:graphic>
          <a:graphicData uri="http://schemas.openxmlformats.org/drawingml/2006/table">
            <a:tbl>
              <a:tblPr>
                <a:tableStyleId>{5C22544A-7EE6-4342-B048-85BDC9FD1C3A}</a:tableStyleId>
              </a:tblPr>
              <a:tblGrid>
                <a:gridCol w="765953">
                  <a:extLst>
                    <a:ext uri="{9D8B030D-6E8A-4147-A177-3AD203B41FA5}">
                      <a16:colId xmlns:a16="http://schemas.microsoft.com/office/drawing/2014/main" val="1729919914"/>
                    </a:ext>
                  </a:extLst>
                </a:gridCol>
                <a:gridCol w="662878">
                  <a:extLst>
                    <a:ext uri="{9D8B030D-6E8A-4147-A177-3AD203B41FA5}">
                      <a16:colId xmlns:a16="http://schemas.microsoft.com/office/drawing/2014/main" val="2927263946"/>
                    </a:ext>
                  </a:extLst>
                </a:gridCol>
              </a:tblGrid>
              <a:tr h="190500">
                <a:tc>
                  <a:txBody>
                    <a:bodyPr/>
                    <a:lstStyle/>
                    <a:p>
                      <a:pPr algn="l" fontAlgn="b"/>
                      <a:r>
                        <a:rPr lang="fr-BE" sz="1100" u="none" strike="noStrike">
                          <a:effectLst/>
                        </a:rPr>
                        <a:t>Code Produit</a:t>
                      </a:r>
                      <a:endParaRPr lang="fr-BE" sz="1100" b="1" i="0" u="none" strike="noStrike">
                        <a:solidFill>
                          <a:srgbClr val="FA7D00"/>
                        </a:solidFill>
                        <a:effectLst/>
                        <a:latin typeface="Calibri" panose="020F0502020204030204" pitchFamily="34" charset="0"/>
                      </a:endParaRPr>
                    </a:p>
                  </a:txBody>
                  <a:tcPr marL="9525" marR="9525" marT="9525" marB="0" anchor="b"/>
                </a:tc>
                <a:tc>
                  <a:txBody>
                    <a:bodyPr/>
                    <a:lstStyle/>
                    <a:p>
                      <a:pPr algn="l" fontAlgn="b"/>
                      <a:r>
                        <a:rPr lang="fr-BE" sz="1100" u="none" strike="noStrike">
                          <a:effectLst/>
                        </a:rPr>
                        <a:t>Prix</a:t>
                      </a:r>
                      <a:endParaRPr lang="fr-BE" sz="1100" b="1" i="0" u="none" strike="noStrike">
                        <a:solidFill>
                          <a:srgbClr val="FA7D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41449993"/>
                  </a:ext>
                </a:extLst>
              </a:tr>
              <a:tr h="190500">
                <a:tc>
                  <a:txBody>
                    <a:bodyPr/>
                    <a:lstStyle/>
                    <a:p>
                      <a:pPr algn="l" fontAlgn="b"/>
                      <a:r>
                        <a:rPr lang="fr-BE" sz="1100" u="none" strike="noStrike">
                          <a:effectLst/>
                        </a:rPr>
                        <a:t>CP001</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l" fontAlgn="b"/>
                      <a:r>
                        <a:rPr lang="fr-BE" sz="1100" u="none" strike="noStrike">
                          <a:effectLst/>
                        </a:rPr>
                        <a:t>         100 € </a:t>
                      </a:r>
                      <a:endParaRPr lang="fr-BE" sz="1100" b="0" i="0" u="none" strike="noStrike">
                        <a:solidFill>
                          <a:srgbClr val="3F3F76"/>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939668415"/>
                  </a:ext>
                </a:extLst>
              </a:tr>
              <a:tr h="190500">
                <a:tc>
                  <a:txBody>
                    <a:bodyPr/>
                    <a:lstStyle/>
                    <a:p>
                      <a:pPr algn="l" fontAlgn="b"/>
                      <a:r>
                        <a:rPr lang="fr-BE" sz="1100" u="none" strike="noStrike">
                          <a:effectLst/>
                        </a:rPr>
                        <a:t>CP002</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l" fontAlgn="b"/>
                      <a:r>
                        <a:rPr lang="fr-BE" sz="1100" u="none" strike="noStrike">
                          <a:effectLst/>
                        </a:rPr>
                        <a:t>              1 € </a:t>
                      </a:r>
                      <a:endParaRPr lang="fr-BE" sz="1100" b="0" i="0" u="none" strike="noStrike">
                        <a:solidFill>
                          <a:srgbClr val="3F3F76"/>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90059909"/>
                  </a:ext>
                </a:extLst>
              </a:tr>
              <a:tr h="190500">
                <a:tc>
                  <a:txBody>
                    <a:bodyPr/>
                    <a:lstStyle/>
                    <a:p>
                      <a:pPr algn="l" fontAlgn="b"/>
                      <a:r>
                        <a:rPr lang="fr-BE" sz="1100" u="none" strike="noStrike">
                          <a:effectLst/>
                        </a:rPr>
                        <a:t>CP003</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l" fontAlgn="b"/>
                      <a:r>
                        <a:rPr lang="fr-BE" sz="1100" u="none" strike="noStrike">
                          <a:effectLst/>
                        </a:rPr>
                        <a:t>              5 € </a:t>
                      </a:r>
                      <a:endParaRPr lang="fr-BE" sz="1100" b="0" i="0" u="none" strike="noStrike">
                        <a:solidFill>
                          <a:srgbClr val="3F3F76"/>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4535157"/>
                  </a:ext>
                </a:extLst>
              </a:tr>
              <a:tr h="190500">
                <a:tc>
                  <a:txBody>
                    <a:bodyPr/>
                    <a:lstStyle/>
                    <a:p>
                      <a:pPr algn="l" fontAlgn="b"/>
                      <a:r>
                        <a:rPr lang="fr-BE" sz="1100" u="none" strike="noStrike">
                          <a:effectLst/>
                        </a:rPr>
                        <a:t>CP004</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l" fontAlgn="b"/>
                      <a:r>
                        <a:rPr lang="fr-BE" sz="1100" u="none" strike="noStrike">
                          <a:effectLst/>
                        </a:rPr>
                        <a:t>              5 € </a:t>
                      </a:r>
                      <a:endParaRPr lang="fr-BE" sz="1100" b="0" i="0" u="none" strike="noStrike">
                        <a:solidFill>
                          <a:srgbClr val="3F3F76"/>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293703028"/>
                  </a:ext>
                </a:extLst>
              </a:tr>
              <a:tr h="190500">
                <a:tc>
                  <a:txBody>
                    <a:bodyPr/>
                    <a:lstStyle/>
                    <a:p>
                      <a:pPr algn="l" fontAlgn="b"/>
                      <a:r>
                        <a:rPr lang="fr-BE" sz="1100" u="none" strike="noStrike">
                          <a:effectLst/>
                        </a:rPr>
                        <a:t>CP005</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l" fontAlgn="b"/>
                      <a:r>
                        <a:rPr lang="fr-BE" sz="1100" u="none" strike="noStrike">
                          <a:effectLst/>
                        </a:rPr>
                        <a:t>         500 € </a:t>
                      </a:r>
                      <a:endParaRPr lang="fr-BE" sz="1100" b="0" i="0" u="none" strike="noStrike">
                        <a:solidFill>
                          <a:srgbClr val="3F3F76"/>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147650737"/>
                  </a:ext>
                </a:extLst>
              </a:tr>
              <a:tr h="190500">
                <a:tc>
                  <a:txBody>
                    <a:bodyPr/>
                    <a:lstStyle/>
                    <a:p>
                      <a:pPr algn="l" fontAlgn="b"/>
                      <a:r>
                        <a:rPr lang="fr-BE" sz="1100" u="none" strike="noStrike">
                          <a:effectLst/>
                        </a:rPr>
                        <a:t>CP006</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l" fontAlgn="b"/>
                      <a:r>
                        <a:rPr lang="fr-BE" sz="1100" u="none" strike="noStrike">
                          <a:effectLst/>
                        </a:rPr>
                        <a:t>           20 € </a:t>
                      </a:r>
                      <a:endParaRPr lang="fr-BE" sz="1100" b="0" i="0" u="none" strike="noStrike">
                        <a:solidFill>
                          <a:srgbClr val="3F3F76"/>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67244095"/>
                  </a:ext>
                </a:extLst>
              </a:tr>
              <a:tr h="190500">
                <a:tc>
                  <a:txBody>
                    <a:bodyPr/>
                    <a:lstStyle/>
                    <a:p>
                      <a:pPr algn="l" fontAlgn="b"/>
                      <a:r>
                        <a:rPr lang="fr-BE" sz="1100" u="none" strike="noStrike">
                          <a:effectLst/>
                        </a:rPr>
                        <a:t>CP007</a:t>
                      </a:r>
                      <a:endParaRPr lang="fr-BE" sz="1100" b="0" i="0" u="none" strike="noStrike">
                        <a:solidFill>
                          <a:srgbClr val="3F3F76"/>
                        </a:solidFill>
                        <a:effectLst/>
                        <a:latin typeface="Calibri" panose="020F0502020204030204" pitchFamily="34" charset="0"/>
                      </a:endParaRPr>
                    </a:p>
                  </a:txBody>
                  <a:tcPr marL="9525" marR="9525" marT="9525" marB="0" anchor="b"/>
                </a:tc>
                <a:tc>
                  <a:txBody>
                    <a:bodyPr/>
                    <a:lstStyle/>
                    <a:p>
                      <a:pPr algn="l" fontAlgn="b"/>
                      <a:r>
                        <a:rPr lang="fr-BE" sz="1100" u="none" strike="noStrike" dirty="0">
                          <a:effectLst/>
                        </a:rPr>
                        <a:t>           10 € </a:t>
                      </a:r>
                      <a:endParaRPr lang="fr-BE" sz="1100" b="0" i="0" u="none" strike="noStrike" dirty="0">
                        <a:solidFill>
                          <a:srgbClr val="3F3F76"/>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2157109"/>
                  </a:ext>
                </a:extLst>
              </a:tr>
            </a:tbl>
          </a:graphicData>
        </a:graphic>
      </p:graphicFrame>
    </p:spTree>
    <p:extLst>
      <p:ext uri="{BB962C8B-B14F-4D97-AF65-F5344CB8AC3E}">
        <p14:creationId xmlns:p14="http://schemas.microsoft.com/office/powerpoint/2010/main" val="35381402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ZoneTexte 1"/>
          <p:cNvSpPr txBox="1"/>
          <p:nvPr/>
        </p:nvSpPr>
        <p:spPr>
          <a:xfrm>
            <a:off x="1085386" y="692696"/>
            <a:ext cx="6182922"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Fonctions de recherche</a:t>
            </a:r>
            <a:endParaRPr lang="fr-FR" sz="4500" dirty="0">
              <a:solidFill>
                <a:srgbClr val="00205B"/>
              </a:solidFill>
              <a:latin typeface="Arial" panose="020B0604020202020204" pitchFamily="34" charset="0"/>
              <a:cs typeface="Arial" panose="020B0604020202020204" pitchFamily="34" charset="0"/>
            </a:endParaRPr>
          </a:p>
        </p:txBody>
      </p:sp>
      <p:sp>
        <p:nvSpPr>
          <p:cNvPr id="3" name="ZoneTexte 2"/>
          <p:cNvSpPr txBox="1"/>
          <p:nvPr/>
        </p:nvSpPr>
        <p:spPr>
          <a:xfrm>
            <a:off x="1085386" y="1772816"/>
            <a:ext cx="7803112" cy="2031325"/>
          </a:xfrm>
          <a:prstGeom prst="rect">
            <a:avLst/>
          </a:prstGeom>
          <a:noFill/>
        </p:spPr>
        <p:txBody>
          <a:bodyPr wrap="square" rtlCol="0">
            <a:spAutoFit/>
          </a:bodyPr>
          <a:lstStyle/>
          <a:p>
            <a:pPr lvl="0"/>
            <a:r>
              <a:rPr lang="fr-FR" dirty="0"/>
              <a:t>Tâches</a:t>
            </a:r>
          </a:p>
          <a:p>
            <a:pPr lvl="0"/>
            <a:r>
              <a:rPr lang="fr-FR" dirty="0"/>
              <a:t>1.	Utilisez RECHERCHEV pour : </a:t>
            </a:r>
          </a:p>
          <a:p>
            <a:pPr lvl="0"/>
            <a:r>
              <a:rPr lang="fr-FR" dirty="0"/>
              <a:t>o	Retrouver le prix d'un produit à partir de son code</a:t>
            </a:r>
          </a:p>
          <a:p>
            <a:pPr lvl="0"/>
            <a:r>
              <a:rPr lang="fr-FR" dirty="0"/>
              <a:t>o	Calculer la valeur totale du stock</a:t>
            </a:r>
          </a:p>
          <a:p>
            <a:pPr lvl="0"/>
            <a:r>
              <a:rPr lang="fr-FR" dirty="0"/>
              <a:t>2.	Créez un tableau de correspondance avec INDEX et EQUIV : </a:t>
            </a:r>
          </a:p>
          <a:p>
            <a:pPr lvl="0"/>
            <a:r>
              <a:rPr lang="fr-FR" dirty="0"/>
              <a:t>o	Trouver le produit associé à un code produit</a:t>
            </a:r>
          </a:p>
          <a:p>
            <a:pPr lvl="0"/>
            <a:r>
              <a:rPr lang="fr-FR" dirty="0"/>
              <a:t>o	Déterminer le stock disponible pour un produit donné</a:t>
            </a:r>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13</a:t>
            </a:fld>
            <a:endParaRPr lang="fr-BE" dirty="0"/>
          </a:p>
        </p:txBody>
      </p:sp>
      <p:sp>
        <p:nvSpPr>
          <p:cNvPr id="7" name="Espace réservé du pied de page 6"/>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24695766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ZoneTexte 1"/>
          <p:cNvSpPr txBox="1"/>
          <p:nvPr/>
        </p:nvSpPr>
        <p:spPr>
          <a:xfrm>
            <a:off x="1085386" y="692696"/>
            <a:ext cx="6182922"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pratique</a:t>
            </a:r>
          </a:p>
        </p:txBody>
      </p:sp>
      <p:sp>
        <p:nvSpPr>
          <p:cNvPr id="3" name="ZoneTexte 2"/>
          <p:cNvSpPr txBox="1"/>
          <p:nvPr/>
        </p:nvSpPr>
        <p:spPr>
          <a:xfrm>
            <a:off x="1085386" y="1772816"/>
            <a:ext cx="7803112" cy="1200329"/>
          </a:xfrm>
          <a:prstGeom prst="rect">
            <a:avLst/>
          </a:prstGeom>
          <a:noFill/>
        </p:spPr>
        <p:txBody>
          <a:bodyPr wrap="square" rtlCol="0">
            <a:spAutoFit/>
          </a:bodyPr>
          <a:lstStyle/>
          <a:p>
            <a:pPr lvl="0"/>
            <a:r>
              <a:rPr lang="fr-FR" dirty="0"/>
              <a:t>Étape 1 : RECHERCHEV pour </a:t>
            </a:r>
            <a:r>
              <a:rPr lang="fr-FR" dirty="0" smtClean="0"/>
              <a:t>Prix</a:t>
            </a:r>
          </a:p>
          <a:p>
            <a:pPr lvl="0"/>
            <a:endParaRPr lang="fr-FR" dirty="0"/>
          </a:p>
          <a:p>
            <a:pPr lvl="0"/>
            <a:r>
              <a:rPr lang="fr-FR" dirty="0" smtClean="0"/>
              <a:t>Dans </a:t>
            </a:r>
            <a:r>
              <a:rPr lang="fr-FR" dirty="0"/>
              <a:t>une nouvelle colonne de "Produits", utilisez : </a:t>
            </a:r>
          </a:p>
          <a:p>
            <a:pPr lvl="0"/>
            <a:r>
              <a:rPr lang="fr-FR" dirty="0"/>
              <a:t>=RECHERCHEV(</a:t>
            </a:r>
            <a:r>
              <a:rPr lang="fr-FR" dirty="0">
                <a:solidFill>
                  <a:srgbClr val="7030A0"/>
                </a:solidFill>
              </a:rPr>
              <a:t>A2</a:t>
            </a:r>
            <a:r>
              <a:rPr lang="fr-FR" dirty="0"/>
              <a:t>; </a:t>
            </a:r>
            <a:r>
              <a:rPr lang="fr-FR" dirty="0">
                <a:solidFill>
                  <a:srgbClr val="00B0F0"/>
                </a:solidFill>
              </a:rPr>
              <a:t>Prix!</a:t>
            </a:r>
            <a:r>
              <a:rPr lang="fr-FR" dirty="0">
                <a:solidFill>
                  <a:srgbClr val="0070C0"/>
                </a:solidFill>
              </a:rPr>
              <a:t>$A$2:$B$100</a:t>
            </a:r>
            <a:r>
              <a:rPr lang="fr-FR" dirty="0"/>
              <a:t>; </a:t>
            </a:r>
            <a:r>
              <a:rPr lang="fr-FR" dirty="0">
                <a:solidFill>
                  <a:srgbClr val="00B050"/>
                </a:solidFill>
              </a:rPr>
              <a:t>2</a:t>
            </a:r>
            <a:r>
              <a:rPr lang="fr-FR" dirty="0"/>
              <a:t>; </a:t>
            </a:r>
            <a:r>
              <a:rPr lang="fr-FR" dirty="0">
                <a:solidFill>
                  <a:srgbClr val="FFC000"/>
                </a:solidFill>
              </a:rPr>
              <a:t>FAUX</a:t>
            </a:r>
            <a:r>
              <a:rPr lang="fr-FR" dirty="0"/>
              <a:t>)</a:t>
            </a:r>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14</a:t>
            </a:fld>
            <a:endParaRPr lang="fr-BE" dirty="0"/>
          </a:p>
        </p:txBody>
      </p:sp>
      <p:sp>
        <p:nvSpPr>
          <p:cNvPr id="7" name="Espace réservé du pied de page 6"/>
          <p:cNvSpPr>
            <a:spLocks noGrp="1"/>
          </p:cNvSpPr>
          <p:nvPr>
            <p:ph type="ftr" sz="quarter" idx="11"/>
          </p:nvPr>
        </p:nvSpPr>
        <p:spPr/>
        <p:txBody>
          <a:bodyPr/>
          <a:lstStyle/>
          <a:p>
            <a:r>
              <a:rPr lang="fr-BE" dirty="0"/>
              <a:t>Niveau Intermédiaire</a:t>
            </a:r>
          </a:p>
        </p:txBody>
      </p:sp>
      <p:sp>
        <p:nvSpPr>
          <p:cNvPr id="5" name="Rectangle 4"/>
          <p:cNvSpPr/>
          <p:nvPr/>
        </p:nvSpPr>
        <p:spPr>
          <a:xfrm>
            <a:off x="1085386" y="3268435"/>
            <a:ext cx="6711952" cy="2862322"/>
          </a:xfrm>
          <a:prstGeom prst="rect">
            <a:avLst/>
          </a:prstGeom>
        </p:spPr>
        <p:txBody>
          <a:bodyPr wrap="square">
            <a:spAutoFit/>
          </a:bodyPr>
          <a:lstStyle/>
          <a:p>
            <a:r>
              <a:rPr lang="fr-FR" dirty="0">
                <a:solidFill>
                  <a:srgbClr val="7030A0"/>
                </a:solidFill>
              </a:rPr>
              <a:t>A2</a:t>
            </a:r>
            <a:r>
              <a:rPr lang="fr-FR" dirty="0"/>
              <a:t> : La valeur que vous souhaitez rechercher</a:t>
            </a:r>
            <a:r>
              <a:rPr lang="fr-FR" dirty="0" smtClean="0"/>
              <a:t>.</a:t>
            </a:r>
          </a:p>
          <a:p>
            <a:endParaRPr lang="fr-FR" dirty="0" smtClean="0"/>
          </a:p>
          <a:p>
            <a:r>
              <a:rPr lang="fr-FR" dirty="0" smtClean="0">
                <a:solidFill>
                  <a:srgbClr val="00B0F0"/>
                </a:solidFill>
              </a:rPr>
              <a:t>Prix</a:t>
            </a:r>
            <a:r>
              <a:rPr lang="fr-FR" dirty="0">
                <a:solidFill>
                  <a:srgbClr val="00B0F0"/>
                </a:solidFill>
              </a:rPr>
              <a:t>!</a:t>
            </a:r>
            <a:r>
              <a:rPr lang="fr-FR" dirty="0">
                <a:solidFill>
                  <a:srgbClr val="0070C0"/>
                </a:solidFill>
              </a:rPr>
              <a:t>$A$2:$B$100 </a:t>
            </a:r>
            <a:r>
              <a:rPr lang="fr-FR" dirty="0"/>
              <a:t>: La plage de cellules dans laquelle la recherche doit être effectuée. Elle est située sur une autre feuille nommée "</a:t>
            </a:r>
            <a:r>
              <a:rPr lang="fr-FR" dirty="0">
                <a:solidFill>
                  <a:srgbClr val="00B0F0"/>
                </a:solidFill>
              </a:rPr>
              <a:t>Prix</a:t>
            </a:r>
            <a:r>
              <a:rPr lang="fr-FR" dirty="0" smtClean="0"/>
              <a:t>".</a:t>
            </a:r>
          </a:p>
          <a:p>
            <a:endParaRPr lang="fr-FR" dirty="0" smtClean="0"/>
          </a:p>
          <a:p>
            <a:r>
              <a:rPr lang="fr-FR" dirty="0" smtClean="0">
                <a:solidFill>
                  <a:srgbClr val="00B050"/>
                </a:solidFill>
              </a:rPr>
              <a:t>2</a:t>
            </a:r>
            <a:r>
              <a:rPr lang="fr-FR" dirty="0" smtClean="0"/>
              <a:t> </a:t>
            </a:r>
            <a:r>
              <a:rPr lang="fr-FR" dirty="0"/>
              <a:t>: Le numéro de la colonne dans laquelle se trouve la valeur de retour. Dans ce cas, la deuxième colonne de la plage spécifiée</a:t>
            </a:r>
            <a:r>
              <a:rPr lang="fr-FR" dirty="0" smtClean="0"/>
              <a:t>.</a:t>
            </a:r>
          </a:p>
          <a:p>
            <a:endParaRPr lang="fr-FR" dirty="0"/>
          </a:p>
          <a:p>
            <a:r>
              <a:rPr lang="fr-FR" dirty="0" smtClean="0">
                <a:solidFill>
                  <a:srgbClr val="FFC000"/>
                </a:solidFill>
              </a:rPr>
              <a:t>FAUX</a:t>
            </a:r>
            <a:r>
              <a:rPr lang="fr-FR" dirty="0" smtClean="0"/>
              <a:t> </a:t>
            </a:r>
            <a:r>
              <a:rPr lang="fr-FR" dirty="0"/>
              <a:t>: Représente la recherche exacte (contrairement à VRAI pour une recherche approximative).</a:t>
            </a:r>
            <a:endParaRPr lang="fr-BE" dirty="0"/>
          </a:p>
        </p:txBody>
      </p:sp>
    </p:spTree>
    <p:extLst>
      <p:ext uri="{BB962C8B-B14F-4D97-AF65-F5344CB8AC3E}">
        <p14:creationId xmlns:p14="http://schemas.microsoft.com/office/powerpoint/2010/main" val="30562867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ZoneTexte 1"/>
          <p:cNvSpPr txBox="1"/>
          <p:nvPr/>
        </p:nvSpPr>
        <p:spPr>
          <a:xfrm>
            <a:off x="1085386" y="692696"/>
            <a:ext cx="6182922"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pratique</a:t>
            </a:r>
          </a:p>
        </p:txBody>
      </p:sp>
      <p:sp>
        <p:nvSpPr>
          <p:cNvPr id="3" name="ZoneTexte 2"/>
          <p:cNvSpPr txBox="1"/>
          <p:nvPr/>
        </p:nvSpPr>
        <p:spPr>
          <a:xfrm>
            <a:off x="1085386" y="1772816"/>
            <a:ext cx="7803112" cy="1200329"/>
          </a:xfrm>
          <a:prstGeom prst="rect">
            <a:avLst/>
          </a:prstGeom>
          <a:noFill/>
        </p:spPr>
        <p:txBody>
          <a:bodyPr wrap="square" rtlCol="0">
            <a:spAutoFit/>
          </a:bodyPr>
          <a:lstStyle/>
          <a:p>
            <a:pPr lvl="0"/>
            <a:r>
              <a:rPr lang="fr-FR" dirty="0"/>
              <a:t>Étape 2</a:t>
            </a:r>
            <a:r>
              <a:rPr lang="fr-FR" dirty="0" smtClean="0"/>
              <a:t> </a:t>
            </a:r>
            <a:r>
              <a:rPr lang="fr-FR" dirty="0"/>
              <a:t>: INDEX et EQUIV</a:t>
            </a:r>
            <a:endParaRPr lang="fr-FR" dirty="0" smtClean="0"/>
          </a:p>
          <a:p>
            <a:pPr lvl="0"/>
            <a:endParaRPr lang="fr-FR" dirty="0"/>
          </a:p>
          <a:p>
            <a:pPr lvl="0"/>
            <a:r>
              <a:rPr lang="fr-FR" dirty="0" smtClean="0"/>
              <a:t>Dans </a:t>
            </a:r>
            <a:r>
              <a:rPr lang="fr-FR" dirty="0"/>
              <a:t>une nouvelle colonne </a:t>
            </a:r>
            <a:r>
              <a:rPr lang="fr-FR" dirty="0" smtClean="0"/>
              <a:t>de  "Prix", </a:t>
            </a:r>
            <a:r>
              <a:rPr lang="fr-FR" dirty="0"/>
              <a:t>utilisez : </a:t>
            </a:r>
          </a:p>
          <a:p>
            <a:r>
              <a:rPr lang="fr-BE" dirty="0"/>
              <a:t>=I</a:t>
            </a:r>
            <a:r>
              <a:rPr lang="fr-BE" dirty="0">
                <a:solidFill>
                  <a:srgbClr val="FFC000"/>
                </a:solidFill>
              </a:rPr>
              <a:t>NDEX</a:t>
            </a:r>
            <a:r>
              <a:rPr lang="fr-BE" dirty="0"/>
              <a:t>(Produits!$B$2:$B$100; </a:t>
            </a:r>
            <a:r>
              <a:rPr lang="fr-BE" dirty="0">
                <a:solidFill>
                  <a:schemeClr val="accent2">
                    <a:lumMod val="75000"/>
                  </a:schemeClr>
                </a:solidFill>
              </a:rPr>
              <a:t>EQUIV</a:t>
            </a:r>
            <a:r>
              <a:rPr lang="fr-BE" dirty="0"/>
              <a:t>(A2; Produits!$A$2:$A$100; 0))</a:t>
            </a:r>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15</a:t>
            </a:fld>
            <a:endParaRPr lang="fr-BE" dirty="0"/>
          </a:p>
        </p:txBody>
      </p:sp>
      <p:sp>
        <p:nvSpPr>
          <p:cNvPr id="7" name="Espace réservé du pied de page 6"/>
          <p:cNvSpPr>
            <a:spLocks noGrp="1"/>
          </p:cNvSpPr>
          <p:nvPr>
            <p:ph type="ftr" sz="quarter" idx="11"/>
          </p:nvPr>
        </p:nvSpPr>
        <p:spPr/>
        <p:txBody>
          <a:bodyPr/>
          <a:lstStyle/>
          <a:p>
            <a:r>
              <a:rPr lang="fr-BE" dirty="0"/>
              <a:t>Niveau Intermédiaire</a:t>
            </a:r>
          </a:p>
        </p:txBody>
      </p:sp>
      <p:sp>
        <p:nvSpPr>
          <p:cNvPr id="5" name="Rectangle 4"/>
          <p:cNvSpPr/>
          <p:nvPr/>
        </p:nvSpPr>
        <p:spPr>
          <a:xfrm>
            <a:off x="1085386" y="3268435"/>
            <a:ext cx="6711952" cy="2308324"/>
          </a:xfrm>
          <a:prstGeom prst="rect">
            <a:avLst/>
          </a:prstGeom>
        </p:spPr>
        <p:txBody>
          <a:bodyPr wrap="square">
            <a:spAutoFit/>
          </a:bodyPr>
          <a:lstStyle/>
          <a:p>
            <a:r>
              <a:rPr lang="fr-FR" dirty="0">
                <a:solidFill>
                  <a:srgbClr val="FFC000"/>
                </a:solidFill>
              </a:rPr>
              <a:t>INDEX</a:t>
            </a:r>
            <a:r>
              <a:rPr lang="fr-FR" dirty="0"/>
              <a:t>(Produits!$B$2:$B$100; ...) : Cette partie de la formule indique que vous souhaitez extraire une valeur de la plage Produits!$B$2:$B$100 (colonne B sur la feuille "Produits</a:t>
            </a:r>
            <a:r>
              <a:rPr lang="fr-FR" dirty="0" smtClean="0"/>
              <a:t>").</a:t>
            </a:r>
          </a:p>
          <a:p>
            <a:endParaRPr lang="fr-FR" dirty="0"/>
          </a:p>
          <a:p>
            <a:r>
              <a:rPr lang="fr-FR" dirty="0" smtClean="0">
                <a:solidFill>
                  <a:schemeClr val="accent2">
                    <a:lumMod val="75000"/>
                  </a:schemeClr>
                </a:solidFill>
              </a:rPr>
              <a:t>EQUIV</a:t>
            </a:r>
            <a:r>
              <a:rPr lang="fr-FR" dirty="0" smtClean="0"/>
              <a:t>(A2</a:t>
            </a:r>
            <a:r>
              <a:rPr lang="fr-FR" dirty="0"/>
              <a:t>; Produits!$A$2:$A$100; 0) : Cette partie recherche la valeur de A2 dans la plage Produits!$A$2:$A$100 (colonne A sur la feuille "Produits") et retourne le numéro de ligne où la valeur a été trouvée. Le 0 indique que vous recherchez une correspondance exacte.</a:t>
            </a:r>
            <a:endParaRPr lang="fr-BE" dirty="0"/>
          </a:p>
        </p:txBody>
      </p:sp>
    </p:spTree>
    <p:extLst>
      <p:ext uri="{BB962C8B-B14F-4D97-AF65-F5344CB8AC3E}">
        <p14:creationId xmlns:p14="http://schemas.microsoft.com/office/powerpoint/2010/main" val="16422183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ZoneTexte 4"/>
          <p:cNvSpPr txBox="1"/>
          <p:nvPr/>
        </p:nvSpPr>
        <p:spPr>
          <a:xfrm>
            <a:off x="993945" y="1235404"/>
            <a:ext cx="6894833"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Gestion des </a:t>
            </a:r>
            <a:r>
              <a:rPr lang="fr-FR" sz="4500" dirty="0" smtClean="0">
                <a:solidFill>
                  <a:srgbClr val="00205B"/>
                </a:solidFill>
                <a:latin typeface="Arial" panose="020B0604020202020204" pitchFamily="34" charset="0"/>
                <a:cs typeface="Arial" panose="020B0604020202020204" pitchFamily="34" charset="0"/>
              </a:rPr>
              <a:t>données</a:t>
            </a:r>
            <a:endParaRPr lang="fr-BE" sz="4500" dirty="0">
              <a:solidFill>
                <a:srgbClr val="00205B"/>
              </a:solidFill>
              <a:latin typeface="Arial" panose="020B0604020202020204" pitchFamily="34" charset="0"/>
              <a:cs typeface="Arial" panose="020B0604020202020204" pitchFamily="34" charset="0"/>
            </a:endParaRP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16</a:t>
            </a:fld>
            <a:endParaRPr lang="fr-BE" dirty="0"/>
          </a:p>
        </p:txBody>
      </p:sp>
      <p:sp>
        <p:nvSpPr>
          <p:cNvPr id="3" name="Espace réservé du pied de page 2"/>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24865305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Objectifs pédagogiques</a:t>
            </a:r>
          </a:p>
        </p:txBody>
      </p:sp>
      <p:sp>
        <p:nvSpPr>
          <p:cNvPr id="5" name="ZoneTexte 4"/>
          <p:cNvSpPr txBox="1"/>
          <p:nvPr/>
        </p:nvSpPr>
        <p:spPr>
          <a:xfrm>
            <a:off x="1085386" y="1772816"/>
            <a:ext cx="7803112" cy="2031325"/>
          </a:xfrm>
          <a:prstGeom prst="rect">
            <a:avLst/>
          </a:prstGeom>
          <a:noFill/>
        </p:spPr>
        <p:txBody>
          <a:bodyPr wrap="square" rtlCol="0">
            <a:spAutoFit/>
          </a:bodyPr>
          <a:lstStyle/>
          <a:p>
            <a:pPr lvl="0"/>
            <a:r>
              <a:rPr lang="fr-FR" dirty="0"/>
              <a:t>Techniques de tri et filtrage </a:t>
            </a:r>
            <a:r>
              <a:rPr lang="fr-FR" dirty="0" smtClean="0"/>
              <a:t>avancés</a:t>
            </a:r>
          </a:p>
          <a:p>
            <a:pPr lvl="0"/>
            <a:endParaRPr lang="fr-FR" dirty="0"/>
          </a:p>
          <a:p>
            <a:pPr lvl="0"/>
            <a:r>
              <a:rPr lang="fr-FR" dirty="0" smtClean="0"/>
              <a:t>Validation </a:t>
            </a:r>
            <a:r>
              <a:rPr lang="fr-FR" dirty="0"/>
              <a:t>des </a:t>
            </a:r>
            <a:r>
              <a:rPr lang="fr-FR" dirty="0" smtClean="0"/>
              <a:t>données</a:t>
            </a:r>
          </a:p>
          <a:p>
            <a:pPr lvl="0"/>
            <a:endParaRPr lang="fr-FR" dirty="0"/>
          </a:p>
          <a:p>
            <a:pPr lvl="0"/>
            <a:r>
              <a:rPr lang="fr-FR" dirty="0" smtClean="0"/>
              <a:t>Création </a:t>
            </a:r>
            <a:r>
              <a:rPr lang="fr-FR" dirty="0"/>
              <a:t>de listes </a:t>
            </a:r>
            <a:r>
              <a:rPr lang="fr-FR" dirty="0" smtClean="0"/>
              <a:t>déroulantes</a:t>
            </a:r>
          </a:p>
          <a:p>
            <a:pPr lvl="0"/>
            <a:endParaRPr lang="fr-FR" dirty="0"/>
          </a:p>
          <a:p>
            <a:pPr lvl="0"/>
            <a:r>
              <a:rPr lang="fr-FR" dirty="0" smtClean="0"/>
              <a:t>Utilisation </a:t>
            </a:r>
            <a:r>
              <a:rPr lang="fr-FR" dirty="0"/>
              <a:t>des plages de noms</a:t>
            </a:r>
            <a:endParaRPr lang="fr-BE" dirty="0"/>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17</a:t>
            </a:fld>
            <a:endParaRPr lang="fr-BE"/>
          </a:p>
        </p:txBody>
      </p:sp>
      <p:sp>
        <p:nvSpPr>
          <p:cNvPr id="3" name="Espace réservé du pied de page 2"/>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20943282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ZoneTexte 1"/>
          <p:cNvSpPr txBox="1"/>
          <p:nvPr/>
        </p:nvSpPr>
        <p:spPr>
          <a:xfrm>
            <a:off x="1085386" y="692696"/>
            <a:ext cx="5184576"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Tri et filtres</a:t>
            </a:r>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18</a:t>
            </a:fld>
            <a:endParaRPr lang="fr-BE" dirty="0"/>
          </a:p>
        </p:txBody>
      </p:sp>
      <p:sp>
        <p:nvSpPr>
          <p:cNvPr id="7" name="Espace réservé du pied de page 6"/>
          <p:cNvSpPr>
            <a:spLocks noGrp="1"/>
          </p:cNvSpPr>
          <p:nvPr>
            <p:ph type="ftr" sz="quarter" idx="11"/>
          </p:nvPr>
        </p:nvSpPr>
        <p:spPr/>
        <p:txBody>
          <a:bodyPr/>
          <a:lstStyle/>
          <a:p>
            <a:r>
              <a:rPr lang="fr-BE" dirty="0"/>
              <a:t>Niveau Intermédiaire</a:t>
            </a:r>
          </a:p>
        </p:txBody>
      </p:sp>
      <p:pic>
        <p:nvPicPr>
          <p:cNvPr id="9" name="Image 8"/>
          <p:cNvPicPr>
            <a:picLocks noChangeAspect="1"/>
          </p:cNvPicPr>
          <p:nvPr/>
        </p:nvPicPr>
        <p:blipFill>
          <a:blip r:embed="rId3"/>
          <a:stretch>
            <a:fillRect/>
          </a:stretch>
        </p:blipFill>
        <p:spPr>
          <a:xfrm>
            <a:off x="4809505" y="1645433"/>
            <a:ext cx="1571844" cy="2305372"/>
          </a:xfrm>
          <a:prstGeom prst="rect">
            <a:avLst/>
          </a:prstGeom>
        </p:spPr>
      </p:pic>
      <p:pic>
        <p:nvPicPr>
          <p:cNvPr id="10" name="Image 9"/>
          <p:cNvPicPr>
            <a:picLocks noChangeAspect="1"/>
          </p:cNvPicPr>
          <p:nvPr/>
        </p:nvPicPr>
        <p:blipFill>
          <a:blip r:embed="rId4"/>
          <a:stretch>
            <a:fillRect/>
          </a:stretch>
        </p:blipFill>
        <p:spPr>
          <a:xfrm>
            <a:off x="6680417" y="1645433"/>
            <a:ext cx="2505425" cy="4229690"/>
          </a:xfrm>
          <a:prstGeom prst="rect">
            <a:avLst/>
          </a:prstGeom>
        </p:spPr>
      </p:pic>
      <p:pic>
        <p:nvPicPr>
          <p:cNvPr id="11" name="Image 10"/>
          <p:cNvPicPr>
            <a:picLocks noChangeAspect="1"/>
          </p:cNvPicPr>
          <p:nvPr/>
        </p:nvPicPr>
        <p:blipFill>
          <a:blip r:embed="rId5"/>
          <a:stretch>
            <a:fillRect/>
          </a:stretch>
        </p:blipFill>
        <p:spPr>
          <a:xfrm>
            <a:off x="9484910" y="1645433"/>
            <a:ext cx="1924319" cy="990738"/>
          </a:xfrm>
          <a:prstGeom prst="rect">
            <a:avLst/>
          </a:prstGeom>
        </p:spPr>
      </p:pic>
      <p:sp>
        <p:nvSpPr>
          <p:cNvPr id="12" name="Rectangle 1"/>
          <p:cNvSpPr>
            <a:spLocks noChangeArrowheads="1"/>
          </p:cNvSpPr>
          <p:nvPr/>
        </p:nvSpPr>
        <p:spPr bwMode="auto">
          <a:xfrm>
            <a:off x="1023899" y="1477526"/>
            <a:ext cx="315990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smtClean="0">
                <a:ln>
                  <a:noFill/>
                </a:ln>
                <a:solidFill>
                  <a:schemeClr val="tx1"/>
                </a:solidFill>
                <a:effectLst/>
                <a:latin typeface="Arial" panose="020B0604020202020204" pitchFamily="34" charset="0"/>
              </a:rPr>
              <a:t>Tri simple vs </a:t>
            </a:r>
            <a:r>
              <a:rPr kumimoji="0" lang="fr-FR" altLang="fr-FR" sz="1800" b="0" i="0" u="none" strike="noStrike" cap="none" normalizeH="0" baseline="0" dirty="0" err="1" smtClean="0">
                <a:ln>
                  <a:noFill/>
                </a:ln>
                <a:solidFill>
                  <a:schemeClr val="tx1"/>
                </a:solidFill>
                <a:effectLst/>
                <a:latin typeface="Arial" panose="020B0604020202020204" pitchFamily="34" charset="0"/>
              </a:rPr>
              <a:t>multi-critères</a:t>
            </a:r>
            <a:r>
              <a:rPr kumimoji="0" lang="fr-FR" altLang="fr-FR"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smtClean="0">
                <a:ln>
                  <a:noFill/>
                </a:ln>
                <a:solidFill>
                  <a:schemeClr val="tx1"/>
                </a:solidFill>
                <a:effectLst/>
                <a:latin typeface="Arial" panose="020B0604020202020204" pitchFamily="34" charset="0"/>
              </a:rPr>
              <a:t>Options de tri personnalisé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smtClean="0">
                <a:ln>
                  <a:noFill/>
                </a:ln>
                <a:solidFill>
                  <a:schemeClr val="tx1"/>
                </a:solidFill>
                <a:effectLst/>
                <a:latin typeface="Arial" panose="020B0604020202020204" pitchFamily="34" charset="0"/>
              </a:rPr>
              <a:t>Filtres automatiques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smtClean="0">
                <a:ln>
                  <a:noFill/>
                </a:ln>
                <a:solidFill>
                  <a:schemeClr val="tx1"/>
                </a:solidFill>
                <a:effectLst/>
                <a:latin typeface="Arial" panose="020B0604020202020204" pitchFamily="34" charset="0"/>
              </a:rPr>
              <a:t>Filtres avancés </a:t>
            </a:r>
          </a:p>
          <a:p>
            <a:pPr marL="0" marR="0" lvl="0" indent="0" algn="l" defTabSz="914400" rtl="0" eaLnBrk="0" fontAlgn="base" latinLnBrk="0" hangingPunct="0">
              <a:lnSpc>
                <a:spcPct val="100000"/>
              </a:lnSpc>
              <a:spcBef>
                <a:spcPct val="0"/>
              </a:spcBef>
              <a:spcAft>
                <a:spcPct val="0"/>
              </a:spcAft>
              <a:buClrTx/>
              <a:buSzTx/>
              <a:buFontTx/>
              <a:buChar char="•"/>
              <a:tabLst/>
            </a:pPr>
            <a:endParaRPr lang="fr-FR" altLang="fr-FR" dirty="0">
              <a:latin typeface="Arial" panose="020B0604020202020204" pitchFamily="34" charset="0"/>
            </a:endParaRPr>
          </a:p>
          <a:p>
            <a:pPr lvl="0" eaLnBrk="0" fontAlgn="base" hangingPunct="0">
              <a:spcBef>
                <a:spcPct val="0"/>
              </a:spcBef>
              <a:spcAft>
                <a:spcPct val="0"/>
              </a:spcAft>
            </a:pPr>
            <a:r>
              <a:rPr lang="fr-FR" altLang="fr-FR" dirty="0" smtClean="0">
                <a:latin typeface="Arial" panose="020B0604020202020204" pitchFamily="34" charset="0"/>
              </a:rPr>
              <a:t>Ouvrir le fichier : </a:t>
            </a:r>
            <a:r>
              <a:rPr lang="fr-FR" altLang="fr-FR" dirty="0" smtClean="0">
                <a:latin typeface="Arial" panose="020B0604020202020204" pitchFamily="34" charset="0"/>
              </a:rPr>
              <a:t>TriFiltre.xlsx</a:t>
            </a:r>
          </a:p>
          <a:p>
            <a:pPr lvl="0" eaLnBrk="0" fontAlgn="base" hangingPunct="0">
              <a:spcBef>
                <a:spcPct val="0"/>
              </a:spcBef>
              <a:spcAft>
                <a:spcPct val="0"/>
              </a:spcAft>
            </a:pPr>
            <a:endParaRPr kumimoji="0" lang="fr-FR" altLang="fr-FR" sz="1800" b="0" i="0" u="none" strike="noStrike" cap="none" normalizeH="0" baseline="0" dirty="0" smtClean="0">
              <a:ln>
                <a:noFill/>
              </a:ln>
              <a:solidFill>
                <a:schemeClr val="tx1"/>
              </a:solidFill>
              <a:effectLst/>
              <a:latin typeface="Arial" panose="020B0604020202020204" pitchFamily="34" charset="0"/>
            </a:endParaRPr>
          </a:p>
          <a:p>
            <a:pPr lvl="0" eaLnBrk="0" fontAlgn="base" hangingPunct="0">
              <a:spcBef>
                <a:spcPct val="0"/>
              </a:spcBef>
              <a:spcAft>
                <a:spcPct val="0"/>
              </a:spcAf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r>
              <a:rPr lang="fr-FR" altLang="fr-FR" dirty="0" smtClean="0">
                <a:latin typeface="Arial" panose="020B0604020202020204" pitchFamily="34" charset="0"/>
              </a:rPr>
              <a:t>5* @</a:t>
            </a:r>
            <a:r>
              <a:rPr lang="fr-FR" altLang="fr-FR" dirty="0" err="1" smtClean="0">
                <a:latin typeface="Arial" panose="020B0604020202020204" pitchFamily="34" charset="0"/>
              </a:rPr>
              <a:t>Bxl</a:t>
            </a:r>
            <a:r>
              <a:rPr lang="fr-FR" altLang="fr-FR" dirty="0" smtClean="0">
                <a:latin typeface="Arial" panose="020B0604020202020204" pitchFamily="34" charset="0"/>
              </a:rPr>
              <a:t> &lt;200</a:t>
            </a:r>
          </a:p>
        </p:txBody>
      </p:sp>
      <p:pic>
        <p:nvPicPr>
          <p:cNvPr id="3" name="Image 2"/>
          <p:cNvPicPr>
            <a:picLocks noChangeAspect="1"/>
          </p:cNvPicPr>
          <p:nvPr/>
        </p:nvPicPr>
        <p:blipFill>
          <a:blip r:embed="rId6"/>
          <a:stretch>
            <a:fillRect/>
          </a:stretch>
        </p:blipFill>
        <p:spPr>
          <a:xfrm>
            <a:off x="630675" y="3617711"/>
            <a:ext cx="3659971" cy="265360"/>
          </a:xfrm>
          <a:prstGeom prst="rect">
            <a:avLst/>
          </a:prstGeom>
        </p:spPr>
      </p:pic>
    </p:spTree>
    <p:extLst>
      <p:ext uri="{BB962C8B-B14F-4D97-AF65-F5344CB8AC3E}">
        <p14:creationId xmlns:p14="http://schemas.microsoft.com/office/powerpoint/2010/main" val="35604241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ZoneTexte 1"/>
          <p:cNvSpPr txBox="1"/>
          <p:nvPr/>
        </p:nvSpPr>
        <p:spPr>
          <a:xfrm>
            <a:off x="1085386" y="692696"/>
            <a:ext cx="6182922"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Validation des données</a:t>
            </a:r>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19</a:t>
            </a:fld>
            <a:endParaRPr lang="fr-BE" dirty="0"/>
          </a:p>
        </p:txBody>
      </p:sp>
      <p:sp>
        <p:nvSpPr>
          <p:cNvPr id="7" name="Espace réservé du pied de page 6"/>
          <p:cNvSpPr>
            <a:spLocks noGrp="1"/>
          </p:cNvSpPr>
          <p:nvPr>
            <p:ph type="ftr" sz="quarter" idx="11"/>
          </p:nvPr>
        </p:nvSpPr>
        <p:spPr/>
        <p:txBody>
          <a:bodyPr/>
          <a:lstStyle/>
          <a:p>
            <a:r>
              <a:rPr lang="fr-BE" dirty="0"/>
              <a:t>Niveau Intermédiaire</a:t>
            </a:r>
          </a:p>
        </p:txBody>
      </p:sp>
      <p:sp>
        <p:nvSpPr>
          <p:cNvPr id="10" name="Rectangle 1"/>
          <p:cNvSpPr>
            <a:spLocks noChangeArrowheads="1"/>
          </p:cNvSpPr>
          <p:nvPr/>
        </p:nvSpPr>
        <p:spPr bwMode="auto">
          <a:xfrm>
            <a:off x="1085386" y="1754524"/>
            <a:ext cx="6724918"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fr-FR" altLang="fr-FR" dirty="0" smtClean="0">
                <a:latin typeface="Arial" panose="020B0604020202020204" pitchFamily="34" charset="0"/>
              </a:rPr>
              <a:t>Exercice </a:t>
            </a:r>
            <a:r>
              <a:rPr lang="fr-FR" altLang="fr-FR" dirty="0">
                <a:latin typeface="Arial" panose="020B0604020202020204" pitchFamily="34" charset="0"/>
              </a:rPr>
              <a:t>4 : Validation et Gestion des </a:t>
            </a:r>
            <a:r>
              <a:rPr lang="fr-FR" altLang="fr-FR" dirty="0" smtClean="0">
                <a:latin typeface="Arial" panose="020B0604020202020204" pitchFamily="34" charset="0"/>
              </a:rPr>
              <a:t>Données</a:t>
            </a:r>
          </a:p>
          <a:p>
            <a:pPr lvl="0" eaLnBrk="0" fontAlgn="base" hangingPunct="0">
              <a:spcBef>
                <a:spcPct val="0"/>
              </a:spcBef>
              <a:spcAft>
                <a:spcPct val="0"/>
              </a:spcAft>
            </a:pPr>
            <a:endParaRPr lang="fr-FR" altLang="fr-FR" dirty="0" smtClean="0">
              <a:latin typeface="Arial" panose="020B0604020202020204" pitchFamily="34" charset="0"/>
            </a:endParaRPr>
          </a:p>
          <a:p>
            <a:pPr lvl="0" eaLnBrk="0" fontAlgn="base" hangingPunct="0">
              <a:spcBef>
                <a:spcPct val="0"/>
              </a:spcBef>
              <a:spcAft>
                <a:spcPct val="0"/>
              </a:spcAft>
            </a:pPr>
            <a:r>
              <a:rPr lang="fr-FR" altLang="fr-FR" dirty="0" smtClean="0">
                <a:latin typeface="Arial" panose="020B0604020202020204" pitchFamily="34" charset="0"/>
              </a:rPr>
              <a:t>Objectif : Créer </a:t>
            </a:r>
            <a:r>
              <a:rPr lang="fr-FR" altLang="fr-FR" dirty="0">
                <a:latin typeface="Arial" panose="020B0604020202020204" pitchFamily="34" charset="0"/>
              </a:rPr>
              <a:t>une feuille de saisie contrôlée et </a:t>
            </a:r>
            <a:r>
              <a:rPr lang="fr-FR" altLang="fr-FR" dirty="0" smtClean="0">
                <a:latin typeface="Arial" panose="020B0604020202020204" pitchFamily="34" charset="0"/>
              </a:rPr>
              <a:t>efficace :</a:t>
            </a:r>
          </a:p>
          <a:p>
            <a:pPr lvl="0" eaLnBrk="0" fontAlgn="base" hangingPunct="0">
              <a:spcBef>
                <a:spcPct val="0"/>
              </a:spcBef>
              <a:spcAft>
                <a:spcPct val="0"/>
              </a:spcAft>
            </a:pPr>
            <a:endParaRPr lang="fr-FR" altLang="fr-FR" dirty="0">
              <a:latin typeface="Arial" panose="020B0604020202020204" pitchFamily="34" charset="0"/>
            </a:endParaRPr>
          </a:p>
          <a:p>
            <a:pPr lvl="0" eaLnBrk="0" fontAlgn="base" hangingPunct="0">
              <a:spcBef>
                <a:spcPct val="0"/>
              </a:spcBef>
              <a:spcAft>
                <a:spcPct val="0"/>
              </a:spcAft>
            </a:pPr>
            <a:r>
              <a:rPr lang="fr-FR" altLang="fr-FR" dirty="0">
                <a:latin typeface="Arial" panose="020B0604020202020204" pitchFamily="34" charset="0"/>
              </a:rPr>
              <a:t>1.	Créez une liste déroulante pour la sélection de : </a:t>
            </a:r>
          </a:p>
          <a:p>
            <a:pPr lvl="0" eaLnBrk="0" fontAlgn="base" hangingPunct="0">
              <a:spcBef>
                <a:spcPct val="0"/>
              </a:spcBef>
              <a:spcAft>
                <a:spcPct val="0"/>
              </a:spcAft>
            </a:pPr>
            <a:r>
              <a:rPr lang="fr-FR" altLang="fr-FR" dirty="0">
                <a:latin typeface="Arial" panose="020B0604020202020204" pitchFamily="34" charset="0"/>
              </a:rPr>
              <a:t>	Régions</a:t>
            </a:r>
          </a:p>
          <a:p>
            <a:pPr lvl="0" eaLnBrk="0" fontAlgn="base" hangingPunct="0">
              <a:spcBef>
                <a:spcPct val="0"/>
              </a:spcBef>
              <a:spcAft>
                <a:spcPct val="0"/>
              </a:spcAft>
            </a:pPr>
            <a:r>
              <a:rPr lang="fr-FR" altLang="fr-FR" dirty="0">
                <a:latin typeface="Arial" panose="020B0604020202020204" pitchFamily="34" charset="0"/>
              </a:rPr>
              <a:t>	Types de produits</a:t>
            </a:r>
          </a:p>
          <a:p>
            <a:pPr lvl="0" eaLnBrk="0" fontAlgn="base" hangingPunct="0">
              <a:spcBef>
                <a:spcPct val="0"/>
              </a:spcBef>
              <a:spcAft>
                <a:spcPct val="0"/>
              </a:spcAft>
            </a:pPr>
            <a:r>
              <a:rPr lang="fr-FR" altLang="fr-FR" dirty="0">
                <a:latin typeface="Arial" panose="020B0604020202020204" pitchFamily="34" charset="0"/>
              </a:rPr>
              <a:t>	Commerciaux</a:t>
            </a:r>
          </a:p>
          <a:p>
            <a:pPr lvl="0" eaLnBrk="0" fontAlgn="base" hangingPunct="0">
              <a:spcBef>
                <a:spcPct val="0"/>
              </a:spcBef>
              <a:spcAft>
                <a:spcPct val="0"/>
              </a:spcAft>
            </a:pPr>
            <a:r>
              <a:rPr lang="fr-FR" altLang="fr-FR" dirty="0">
                <a:latin typeface="Arial" panose="020B0604020202020204" pitchFamily="34" charset="0"/>
              </a:rPr>
              <a:t>2.	Appliquez des règles de validation : </a:t>
            </a:r>
          </a:p>
          <a:p>
            <a:pPr lvl="0" eaLnBrk="0" fontAlgn="base" hangingPunct="0">
              <a:spcBef>
                <a:spcPct val="0"/>
              </a:spcBef>
              <a:spcAft>
                <a:spcPct val="0"/>
              </a:spcAft>
            </a:pPr>
            <a:r>
              <a:rPr lang="fr-FR" altLang="fr-FR" dirty="0">
                <a:latin typeface="Arial" panose="020B0604020202020204" pitchFamily="34" charset="0"/>
              </a:rPr>
              <a:t>	Quantité </a:t>
            </a:r>
            <a:r>
              <a:rPr lang="fr-FR" altLang="fr-FR" dirty="0">
                <a:solidFill>
                  <a:schemeClr val="accent6"/>
                </a:solidFill>
                <a:latin typeface="Arial" panose="020B0604020202020204" pitchFamily="34" charset="0"/>
              </a:rPr>
              <a:t>entre 0 et 1000</a:t>
            </a:r>
          </a:p>
          <a:p>
            <a:pPr lvl="0" eaLnBrk="0" fontAlgn="base" hangingPunct="0">
              <a:spcBef>
                <a:spcPct val="0"/>
              </a:spcBef>
              <a:spcAft>
                <a:spcPct val="0"/>
              </a:spcAft>
            </a:pPr>
            <a:r>
              <a:rPr lang="fr-FR" altLang="fr-FR" dirty="0">
                <a:latin typeface="Arial" panose="020B0604020202020204" pitchFamily="34" charset="0"/>
              </a:rPr>
              <a:t>	Prix </a:t>
            </a:r>
            <a:r>
              <a:rPr lang="fr-FR" altLang="fr-FR" dirty="0">
                <a:solidFill>
                  <a:schemeClr val="accent6"/>
                </a:solidFill>
                <a:latin typeface="Arial" panose="020B0604020202020204" pitchFamily="34" charset="0"/>
              </a:rPr>
              <a:t>positif</a:t>
            </a:r>
          </a:p>
          <a:p>
            <a:pPr lvl="0" eaLnBrk="0" fontAlgn="base" hangingPunct="0">
              <a:spcBef>
                <a:spcPct val="0"/>
              </a:spcBef>
              <a:spcAft>
                <a:spcPct val="0"/>
              </a:spcAft>
            </a:pPr>
            <a:r>
              <a:rPr lang="fr-FR" altLang="fr-FR" dirty="0">
                <a:latin typeface="Arial" panose="020B0604020202020204" pitchFamily="34" charset="0"/>
              </a:rPr>
              <a:t>	Date de vente </a:t>
            </a:r>
            <a:r>
              <a:rPr lang="fr-FR" altLang="fr-FR" dirty="0">
                <a:solidFill>
                  <a:schemeClr val="accent6"/>
                </a:solidFill>
                <a:latin typeface="Arial" panose="020B0604020202020204" pitchFamily="34" charset="0"/>
              </a:rPr>
              <a:t>dans une plage valide</a:t>
            </a:r>
          </a:p>
          <a:p>
            <a:pPr lvl="0" eaLnBrk="0" fontAlgn="base" hangingPunct="0">
              <a:spcBef>
                <a:spcPct val="0"/>
              </a:spcBef>
              <a:spcAft>
                <a:spcPct val="0"/>
              </a:spcAft>
            </a:pPr>
            <a:r>
              <a:rPr lang="fr-FR" altLang="fr-FR" dirty="0">
                <a:latin typeface="Arial" panose="020B0604020202020204" pitchFamily="34" charset="0"/>
              </a:rPr>
              <a:t>3.	Utilisez une plage nommée pour faciliter les références</a:t>
            </a:r>
          </a:p>
        </p:txBody>
      </p:sp>
    </p:spTree>
    <p:extLst>
      <p:ext uri="{BB962C8B-B14F-4D97-AF65-F5344CB8AC3E}">
        <p14:creationId xmlns:p14="http://schemas.microsoft.com/office/powerpoint/2010/main" val="18904544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a:t>
            </a:r>
            <a:r>
              <a:rPr lang="fr-FR" sz="4500" dirty="0" smtClean="0">
                <a:solidFill>
                  <a:srgbClr val="00205B"/>
                </a:solidFill>
                <a:latin typeface="Arial" panose="020B0604020202020204" pitchFamily="34" charset="0"/>
                <a:cs typeface="Arial" panose="020B0604020202020204" pitchFamily="34" charset="0"/>
              </a:rPr>
              <a:t>pratique</a:t>
            </a:r>
            <a:endParaRPr lang="fr-FR" sz="4500" dirty="0">
              <a:solidFill>
                <a:srgbClr val="00205B"/>
              </a:solidFill>
              <a:latin typeface="Arial" panose="020B0604020202020204" pitchFamily="34" charset="0"/>
              <a:cs typeface="Arial" panose="020B0604020202020204" pitchFamily="34" charset="0"/>
            </a:endParaRPr>
          </a:p>
        </p:txBody>
      </p:sp>
      <p:sp>
        <p:nvSpPr>
          <p:cNvPr id="5" name="ZoneTexte 4"/>
          <p:cNvSpPr txBox="1"/>
          <p:nvPr/>
        </p:nvSpPr>
        <p:spPr>
          <a:xfrm>
            <a:off x="1085386" y="1772816"/>
            <a:ext cx="7803112" cy="2585323"/>
          </a:xfrm>
          <a:prstGeom prst="rect">
            <a:avLst/>
          </a:prstGeom>
          <a:noFill/>
        </p:spPr>
        <p:txBody>
          <a:bodyPr wrap="square" rtlCol="0">
            <a:spAutoFit/>
          </a:bodyPr>
          <a:lstStyle/>
          <a:p>
            <a:r>
              <a:rPr lang="fr-BE" b="1" dirty="0"/>
              <a:t>Étape 1 : Liste Déroulante </a:t>
            </a:r>
            <a:r>
              <a:rPr lang="fr-BE" b="1" dirty="0" smtClean="0"/>
              <a:t>Régions ( Types de produits et Commerciaux )</a:t>
            </a:r>
          </a:p>
          <a:p>
            <a:endParaRPr lang="fr-BE" dirty="0"/>
          </a:p>
          <a:p>
            <a:pPr lvl="0"/>
            <a:r>
              <a:rPr lang="fr-BE" dirty="0" smtClean="0"/>
              <a:t>Créez la </a:t>
            </a:r>
            <a:r>
              <a:rPr lang="fr-BE" dirty="0"/>
              <a:t>colonne </a:t>
            </a:r>
            <a:r>
              <a:rPr lang="fr-BE" dirty="0" smtClean="0"/>
              <a:t>Région et sélectionnez la,</a:t>
            </a:r>
          </a:p>
          <a:p>
            <a:pPr lvl="0"/>
            <a:endParaRPr lang="fr-BE" dirty="0" smtClean="0"/>
          </a:p>
          <a:p>
            <a:pPr lvl="0"/>
            <a:r>
              <a:rPr lang="fr-BE" dirty="0" smtClean="0"/>
              <a:t>Aller </a:t>
            </a:r>
            <a:r>
              <a:rPr lang="fr-BE" dirty="0"/>
              <a:t>dans Données &gt; Validation de </a:t>
            </a:r>
            <a:r>
              <a:rPr lang="fr-BE" dirty="0" smtClean="0"/>
              <a:t>données</a:t>
            </a:r>
          </a:p>
          <a:p>
            <a:pPr lvl="0"/>
            <a:endParaRPr lang="fr-BE" dirty="0"/>
          </a:p>
          <a:p>
            <a:pPr lvl="0"/>
            <a:r>
              <a:rPr lang="fr-BE" dirty="0" smtClean="0"/>
              <a:t>Dans Autoriser : choisissez « Liste »</a:t>
            </a:r>
          </a:p>
          <a:p>
            <a:pPr lvl="0"/>
            <a:endParaRPr lang="fr-BE" dirty="0"/>
          </a:p>
          <a:p>
            <a:r>
              <a:rPr lang="fr-BE" dirty="0"/>
              <a:t>Dans "Source", entrez : </a:t>
            </a:r>
            <a:r>
              <a:rPr lang="fr-BE" dirty="0" smtClean="0"/>
              <a:t>Liège; Namur; Verviers; Bruxelles (ou créez une table)</a:t>
            </a:r>
            <a:endParaRPr lang="fr-BE" dirty="0"/>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20</a:t>
            </a:fld>
            <a:endParaRPr lang="fr-BE"/>
          </a:p>
        </p:txBody>
      </p:sp>
      <p:sp>
        <p:nvSpPr>
          <p:cNvPr id="3" name="Espace réservé du pied de page 2"/>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202144114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a:t>
            </a:r>
            <a:r>
              <a:rPr lang="fr-FR" sz="4500" dirty="0" smtClean="0">
                <a:solidFill>
                  <a:srgbClr val="00205B"/>
                </a:solidFill>
                <a:latin typeface="Arial" panose="020B0604020202020204" pitchFamily="34" charset="0"/>
                <a:cs typeface="Arial" panose="020B0604020202020204" pitchFamily="34" charset="0"/>
              </a:rPr>
              <a:t>pratique</a:t>
            </a:r>
            <a:endParaRPr lang="fr-FR" sz="4500" dirty="0">
              <a:solidFill>
                <a:srgbClr val="00205B"/>
              </a:solidFill>
              <a:latin typeface="Arial" panose="020B0604020202020204" pitchFamily="34" charset="0"/>
              <a:cs typeface="Arial" panose="020B0604020202020204" pitchFamily="34" charset="0"/>
            </a:endParaRPr>
          </a:p>
        </p:txBody>
      </p:sp>
      <p:sp>
        <p:nvSpPr>
          <p:cNvPr id="5" name="ZoneTexte 4"/>
          <p:cNvSpPr txBox="1"/>
          <p:nvPr/>
        </p:nvSpPr>
        <p:spPr>
          <a:xfrm>
            <a:off x="1085386" y="1772816"/>
            <a:ext cx="7803112" cy="2462213"/>
          </a:xfrm>
          <a:prstGeom prst="rect">
            <a:avLst/>
          </a:prstGeom>
          <a:noFill/>
        </p:spPr>
        <p:txBody>
          <a:bodyPr wrap="square" rtlCol="0">
            <a:spAutoFit/>
          </a:bodyPr>
          <a:lstStyle/>
          <a:p>
            <a:r>
              <a:rPr lang="fr-BE" b="1" dirty="0"/>
              <a:t>Étape 2 : Validation </a:t>
            </a:r>
            <a:r>
              <a:rPr lang="fr-BE" b="1" dirty="0" smtClean="0"/>
              <a:t>Quantité ( Prix et Date de vente )</a:t>
            </a:r>
          </a:p>
          <a:p>
            <a:endParaRPr lang="fr-BE" sz="1400" dirty="0"/>
          </a:p>
          <a:p>
            <a:pPr lvl="0"/>
            <a:r>
              <a:rPr lang="fr-BE" dirty="0" smtClean="0"/>
              <a:t>Créez et sélectionnez </a:t>
            </a:r>
            <a:r>
              <a:rPr lang="fr-BE" dirty="0"/>
              <a:t>la colonne </a:t>
            </a:r>
            <a:r>
              <a:rPr lang="fr-BE" dirty="0" smtClean="0"/>
              <a:t>Quantité</a:t>
            </a:r>
          </a:p>
          <a:p>
            <a:pPr lvl="0"/>
            <a:endParaRPr lang="fr-BE" sz="1600" dirty="0"/>
          </a:p>
          <a:p>
            <a:pPr lvl="0"/>
            <a:r>
              <a:rPr lang="fr-BE" dirty="0"/>
              <a:t>Données &gt; Validation de </a:t>
            </a:r>
            <a:r>
              <a:rPr lang="fr-BE" dirty="0" smtClean="0"/>
              <a:t>données</a:t>
            </a:r>
          </a:p>
          <a:p>
            <a:pPr lvl="0"/>
            <a:endParaRPr lang="fr-BE" sz="1600" dirty="0"/>
          </a:p>
          <a:p>
            <a:pPr lvl="0"/>
            <a:r>
              <a:rPr lang="fr-BE" dirty="0"/>
              <a:t>Paramètres : </a:t>
            </a:r>
            <a:endParaRPr lang="fr-BE" sz="1600" dirty="0"/>
          </a:p>
          <a:p>
            <a:pPr lvl="1"/>
            <a:r>
              <a:rPr lang="fr-BE" dirty="0" smtClean="0"/>
              <a:t>         Autoriser </a:t>
            </a:r>
            <a:r>
              <a:rPr lang="fr-BE" dirty="0"/>
              <a:t>: Nombre entier</a:t>
            </a:r>
            <a:endParaRPr lang="fr-BE" sz="1600" dirty="0"/>
          </a:p>
          <a:p>
            <a:r>
              <a:rPr lang="fr-BE" dirty="0" smtClean="0"/>
              <a:t>	Entre </a:t>
            </a:r>
            <a:r>
              <a:rPr lang="fr-BE" dirty="0"/>
              <a:t>: 0 et 1000</a:t>
            </a: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21</a:t>
            </a:fld>
            <a:endParaRPr lang="fr-BE"/>
          </a:p>
        </p:txBody>
      </p:sp>
      <p:sp>
        <p:nvSpPr>
          <p:cNvPr id="3" name="Espace réservé du pied de page 2"/>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109793035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a:t>
            </a:r>
            <a:r>
              <a:rPr lang="fr-FR" sz="4500" dirty="0" smtClean="0">
                <a:solidFill>
                  <a:srgbClr val="00205B"/>
                </a:solidFill>
                <a:latin typeface="Arial" panose="020B0604020202020204" pitchFamily="34" charset="0"/>
                <a:cs typeface="Arial" panose="020B0604020202020204" pitchFamily="34" charset="0"/>
              </a:rPr>
              <a:t>pratique</a:t>
            </a:r>
            <a:endParaRPr lang="fr-FR" sz="4500" dirty="0">
              <a:solidFill>
                <a:srgbClr val="00205B"/>
              </a:solidFill>
              <a:latin typeface="Arial" panose="020B0604020202020204" pitchFamily="34" charset="0"/>
              <a:cs typeface="Arial" panose="020B0604020202020204" pitchFamily="34" charset="0"/>
            </a:endParaRPr>
          </a:p>
        </p:txBody>
      </p:sp>
      <p:sp>
        <p:nvSpPr>
          <p:cNvPr id="5" name="ZoneTexte 4"/>
          <p:cNvSpPr txBox="1"/>
          <p:nvPr/>
        </p:nvSpPr>
        <p:spPr>
          <a:xfrm>
            <a:off x="1085386" y="1772816"/>
            <a:ext cx="7803112" cy="1477328"/>
          </a:xfrm>
          <a:prstGeom prst="rect">
            <a:avLst/>
          </a:prstGeom>
          <a:noFill/>
        </p:spPr>
        <p:txBody>
          <a:bodyPr wrap="square" rtlCol="0">
            <a:spAutoFit/>
          </a:bodyPr>
          <a:lstStyle/>
          <a:p>
            <a:r>
              <a:rPr lang="fr-BE" b="1" dirty="0"/>
              <a:t>Étape 3 : Plage </a:t>
            </a:r>
            <a:r>
              <a:rPr lang="fr-BE" b="1" dirty="0" smtClean="0"/>
              <a:t>Nommée</a:t>
            </a:r>
          </a:p>
          <a:p>
            <a:endParaRPr lang="fr-BE" dirty="0"/>
          </a:p>
          <a:p>
            <a:pPr lvl="0"/>
            <a:r>
              <a:rPr lang="fr-BE" dirty="0"/>
              <a:t>Aller dans Formules &gt; Gestionnaire de </a:t>
            </a:r>
            <a:r>
              <a:rPr lang="fr-BE" dirty="0" smtClean="0"/>
              <a:t>noms</a:t>
            </a:r>
          </a:p>
          <a:p>
            <a:pPr lvl="0"/>
            <a:endParaRPr lang="fr-BE" dirty="0"/>
          </a:p>
          <a:p>
            <a:r>
              <a:rPr lang="fr-BE" dirty="0"/>
              <a:t>Créez une plage nommée </a:t>
            </a:r>
            <a:r>
              <a:rPr lang="fr-BE" dirty="0" smtClean="0"/>
              <a:t>« Commerciaux »</a:t>
            </a:r>
            <a:endParaRPr lang="fr-BE" dirty="0"/>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22</a:t>
            </a:fld>
            <a:endParaRPr lang="fr-BE"/>
          </a:p>
        </p:txBody>
      </p:sp>
      <p:sp>
        <p:nvSpPr>
          <p:cNvPr id="3" name="Espace réservé du pied de page 2"/>
          <p:cNvSpPr>
            <a:spLocks noGrp="1"/>
          </p:cNvSpPr>
          <p:nvPr>
            <p:ph type="ftr" sz="quarter" idx="11"/>
          </p:nvPr>
        </p:nvSpPr>
        <p:spPr/>
        <p:txBody>
          <a:bodyPr/>
          <a:lstStyle/>
          <a:p>
            <a:r>
              <a:rPr lang="fr-BE" dirty="0"/>
              <a:t>Niveau Intermédiaire</a:t>
            </a:r>
          </a:p>
        </p:txBody>
      </p:sp>
      <p:sp>
        <p:nvSpPr>
          <p:cNvPr id="6" name="Rectangle 1"/>
          <p:cNvSpPr>
            <a:spLocks noChangeArrowheads="1"/>
          </p:cNvSpPr>
          <p:nvPr/>
        </p:nvSpPr>
        <p:spPr bwMode="auto">
          <a:xfrm>
            <a:off x="1085385" y="3545434"/>
            <a:ext cx="320151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smtClean="0">
                <a:ln>
                  <a:noFill/>
                </a:ln>
                <a:solidFill>
                  <a:schemeClr val="tx1"/>
                </a:solidFill>
                <a:effectLst/>
                <a:latin typeface="Arial" panose="020B0604020202020204" pitchFamily="34" charset="0"/>
              </a:rPr>
              <a:t>Création de noms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smtClean="0">
                <a:ln>
                  <a:noFill/>
                </a:ln>
                <a:solidFill>
                  <a:schemeClr val="tx1"/>
                </a:solidFill>
                <a:effectLst/>
                <a:latin typeface="Arial" panose="020B0604020202020204" pitchFamily="34" charset="0"/>
              </a:rPr>
              <a:t>Utilisation dans les formules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smtClean="0">
                <a:ln>
                  <a:noFill/>
                </a:ln>
                <a:solidFill>
                  <a:schemeClr val="tx1"/>
                </a:solidFill>
                <a:effectLst/>
                <a:latin typeface="Arial" panose="020B0604020202020204" pitchFamily="34" charset="0"/>
              </a:rPr>
              <a:t>Gestionnaire de noms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smtClean="0">
                <a:ln>
                  <a:noFill/>
                </a:ln>
                <a:solidFill>
                  <a:schemeClr val="tx1"/>
                </a:solidFill>
                <a:effectLst/>
                <a:latin typeface="Arial" panose="020B0604020202020204" pitchFamily="34" charset="0"/>
              </a:rPr>
              <a:t>Portée des noms </a:t>
            </a:r>
          </a:p>
        </p:txBody>
      </p:sp>
      <p:pic>
        <p:nvPicPr>
          <p:cNvPr id="7" name="Image 6"/>
          <p:cNvPicPr>
            <a:picLocks noChangeAspect="1"/>
          </p:cNvPicPr>
          <p:nvPr/>
        </p:nvPicPr>
        <p:blipFill>
          <a:blip r:embed="rId3"/>
          <a:stretch>
            <a:fillRect/>
          </a:stretch>
        </p:blipFill>
        <p:spPr>
          <a:xfrm>
            <a:off x="1085385" y="5074410"/>
            <a:ext cx="1152686" cy="828791"/>
          </a:xfrm>
          <a:prstGeom prst="rect">
            <a:avLst/>
          </a:prstGeom>
        </p:spPr>
      </p:pic>
      <p:pic>
        <p:nvPicPr>
          <p:cNvPr id="8" name="Image 7"/>
          <p:cNvPicPr>
            <a:picLocks noChangeAspect="1"/>
          </p:cNvPicPr>
          <p:nvPr/>
        </p:nvPicPr>
        <p:blipFill>
          <a:blip r:embed="rId4"/>
          <a:stretch>
            <a:fillRect/>
          </a:stretch>
        </p:blipFill>
        <p:spPr>
          <a:xfrm>
            <a:off x="4286902" y="3336683"/>
            <a:ext cx="3166171" cy="2566518"/>
          </a:xfrm>
          <a:prstGeom prst="rect">
            <a:avLst/>
          </a:prstGeom>
        </p:spPr>
      </p:pic>
      <p:pic>
        <p:nvPicPr>
          <p:cNvPr id="9" name="Image 8"/>
          <p:cNvPicPr>
            <a:picLocks noChangeAspect="1"/>
          </p:cNvPicPr>
          <p:nvPr/>
        </p:nvPicPr>
        <p:blipFill>
          <a:blip r:embed="rId5"/>
          <a:stretch>
            <a:fillRect/>
          </a:stretch>
        </p:blipFill>
        <p:spPr>
          <a:xfrm>
            <a:off x="7596235" y="1680027"/>
            <a:ext cx="3757565" cy="2966499"/>
          </a:xfrm>
          <a:prstGeom prst="rect">
            <a:avLst/>
          </a:prstGeom>
        </p:spPr>
      </p:pic>
    </p:spTree>
    <p:extLst>
      <p:ext uri="{BB962C8B-B14F-4D97-AF65-F5344CB8AC3E}">
        <p14:creationId xmlns:p14="http://schemas.microsoft.com/office/powerpoint/2010/main" val="264433593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ZoneTexte 4"/>
          <p:cNvSpPr txBox="1"/>
          <p:nvPr/>
        </p:nvSpPr>
        <p:spPr>
          <a:xfrm>
            <a:off x="993945" y="1235404"/>
            <a:ext cx="6894833" cy="1477328"/>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Tableaux Croisés Dynamiques (TCD)</a:t>
            </a:r>
            <a:endParaRPr lang="fr-BE" sz="4500" dirty="0">
              <a:solidFill>
                <a:srgbClr val="00205B"/>
              </a:solidFill>
              <a:latin typeface="Arial" panose="020B0604020202020204" pitchFamily="34" charset="0"/>
              <a:cs typeface="Arial" panose="020B0604020202020204" pitchFamily="34" charset="0"/>
            </a:endParaRP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23</a:t>
            </a:fld>
            <a:endParaRPr lang="fr-BE" dirty="0"/>
          </a:p>
        </p:txBody>
      </p:sp>
      <p:sp>
        <p:nvSpPr>
          <p:cNvPr id="3" name="Espace réservé du pied de page 2"/>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11008008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Objectifs pédagogiques</a:t>
            </a:r>
          </a:p>
        </p:txBody>
      </p:sp>
      <p:sp>
        <p:nvSpPr>
          <p:cNvPr id="5" name="ZoneTexte 4"/>
          <p:cNvSpPr txBox="1"/>
          <p:nvPr/>
        </p:nvSpPr>
        <p:spPr>
          <a:xfrm>
            <a:off x="1085386" y="1772816"/>
            <a:ext cx="7803112" cy="2031325"/>
          </a:xfrm>
          <a:prstGeom prst="rect">
            <a:avLst/>
          </a:prstGeom>
          <a:noFill/>
        </p:spPr>
        <p:txBody>
          <a:bodyPr wrap="square" rtlCol="0">
            <a:spAutoFit/>
          </a:bodyPr>
          <a:lstStyle/>
          <a:p>
            <a:pPr lvl="0"/>
            <a:r>
              <a:rPr lang="fr-FR" dirty="0"/>
              <a:t>Création et </a:t>
            </a:r>
            <a:r>
              <a:rPr lang="fr-FR" dirty="0" smtClean="0"/>
              <a:t>manipulation</a:t>
            </a:r>
          </a:p>
          <a:p>
            <a:pPr lvl="0"/>
            <a:endParaRPr lang="fr-FR" dirty="0"/>
          </a:p>
          <a:p>
            <a:pPr lvl="0"/>
            <a:r>
              <a:rPr lang="fr-FR" dirty="0" smtClean="0"/>
              <a:t>Analyse multidimensionnelle</a:t>
            </a:r>
          </a:p>
          <a:p>
            <a:pPr lvl="0"/>
            <a:endParaRPr lang="fr-FR" dirty="0"/>
          </a:p>
          <a:p>
            <a:pPr lvl="0"/>
            <a:r>
              <a:rPr lang="fr-FR" dirty="0" smtClean="0"/>
              <a:t>Utilisation </a:t>
            </a:r>
            <a:r>
              <a:rPr lang="fr-FR" dirty="0"/>
              <a:t>des segments de </a:t>
            </a:r>
            <a:r>
              <a:rPr lang="fr-FR" dirty="0" smtClean="0"/>
              <a:t>filtre</a:t>
            </a:r>
          </a:p>
          <a:p>
            <a:pPr lvl="0"/>
            <a:endParaRPr lang="fr-FR" dirty="0"/>
          </a:p>
          <a:p>
            <a:pPr lvl="0"/>
            <a:r>
              <a:rPr lang="fr-FR" dirty="0" smtClean="0"/>
              <a:t>Conseils </a:t>
            </a:r>
            <a:r>
              <a:rPr lang="fr-FR" dirty="0"/>
              <a:t>de mise en forme</a:t>
            </a:r>
            <a:endParaRPr lang="fr-BE" dirty="0"/>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24</a:t>
            </a:fld>
            <a:endParaRPr lang="fr-BE"/>
          </a:p>
        </p:txBody>
      </p:sp>
      <p:sp>
        <p:nvSpPr>
          <p:cNvPr id="3" name="Espace réservé du pied de page 2"/>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156436268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ZoneTexte 1"/>
          <p:cNvSpPr txBox="1"/>
          <p:nvPr/>
        </p:nvSpPr>
        <p:spPr>
          <a:xfrm>
            <a:off x="1085385" y="692696"/>
            <a:ext cx="685326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Création et manipulation</a:t>
            </a:r>
          </a:p>
        </p:txBody>
      </p:sp>
      <p:sp>
        <p:nvSpPr>
          <p:cNvPr id="3" name="ZoneTexte 2"/>
          <p:cNvSpPr txBox="1"/>
          <p:nvPr/>
        </p:nvSpPr>
        <p:spPr>
          <a:xfrm>
            <a:off x="1085386" y="1772816"/>
            <a:ext cx="7803112" cy="3970318"/>
          </a:xfrm>
          <a:prstGeom prst="rect">
            <a:avLst/>
          </a:prstGeom>
          <a:noFill/>
        </p:spPr>
        <p:txBody>
          <a:bodyPr wrap="square" rtlCol="0">
            <a:spAutoFit/>
          </a:bodyPr>
          <a:lstStyle/>
          <a:p>
            <a:pPr lvl="0"/>
            <a:r>
              <a:rPr lang="fr-FR" dirty="0" smtClean="0"/>
              <a:t>Contexte</a:t>
            </a:r>
          </a:p>
          <a:p>
            <a:pPr lvl="0"/>
            <a:endParaRPr lang="fr-FR" dirty="0"/>
          </a:p>
          <a:p>
            <a:pPr lvl="0"/>
            <a:r>
              <a:rPr lang="fr-FR" dirty="0"/>
              <a:t>Données de ventes annuelles </a:t>
            </a:r>
            <a:r>
              <a:rPr lang="fr-FR" dirty="0" smtClean="0"/>
              <a:t>multidimensionnelles</a:t>
            </a:r>
          </a:p>
          <a:p>
            <a:pPr lvl="0"/>
            <a:endParaRPr lang="fr-FR" dirty="0"/>
          </a:p>
          <a:p>
            <a:pPr lvl="0"/>
            <a:r>
              <a:rPr lang="fr-FR" dirty="0" smtClean="0"/>
              <a:t>Tâches</a:t>
            </a:r>
          </a:p>
          <a:p>
            <a:pPr lvl="0"/>
            <a:endParaRPr lang="fr-FR" dirty="0"/>
          </a:p>
          <a:p>
            <a:pPr lvl="0"/>
            <a:r>
              <a:rPr lang="fr-FR" dirty="0" smtClean="0"/>
              <a:t>1</a:t>
            </a:r>
            <a:r>
              <a:rPr lang="fr-FR" dirty="0"/>
              <a:t>	Créez un tableau croisé dynamique montrant : </a:t>
            </a:r>
          </a:p>
          <a:p>
            <a:pPr lvl="0"/>
            <a:r>
              <a:rPr lang="fr-FR" dirty="0"/>
              <a:t>	Ventes totales par région</a:t>
            </a:r>
          </a:p>
          <a:p>
            <a:pPr lvl="0"/>
            <a:r>
              <a:rPr lang="fr-FR" dirty="0"/>
              <a:t>	Répartition des ventes par produit</a:t>
            </a:r>
          </a:p>
          <a:p>
            <a:pPr lvl="0"/>
            <a:r>
              <a:rPr lang="fr-FR" dirty="0"/>
              <a:t>	Évolution des ventes trimestrielles</a:t>
            </a:r>
          </a:p>
          <a:p>
            <a:pPr lvl="0"/>
            <a:r>
              <a:rPr lang="fr-FR" dirty="0" smtClean="0"/>
              <a:t>2</a:t>
            </a:r>
            <a:r>
              <a:rPr lang="fr-FR" dirty="0"/>
              <a:t>	Utilisez les segments pour : </a:t>
            </a:r>
          </a:p>
          <a:p>
            <a:pPr lvl="0"/>
            <a:r>
              <a:rPr lang="fr-FR" dirty="0"/>
              <a:t>	Filtrer par année</a:t>
            </a:r>
          </a:p>
          <a:p>
            <a:pPr lvl="0"/>
            <a:r>
              <a:rPr lang="fr-FR" dirty="0"/>
              <a:t>	Comparer différentes périodes</a:t>
            </a:r>
          </a:p>
          <a:p>
            <a:pPr lvl="0"/>
            <a:r>
              <a:rPr lang="fr-FR" dirty="0"/>
              <a:t>	Mettre en évidence des tendances</a:t>
            </a:r>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25</a:t>
            </a:fld>
            <a:endParaRPr lang="fr-BE" dirty="0"/>
          </a:p>
        </p:txBody>
      </p:sp>
      <p:sp>
        <p:nvSpPr>
          <p:cNvPr id="7" name="Espace réservé du pied de page 6"/>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413658995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a:t>
            </a:r>
            <a:r>
              <a:rPr lang="fr-FR" sz="4500" dirty="0" smtClean="0">
                <a:solidFill>
                  <a:srgbClr val="00205B"/>
                </a:solidFill>
                <a:latin typeface="Arial" panose="020B0604020202020204" pitchFamily="34" charset="0"/>
                <a:cs typeface="Arial" panose="020B0604020202020204" pitchFamily="34" charset="0"/>
              </a:rPr>
              <a:t>pratique</a:t>
            </a:r>
            <a:endParaRPr lang="fr-FR" sz="4500" dirty="0">
              <a:solidFill>
                <a:srgbClr val="00205B"/>
              </a:solidFill>
              <a:latin typeface="Arial" panose="020B0604020202020204" pitchFamily="34" charset="0"/>
              <a:cs typeface="Arial" panose="020B0604020202020204" pitchFamily="34" charset="0"/>
            </a:endParaRPr>
          </a:p>
        </p:txBody>
      </p:sp>
      <p:sp>
        <p:nvSpPr>
          <p:cNvPr id="5" name="ZoneTexte 4"/>
          <p:cNvSpPr txBox="1"/>
          <p:nvPr/>
        </p:nvSpPr>
        <p:spPr>
          <a:xfrm>
            <a:off x="1085386" y="1772816"/>
            <a:ext cx="7803112" cy="2862322"/>
          </a:xfrm>
          <a:prstGeom prst="rect">
            <a:avLst/>
          </a:prstGeom>
          <a:noFill/>
        </p:spPr>
        <p:txBody>
          <a:bodyPr wrap="square" rtlCol="0">
            <a:spAutoFit/>
          </a:bodyPr>
          <a:lstStyle/>
          <a:p>
            <a:r>
              <a:rPr lang="fr-FR" b="1" dirty="0"/>
              <a:t>Étape 1 : Préparation des </a:t>
            </a:r>
            <a:r>
              <a:rPr lang="fr-FR" b="1" dirty="0" smtClean="0"/>
              <a:t>Données</a:t>
            </a:r>
          </a:p>
          <a:p>
            <a:endParaRPr lang="fr-FR" dirty="0"/>
          </a:p>
          <a:p>
            <a:pPr marL="342900" indent="-342900">
              <a:buAutoNum type="arabicPeriod"/>
            </a:pPr>
            <a:r>
              <a:rPr lang="fr-FR" dirty="0" smtClean="0"/>
              <a:t>Assurez-vous </a:t>
            </a:r>
            <a:r>
              <a:rPr lang="fr-FR" dirty="0"/>
              <a:t>d'avoir une table de données </a:t>
            </a:r>
            <a:r>
              <a:rPr lang="fr-FR" dirty="0" smtClean="0"/>
              <a:t>complète</a:t>
            </a:r>
          </a:p>
          <a:p>
            <a:pPr marL="342900" indent="-342900">
              <a:buAutoNum type="arabicPeriod"/>
            </a:pPr>
            <a:endParaRPr lang="fr-FR" dirty="0"/>
          </a:p>
          <a:p>
            <a:r>
              <a:rPr lang="fr-FR" dirty="0"/>
              <a:t>2.	Colonnes suggérées : </a:t>
            </a:r>
          </a:p>
          <a:p>
            <a:r>
              <a:rPr lang="fr-FR" dirty="0"/>
              <a:t>	Date</a:t>
            </a:r>
          </a:p>
          <a:p>
            <a:r>
              <a:rPr lang="fr-FR" dirty="0"/>
              <a:t>	Région</a:t>
            </a:r>
          </a:p>
          <a:p>
            <a:r>
              <a:rPr lang="fr-FR" dirty="0"/>
              <a:t>	Produit</a:t>
            </a:r>
          </a:p>
          <a:p>
            <a:r>
              <a:rPr lang="fr-FR" dirty="0"/>
              <a:t>	Quantité</a:t>
            </a:r>
          </a:p>
          <a:p>
            <a:r>
              <a:rPr lang="fr-FR" dirty="0"/>
              <a:t>	Montant</a:t>
            </a: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26</a:t>
            </a:fld>
            <a:endParaRPr lang="fr-BE"/>
          </a:p>
        </p:txBody>
      </p:sp>
      <p:sp>
        <p:nvSpPr>
          <p:cNvPr id="3" name="Espace réservé du pied de page 2"/>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160925858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a:t>
            </a:r>
            <a:r>
              <a:rPr lang="fr-FR" sz="4500" dirty="0" smtClean="0">
                <a:solidFill>
                  <a:srgbClr val="00205B"/>
                </a:solidFill>
                <a:latin typeface="Arial" panose="020B0604020202020204" pitchFamily="34" charset="0"/>
                <a:cs typeface="Arial" panose="020B0604020202020204" pitchFamily="34" charset="0"/>
              </a:rPr>
              <a:t>pratique</a:t>
            </a:r>
            <a:endParaRPr lang="fr-FR" sz="4500" dirty="0">
              <a:solidFill>
                <a:srgbClr val="00205B"/>
              </a:solidFill>
              <a:latin typeface="Arial" panose="020B0604020202020204" pitchFamily="34" charset="0"/>
              <a:cs typeface="Arial" panose="020B0604020202020204" pitchFamily="34" charset="0"/>
            </a:endParaRPr>
          </a:p>
        </p:txBody>
      </p:sp>
      <p:sp>
        <p:nvSpPr>
          <p:cNvPr id="5" name="ZoneTexte 4"/>
          <p:cNvSpPr txBox="1"/>
          <p:nvPr/>
        </p:nvSpPr>
        <p:spPr>
          <a:xfrm>
            <a:off x="1085386" y="1772816"/>
            <a:ext cx="7803112" cy="2031325"/>
          </a:xfrm>
          <a:prstGeom prst="rect">
            <a:avLst/>
          </a:prstGeom>
          <a:noFill/>
        </p:spPr>
        <p:txBody>
          <a:bodyPr wrap="square" rtlCol="0">
            <a:spAutoFit/>
          </a:bodyPr>
          <a:lstStyle/>
          <a:p>
            <a:r>
              <a:rPr lang="fr-BE" b="1" dirty="0"/>
              <a:t>Étape 2 : Création du Tableau </a:t>
            </a:r>
            <a:r>
              <a:rPr lang="fr-BE" b="1" dirty="0" smtClean="0"/>
              <a:t>Croisé</a:t>
            </a:r>
          </a:p>
          <a:p>
            <a:endParaRPr lang="fr-BE" dirty="0"/>
          </a:p>
          <a:p>
            <a:pPr lvl="0"/>
            <a:r>
              <a:rPr lang="fr-BE" dirty="0"/>
              <a:t>Sélectionnez toute la </a:t>
            </a:r>
            <a:r>
              <a:rPr lang="fr-BE" dirty="0" smtClean="0"/>
              <a:t>table</a:t>
            </a:r>
          </a:p>
          <a:p>
            <a:pPr lvl="0"/>
            <a:endParaRPr lang="fr-BE" dirty="0"/>
          </a:p>
          <a:p>
            <a:pPr lvl="0"/>
            <a:r>
              <a:rPr lang="fr-BE" dirty="0"/>
              <a:t>Insérer &gt; Tableau Croisé </a:t>
            </a:r>
            <a:r>
              <a:rPr lang="fr-BE" dirty="0" smtClean="0"/>
              <a:t>Dynamique</a:t>
            </a:r>
          </a:p>
          <a:p>
            <a:pPr lvl="0"/>
            <a:endParaRPr lang="fr-BE" dirty="0"/>
          </a:p>
          <a:p>
            <a:pPr lvl="0"/>
            <a:r>
              <a:rPr lang="fr-BE" dirty="0"/>
              <a:t>Choisissez un nouvel emplacement</a:t>
            </a: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27</a:t>
            </a:fld>
            <a:endParaRPr lang="fr-BE"/>
          </a:p>
        </p:txBody>
      </p:sp>
      <p:sp>
        <p:nvSpPr>
          <p:cNvPr id="3" name="Espace réservé du pied de page 2"/>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7738022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a:t>
            </a:r>
            <a:r>
              <a:rPr lang="fr-FR" sz="4500" dirty="0" smtClean="0">
                <a:solidFill>
                  <a:srgbClr val="00205B"/>
                </a:solidFill>
                <a:latin typeface="Arial" panose="020B0604020202020204" pitchFamily="34" charset="0"/>
                <a:cs typeface="Arial" panose="020B0604020202020204" pitchFamily="34" charset="0"/>
              </a:rPr>
              <a:t>pratique</a:t>
            </a:r>
            <a:endParaRPr lang="fr-FR" sz="4500" dirty="0">
              <a:solidFill>
                <a:srgbClr val="00205B"/>
              </a:solidFill>
              <a:latin typeface="Arial" panose="020B0604020202020204" pitchFamily="34" charset="0"/>
              <a:cs typeface="Arial" panose="020B0604020202020204" pitchFamily="34" charset="0"/>
            </a:endParaRP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28</a:t>
            </a:fld>
            <a:endParaRPr lang="fr-BE"/>
          </a:p>
        </p:txBody>
      </p:sp>
      <p:sp>
        <p:nvSpPr>
          <p:cNvPr id="3" name="Espace réservé du pied de page 2"/>
          <p:cNvSpPr>
            <a:spLocks noGrp="1"/>
          </p:cNvSpPr>
          <p:nvPr>
            <p:ph type="ftr" sz="quarter" idx="11"/>
          </p:nvPr>
        </p:nvSpPr>
        <p:spPr/>
        <p:txBody>
          <a:bodyPr/>
          <a:lstStyle/>
          <a:p>
            <a:r>
              <a:rPr lang="fr-BE" dirty="0"/>
              <a:t>Niveau Intermédiaire</a:t>
            </a:r>
          </a:p>
        </p:txBody>
      </p:sp>
      <p:sp>
        <p:nvSpPr>
          <p:cNvPr id="6" name="ZoneTexte 5"/>
          <p:cNvSpPr txBox="1"/>
          <p:nvPr/>
        </p:nvSpPr>
        <p:spPr>
          <a:xfrm>
            <a:off x="1085385" y="1775587"/>
            <a:ext cx="7803112" cy="2308324"/>
          </a:xfrm>
          <a:prstGeom prst="rect">
            <a:avLst/>
          </a:prstGeom>
          <a:noFill/>
        </p:spPr>
        <p:txBody>
          <a:bodyPr wrap="square" rtlCol="0">
            <a:spAutoFit/>
          </a:bodyPr>
          <a:lstStyle/>
          <a:p>
            <a:r>
              <a:rPr lang="fr-BE" b="1" dirty="0"/>
              <a:t>Étape 3 : </a:t>
            </a:r>
            <a:r>
              <a:rPr lang="fr-BE" b="1" dirty="0" smtClean="0"/>
              <a:t>Configuration</a:t>
            </a:r>
          </a:p>
          <a:p>
            <a:endParaRPr lang="fr-BE" dirty="0"/>
          </a:p>
          <a:p>
            <a:pPr lvl="0"/>
            <a:r>
              <a:rPr lang="fr-BE" dirty="0"/>
              <a:t>Glissez "Région" dans les </a:t>
            </a:r>
            <a:r>
              <a:rPr lang="fr-BE" dirty="0" smtClean="0"/>
              <a:t>Lignes</a:t>
            </a:r>
          </a:p>
          <a:p>
            <a:pPr lvl="0"/>
            <a:endParaRPr lang="fr-BE" dirty="0"/>
          </a:p>
          <a:p>
            <a:pPr lvl="0"/>
            <a:r>
              <a:rPr lang="fr-BE" dirty="0"/>
              <a:t>Glissez "Montant" dans les </a:t>
            </a:r>
            <a:r>
              <a:rPr lang="fr-BE" dirty="0" smtClean="0"/>
              <a:t>Valeurs</a:t>
            </a:r>
          </a:p>
          <a:p>
            <a:pPr lvl="0"/>
            <a:endParaRPr lang="fr-BE" dirty="0"/>
          </a:p>
          <a:p>
            <a:r>
              <a:rPr lang="fr-BE" dirty="0"/>
              <a:t>Glissez "Date" dans les </a:t>
            </a:r>
            <a:r>
              <a:rPr lang="fr-BE" dirty="0" smtClean="0"/>
              <a:t>Colonnes</a:t>
            </a:r>
          </a:p>
          <a:p>
            <a:endParaRPr lang="fr-FR" dirty="0"/>
          </a:p>
        </p:txBody>
      </p:sp>
    </p:spTree>
    <p:extLst>
      <p:ext uri="{BB962C8B-B14F-4D97-AF65-F5344CB8AC3E}">
        <p14:creationId xmlns:p14="http://schemas.microsoft.com/office/powerpoint/2010/main" val="256473829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a:t>
            </a:r>
            <a:r>
              <a:rPr lang="fr-FR" sz="4500" dirty="0" smtClean="0">
                <a:solidFill>
                  <a:srgbClr val="00205B"/>
                </a:solidFill>
                <a:latin typeface="Arial" panose="020B0604020202020204" pitchFamily="34" charset="0"/>
                <a:cs typeface="Arial" panose="020B0604020202020204" pitchFamily="34" charset="0"/>
              </a:rPr>
              <a:t>pratique</a:t>
            </a:r>
            <a:endParaRPr lang="fr-FR" sz="4500" dirty="0">
              <a:solidFill>
                <a:srgbClr val="00205B"/>
              </a:solidFill>
              <a:latin typeface="Arial" panose="020B0604020202020204" pitchFamily="34" charset="0"/>
              <a:cs typeface="Arial" panose="020B0604020202020204" pitchFamily="34" charset="0"/>
            </a:endParaRPr>
          </a:p>
        </p:txBody>
      </p:sp>
      <p:sp>
        <p:nvSpPr>
          <p:cNvPr id="5" name="ZoneTexte 4"/>
          <p:cNvSpPr txBox="1"/>
          <p:nvPr/>
        </p:nvSpPr>
        <p:spPr>
          <a:xfrm>
            <a:off x="1085385" y="1777547"/>
            <a:ext cx="7803112" cy="3693319"/>
          </a:xfrm>
          <a:prstGeom prst="rect">
            <a:avLst/>
          </a:prstGeom>
          <a:noFill/>
        </p:spPr>
        <p:txBody>
          <a:bodyPr wrap="square" rtlCol="0">
            <a:spAutoFit/>
          </a:bodyPr>
          <a:lstStyle/>
          <a:p>
            <a:r>
              <a:rPr lang="fr-BE" b="1" dirty="0"/>
              <a:t>Étape </a:t>
            </a:r>
            <a:r>
              <a:rPr lang="fr-BE" b="1" dirty="0" smtClean="0"/>
              <a:t>4 </a:t>
            </a:r>
            <a:r>
              <a:rPr lang="fr-BE" b="1" dirty="0"/>
              <a:t>: </a:t>
            </a:r>
            <a:r>
              <a:rPr lang="fr-BE" b="1" dirty="0" smtClean="0"/>
              <a:t>Configuration</a:t>
            </a:r>
          </a:p>
          <a:p>
            <a:endParaRPr lang="fr-BE" dirty="0"/>
          </a:p>
          <a:p>
            <a:pPr lvl="0"/>
            <a:r>
              <a:rPr lang="fr-BE" dirty="0"/>
              <a:t>Glissez </a:t>
            </a:r>
            <a:r>
              <a:rPr lang="fr-BE" dirty="0" smtClean="0"/>
              <a:t>"Produit" </a:t>
            </a:r>
            <a:r>
              <a:rPr lang="fr-BE" dirty="0"/>
              <a:t>dans les </a:t>
            </a:r>
            <a:r>
              <a:rPr lang="fr-BE" dirty="0" smtClean="0"/>
              <a:t>Lignes</a:t>
            </a:r>
          </a:p>
          <a:p>
            <a:pPr lvl="0"/>
            <a:endParaRPr lang="fr-BE" dirty="0"/>
          </a:p>
          <a:p>
            <a:pPr lvl="0"/>
            <a:r>
              <a:rPr lang="fr-BE" dirty="0"/>
              <a:t>Glissez "Montant" dans les </a:t>
            </a:r>
            <a:r>
              <a:rPr lang="fr-BE" dirty="0" smtClean="0"/>
              <a:t>Valeurs</a:t>
            </a:r>
          </a:p>
          <a:p>
            <a:pPr lvl="0"/>
            <a:endParaRPr lang="fr-BE" dirty="0"/>
          </a:p>
          <a:p>
            <a:r>
              <a:rPr lang="fr-FR" dirty="0" smtClean="0"/>
              <a:t>Pour le </a:t>
            </a:r>
            <a:r>
              <a:rPr lang="fr-FR" dirty="0"/>
              <a:t>montant </a:t>
            </a:r>
            <a:r>
              <a:rPr lang="fr-FR" dirty="0" smtClean="0"/>
              <a:t>: « Afficher </a:t>
            </a:r>
            <a:r>
              <a:rPr lang="fr-FR" dirty="0"/>
              <a:t>les valeurs en % du total </a:t>
            </a:r>
            <a:r>
              <a:rPr lang="fr-FR" dirty="0" smtClean="0"/>
              <a:t>général » </a:t>
            </a:r>
          </a:p>
          <a:p>
            <a:endParaRPr lang="fr-FR" dirty="0"/>
          </a:p>
          <a:p>
            <a:r>
              <a:rPr lang="fr-FR" dirty="0"/>
              <a:t>Pour une visualisation plus parlante : </a:t>
            </a:r>
          </a:p>
          <a:p>
            <a:endParaRPr lang="fr-FR" dirty="0"/>
          </a:p>
          <a:p>
            <a:r>
              <a:rPr lang="fr-FR" dirty="0"/>
              <a:t>Cliquez sur le TCD</a:t>
            </a:r>
          </a:p>
          <a:p>
            <a:r>
              <a:rPr lang="fr-FR" dirty="0"/>
              <a:t>Insérer &gt; Graphique croisé dynamique</a:t>
            </a:r>
          </a:p>
          <a:p>
            <a:r>
              <a:rPr lang="fr-FR" dirty="0"/>
              <a:t>Choisissez un graphique circulaire ou en </a:t>
            </a:r>
            <a:r>
              <a:rPr lang="fr-FR" dirty="0" smtClean="0"/>
              <a:t>barres</a:t>
            </a:r>
            <a:endParaRPr lang="fr-FR" dirty="0"/>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29</a:t>
            </a:fld>
            <a:endParaRPr lang="fr-BE"/>
          </a:p>
        </p:txBody>
      </p:sp>
      <p:sp>
        <p:nvSpPr>
          <p:cNvPr id="3" name="Espace réservé du pied de page 2"/>
          <p:cNvSpPr>
            <a:spLocks noGrp="1"/>
          </p:cNvSpPr>
          <p:nvPr>
            <p:ph type="ftr" sz="quarter" idx="11"/>
          </p:nvPr>
        </p:nvSpPr>
        <p:spPr/>
        <p:txBody>
          <a:bodyPr/>
          <a:lstStyle/>
          <a:p>
            <a:r>
              <a:rPr lang="fr-BE" dirty="0"/>
              <a:t>Niveau Intermédiaire</a:t>
            </a:r>
          </a:p>
        </p:txBody>
      </p:sp>
      <p:pic>
        <p:nvPicPr>
          <p:cNvPr id="7" name="Image 6"/>
          <p:cNvPicPr>
            <a:picLocks noChangeAspect="1"/>
          </p:cNvPicPr>
          <p:nvPr/>
        </p:nvPicPr>
        <p:blipFill>
          <a:blip r:embed="rId3"/>
          <a:stretch>
            <a:fillRect/>
          </a:stretch>
        </p:blipFill>
        <p:spPr>
          <a:xfrm>
            <a:off x="6007862" y="4724971"/>
            <a:ext cx="1057423" cy="847843"/>
          </a:xfrm>
          <a:prstGeom prst="rect">
            <a:avLst/>
          </a:prstGeom>
        </p:spPr>
      </p:pic>
      <p:pic>
        <p:nvPicPr>
          <p:cNvPr id="8" name="Image 7"/>
          <p:cNvPicPr>
            <a:picLocks noChangeAspect="1"/>
          </p:cNvPicPr>
          <p:nvPr/>
        </p:nvPicPr>
        <p:blipFill>
          <a:blip r:embed="rId4"/>
          <a:stretch>
            <a:fillRect/>
          </a:stretch>
        </p:blipFill>
        <p:spPr>
          <a:xfrm>
            <a:off x="7381321" y="3052608"/>
            <a:ext cx="3972479" cy="2610214"/>
          </a:xfrm>
          <a:prstGeom prst="rect">
            <a:avLst/>
          </a:prstGeom>
        </p:spPr>
      </p:pic>
    </p:spTree>
    <p:extLst>
      <p:ext uri="{BB962C8B-B14F-4D97-AF65-F5344CB8AC3E}">
        <p14:creationId xmlns:p14="http://schemas.microsoft.com/office/powerpoint/2010/main" val="45176973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a:t>
            </a:r>
            <a:r>
              <a:rPr lang="fr-FR" sz="4500" dirty="0" smtClean="0">
                <a:solidFill>
                  <a:srgbClr val="00205B"/>
                </a:solidFill>
                <a:latin typeface="Arial" panose="020B0604020202020204" pitchFamily="34" charset="0"/>
                <a:cs typeface="Arial" panose="020B0604020202020204" pitchFamily="34" charset="0"/>
              </a:rPr>
              <a:t>pratique</a:t>
            </a:r>
            <a:endParaRPr lang="fr-FR" sz="4500" dirty="0">
              <a:solidFill>
                <a:srgbClr val="00205B"/>
              </a:solidFill>
              <a:latin typeface="Arial" panose="020B0604020202020204" pitchFamily="34" charset="0"/>
              <a:cs typeface="Arial" panose="020B0604020202020204" pitchFamily="34" charset="0"/>
            </a:endParaRP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30</a:t>
            </a:fld>
            <a:endParaRPr lang="fr-BE"/>
          </a:p>
        </p:txBody>
      </p:sp>
      <p:sp>
        <p:nvSpPr>
          <p:cNvPr id="3" name="Espace réservé du pied de page 2"/>
          <p:cNvSpPr>
            <a:spLocks noGrp="1"/>
          </p:cNvSpPr>
          <p:nvPr>
            <p:ph type="ftr" sz="quarter" idx="11"/>
          </p:nvPr>
        </p:nvSpPr>
        <p:spPr/>
        <p:txBody>
          <a:bodyPr/>
          <a:lstStyle/>
          <a:p>
            <a:r>
              <a:rPr lang="fr-BE" dirty="0"/>
              <a:t>Niveau Intermédiaire</a:t>
            </a:r>
          </a:p>
        </p:txBody>
      </p:sp>
      <p:sp>
        <p:nvSpPr>
          <p:cNvPr id="6" name="ZoneTexte 5"/>
          <p:cNvSpPr txBox="1"/>
          <p:nvPr/>
        </p:nvSpPr>
        <p:spPr>
          <a:xfrm>
            <a:off x="1237786" y="1925216"/>
            <a:ext cx="7803112" cy="4247317"/>
          </a:xfrm>
          <a:prstGeom prst="rect">
            <a:avLst/>
          </a:prstGeom>
          <a:noFill/>
        </p:spPr>
        <p:txBody>
          <a:bodyPr wrap="square" rtlCol="0">
            <a:spAutoFit/>
          </a:bodyPr>
          <a:lstStyle/>
          <a:p>
            <a:r>
              <a:rPr lang="fr-FR" b="1" dirty="0"/>
              <a:t>Pour montrer l'évolution des ventes par trimestre </a:t>
            </a:r>
            <a:r>
              <a:rPr lang="fr-FR" b="1" dirty="0" smtClean="0"/>
              <a:t>:</a:t>
            </a:r>
          </a:p>
          <a:p>
            <a:endParaRPr lang="fr-FR" b="1" dirty="0"/>
          </a:p>
          <a:p>
            <a:r>
              <a:rPr lang="fr-FR" dirty="0"/>
              <a:t>Préparez les données : </a:t>
            </a:r>
          </a:p>
          <a:p>
            <a:pPr lvl="1"/>
            <a:r>
              <a:rPr lang="fr-FR" dirty="0" smtClean="0"/>
              <a:t>Dans </a:t>
            </a:r>
            <a:r>
              <a:rPr lang="fr-FR" dirty="0"/>
              <a:t>le TCD, cliquez droit sur une date &gt; "Grouper"</a:t>
            </a:r>
          </a:p>
          <a:p>
            <a:pPr lvl="1"/>
            <a:r>
              <a:rPr lang="fr-FR" dirty="0"/>
              <a:t>Choisissez "Trimestre" et "</a:t>
            </a:r>
            <a:r>
              <a:rPr lang="fr-FR" dirty="0" smtClean="0"/>
              <a:t>Année« </a:t>
            </a:r>
          </a:p>
          <a:p>
            <a:pPr lvl="1"/>
            <a:endParaRPr lang="fr-FR" dirty="0"/>
          </a:p>
          <a:p>
            <a:r>
              <a:rPr lang="fr-FR" dirty="0"/>
              <a:t>Configurez le TCD : </a:t>
            </a:r>
          </a:p>
          <a:p>
            <a:pPr lvl="1"/>
            <a:r>
              <a:rPr lang="fr-FR" dirty="0"/>
              <a:t>"Année" dans LIGNES</a:t>
            </a:r>
          </a:p>
          <a:p>
            <a:pPr lvl="1"/>
            <a:r>
              <a:rPr lang="fr-FR" dirty="0"/>
              <a:t>"Trimestre" dans COLONNES</a:t>
            </a:r>
          </a:p>
          <a:p>
            <a:pPr lvl="1"/>
            <a:r>
              <a:rPr lang="fr-FR" dirty="0"/>
              <a:t>"Montant" dans </a:t>
            </a:r>
            <a:r>
              <a:rPr lang="fr-FR" dirty="0" smtClean="0"/>
              <a:t>VALEURS</a:t>
            </a:r>
          </a:p>
          <a:p>
            <a:pPr lvl="1"/>
            <a:endParaRPr lang="fr-FR" dirty="0"/>
          </a:p>
          <a:p>
            <a:pPr lvl="1"/>
            <a:r>
              <a:rPr lang="fr-FR" b="1" dirty="0"/>
              <a:t>Pour voir les tendances </a:t>
            </a:r>
            <a:r>
              <a:rPr lang="fr-FR" dirty="0"/>
              <a:t>: </a:t>
            </a:r>
          </a:p>
          <a:p>
            <a:pPr lvl="2"/>
            <a:r>
              <a:rPr lang="fr-FR" dirty="0"/>
              <a:t>Sélectionnez les données</a:t>
            </a:r>
          </a:p>
          <a:p>
            <a:pPr lvl="2"/>
            <a:r>
              <a:rPr lang="fr-FR" dirty="0"/>
              <a:t>Insérer &gt; Graphique croisé dynamique</a:t>
            </a:r>
          </a:p>
          <a:p>
            <a:pPr lvl="2"/>
            <a:r>
              <a:rPr lang="fr-FR" dirty="0"/>
              <a:t>Choisissez un graphique en courbes</a:t>
            </a:r>
          </a:p>
        </p:txBody>
      </p:sp>
    </p:spTree>
    <p:extLst>
      <p:ext uri="{BB962C8B-B14F-4D97-AF65-F5344CB8AC3E}">
        <p14:creationId xmlns:p14="http://schemas.microsoft.com/office/powerpoint/2010/main" val="157968574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a:t>
            </a:r>
            <a:r>
              <a:rPr lang="fr-FR" sz="4500" dirty="0" smtClean="0">
                <a:solidFill>
                  <a:srgbClr val="00205B"/>
                </a:solidFill>
                <a:latin typeface="Arial" panose="020B0604020202020204" pitchFamily="34" charset="0"/>
                <a:cs typeface="Arial" panose="020B0604020202020204" pitchFamily="34" charset="0"/>
              </a:rPr>
              <a:t>pratique</a:t>
            </a:r>
            <a:endParaRPr lang="fr-FR" sz="4500" dirty="0">
              <a:solidFill>
                <a:srgbClr val="00205B"/>
              </a:solidFill>
              <a:latin typeface="Arial" panose="020B0604020202020204" pitchFamily="34" charset="0"/>
              <a:cs typeface="Arial" panose="020B0604020202020204" pitchFamily="34" charset="0"/>
            </a:endParaRPr>
          </a:p>
        </p:txBody>
      </p:sp>
      <p:sp>
        <p:nvSpPr>
          <p:cNvPr id="5" name="ZoneTexte 4"/>
          <p:cNvSpPr txBox="1"/>
          <p:nvPr/>
        </p:nvSpPr>
        <p:spPr>
          <a:xfrm>
            <a:off x="1085386" y="1772816"/>
            <a:ext cx="7803112" cy="2308324"/>
          </a:xfrm>
          <a:prstGeom prst="rect">
            <a:avLst/>
          </a:prstGeom>
          <a:noFill/>
        </p:spPr>
        <p:txBody>
          <a:bodyPr wrap="square" rtlCol="0">
            <a:spAutoFit/>
          </a:bodyPr>
          <a:lstStyle/>
          <a:p>
            <a:r>
              <a:rPr lang="fr-BE" b="1" dirty="0"/>
              <a:t>Étape 4 : </a:t>
            </a:r>
            <a:r>
              <a:rPr lang="fr-BE" b="1" dirty="0" smtClean="0"/>
              <a:t>Segments</a:t>
            </a:r>
          </a:p>
          <a:p>
            <a:endParaRPr lang="fr-BE" dirty="0"/>
          </a:p>
          <a:p>
            <a:pPr lvl="0"/>
            <a:r>
              <a:rPr lang="fr-BE" dirty="0"/>
              <a:t>Insérer &gt; </a:t>
            </a:r>
            <a:r>
              <a:rPr lang="fr-BE" dirty="0" smtClean="0"/>
              <a:t>Segment</a:t>
            </a:r>
          </a:p>
          <a:p>
            <a:pPr lvl="0"/>
            <a:endParaRPr lang="fr-BE" dirty="0"/>
          </a:p>
          <a:p>
            <a:r>
              <a:rPr lang="fr-FR" dirty="0"/>
              <a:t>Ajoutez des segments pour filtrer par : </a:t>
            </a:r>
            <a:endParaRPr lang="fr-FR" dirty="0" smtClean="0"/>
          </a:p>
          <a:p>
            <a:endParaRPr lang="fr-FR" dirty="0"/>
          </a:p>
          <a:p>
            <a:r>
              <a:rPr lang="fr-FR" dirty="0" smtClean="0"/>
              <a:t>Produit</a:t>
            </a:r>
            <a:endParaRPr lang="fr-FR" dirty="0"/>
          </a:p>
          <a:p>
            <a:r>
              <a:rPr lang="fr-FR" dirty="0" smtClean="0"/>
              <a:t>Région</a:t>
            </a:r>
            <a:endParaRPr lang="fr-FR" dirty="0"/>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31</a:t>
            </a:fld>
            <a:endParaRPr lang="fr-BE"/>
          </a:p>
        </p:txBody>
      </p:sp>
      <p:sp>
        <p:nvSpPr>
          <p:cNvPr id="3" name="Espace réservé du pied de page 2"/>
          <p:cNvSpPr>
            <a:spLocks noGrp="1"/>
          </p:cNvSpPr>
          <p:nvPr>
            <p:ph type="ftr" sz="quarter" idx="11"/>
          </p:nvPr>
        </p:nvSpPr>
        <p:spPr/>
        <p:txBody>
          <a:bodyPr/>
          <a:lstStyle/>
          <a:p>
            <a:r>
              <a:rPr lang="fr-BE" dirty="0"/>
              <a:t>Niveau Intermédiaire</a:t>
            </a:r>
          </a:p>
        </p:txBody>
      </p:sp>
      <p:pic>
        <p:nvPicPr>
          <p:cNvPr id="6" name="Image 5"/>
          <p:cNvPicPr>
            <a:picLocks noChangeAspect="1"/>
          </p:cNvPicPr>
          <p:nvPr/>
        </p:nvPicPr>
        <p:blipFill>
          <a:blip r:embed="rId3"/>
          <a:stretch>
            <a:fillRect/>
          </a:stretch>
        </p:blipFill>
        <p:spPr>
          <a:xfrm>
            <a:off x="3447968" y="2077876"/>
            <a:ext cx="590632" cy="657317"/>
          </a:xfrm>
          <a:prstGeom prst="rect">
            <a:avLst/>
          </a:prstGeom>
        </p:spPr>
      </p:pic>
      <p:pic>
        <p:nvPicPr>
          <p:cNvPr id="7" name="Image 6"/>
          <p:cNvPicPr>
            <a:picLocks noChangeAspect="1"/>
          </p:cNvPicPr>
          <p:nvPr/>
        </p:nvPicPr>
        <p:blipFill>
          <a:blip r:embed="rId4"/>
          <a:stretch>
            <a:fillRect/>
          </a:stretch>
        </p:blipFill>
        <p:spPr>
          <a:xfrm>
            <a:off x="2265758" y="3479399"/>
            <a:ext cx="4667901" cy="2876951"/>
          </a:xfrm>
          <a:prstGeom prst="rect">
            <a:avLst/>
          </a:prstGeom>
        </p:spPr>
      </p:pic>
    </p:spTree>
    <p:extLst>
      <p:ext uri="{BB962C8B-B14F-4D97-AF65-F5344CB8AC3E}">
        <p14:creationId xmlns:p14="http://schemas.microsoft.com/office/powerpoint/2010/main" val="333166492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ZoneTexte 4"/>
          <p:cNvSpPr txBox="1"/>
          <p:nvPr/>
        </p:nvSpPr>
        <p:spPr>
          <a:xfrm>
            <a:off x="993945" y="1235404"/>
            <a:ext cx="6894833" cy="1477328"/>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Mise en forme conditionnelle avancée</a:t>
            </a:r>
            <a:endParaRPr lang="fr-BE" sz="4500" dirty="0">
              <a:solidFill>
                <a:srgbClr val="00205B"/>
              </a:solidFill>
              <a:latin typeface="Arial" panose="020B0604020202020204" pitchFamily="34" charset="0"/>
              <a:cs typeface="Arial" panose="020B0604020202020204" pitchFamily="34" charset="0"/>
            </a:endParaRPr>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32</a:t>
            </a:fld>
            <a:endParaRPr lang="fr-BE" dirty="0"/>
          </a:p>
        </p:txBody>
      </p:sp>
      <p:sp>
        <p:nvSpPr>
          <p:cNvPr id="3" name="Espace réservé du pied de page 2"/>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29626246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Objectifs pédagogiques</a:t>
            </a:r>
          </a:p>
        </p:txBody>
      </p:sp>
      <p:sp>
        <p:nvSpPr>
          <p:cNvPr id="5" name="ZoneTexte 4"/>
          <p:cNvSpPr txBox="1"/>
          <p:nvPr/>
        </p:nvSpPr>
        <p:spPr>
          <a:xfrm>
            <a:off x="1085386" y="1772816"/>
            <a:ext cx="7803112" cy="1477328"/>
          </a:xfrm>
          <a:prstGeom prst="rect">
            <a:avLst/>
          </a:prstGeom>
          <a:noFill/>
        </p:spPr>
        <p:txBody>
          <a:bodyPr wrap="square" rtlCol="0">
            <a:spAutoFit/>
          </a:bodyPr>
          <a:lstStyle/>
          <a:p>
            <a:pPr lvl="0"/>
            <a:r>
              <a:rPr lang="fr-FR" dirty="0"/>
              <a:t>Règles </a:t>
            </a:r>
            <a:r>
              <a:rPr lang="fr-FR" dirty="0" smtClean="0"/>
              <a:t>personnalisées</a:t>
            </a:r>
          </a:p>
          <a:p>
            <a:pPr lvl="0"/>
            <a:endParaRPr lang="fr-FR" dirty="0"/>
          </a:p>
          <a:p>
            <a:pPr lvl="0"/>
            <a:r>
              <a:rPr lang="fr-FR" dirty="0" smtClean="0"/>
              <a:t>Icônes </a:t>
            </a:r>
            <a:r>
              <a:rPr lang="fr-FR" dirty="0"/>
              <a:t>et barres de </a:t>
            </a:r>
            <a:r>
              <a:rPr lang="fr-FR" dirty="0" smtClean="0"/>
              <a:t>données</a:t>
            </a:r>
          </a:p>
          <a:p>
            <a:pPr lvl="0"/>
            <a:endParaRPr lang="fr-FR" dirty="0"/>
          </a:p>
          <a:p>
            <a:pPr lvl="0"/>
            <a:r>
              <a:rPr lang="fr-FR" dirty="0" smtClean="0"/>
              <a:t>Mise </a:t>
            </a:r>
            <a:r>
              <a:rPr lang="fr-FR" dirty="0"/>
              <a:t>en valeur dynamique des informations</a:t>
            </a:r>
            <a:endParaRPr lang="fr-BE" dirty="0"/>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33</a:t>
            </a:fld>
            <a:endParaRPr lang="fr-BE"/>
          </a:p>
        </p:txBody>
      </p:sp>
      <p:sp>
        <p:nvSpPr>
          <p:cNvPr id="3" name="Espace réservé du pied de page 2"/>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77769852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ZoneTexte 1"/>
          <p:cNvSpPr txBox="1"/>
          <p:nvPr/>
        </p:nvSpPr>
        <p:spPr>
          <a:xfrm>
            <a:off x="1085385" y="692696"/>
            <a:ext cx="685326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Visualisation des données</a:t>
            </a:r>
          </a:p>
        </p:txBody>
      </p:sp>
      <p:sp>
        <p:nvSpPr>
          <p:cNvPr id="3" name="ZoneTexte 2"/>
          <p:cNvSpPr txBox="1"/>
          <p:nvPr/>
        </p:nvSpPr>
        <p:spPr>
          <a:xfrm>
            <a:off x="1085386" y="1772816"/>
            <a:ext cx="7803112" cy="2031325"/>
          </a:xfrm>
          <a:prstGeom prst="rect">
            <a:avLst/>
          </a:prstGeom>
          <a:noFill/>
        </p:spPr>
        <p:txBody>
          <a:bodyPr wrap="square" rtlCol="0">
            <a:spAutoFit/>
          </a:bodyPr>
          <a:lstStyle/>
          <a:p>
            <a:pPr lvl="0"/>
            <a:r>
              <a:rPr lang="fr-BE" dirty="0"/>
              <a:t>Barres de </a:t>
            </a:r>
            <a:r>
              <a:rPr lang="fr-BE" dirty="0" smtClean="0"/>
              <a:t>données</a:t>
            </a:r>
          </a:p>
          <a:p>
            <a:pPr lvl="0"/>
            <a:endParaRPr lang="fr-BE" dirty="0"/>
          </a:p>
          <a:p>
            <a:pPr lvl="0"/>
            <a:r>
              <a:rPr lang="fr-BE" dirty="0"/>
              <a:t>Jeux </a:t>
            </a:r>
            <a:r>
              <a:rPr lang="fr-BE" dirty="0" smtClean="0"/>
              <a:t>d'icônes</a:t>
            </a:r>
          </a:p>
          <a:p>
            <a:pPr lvl="0"/>
            <a:endParaRPr lang="fr-BE" dirty="0"/>
          </a:p>
          <a:p>
            <a:pPr lvl="0"/>
            <a:r>
              <a:rPr lang="fr-BE" dirty="0"/>
              <a:t>Nuances de </a:t>
            </a:r>
            <a:r>
              <a:rPr lang="fr-BE" dirty="0" smtClean="0"/>
              <a:t>couleurs</a:t>
            </a:r>
          </a:p>
          <a:p>
            <a:pPr lvl="0"/>
            <a:endParaRPr lang="fr-BE" dirty="0"/>
          </a:p>
          <a:p>
            <a:r>
              <a:rPr lang="fr-BE" dirty="0"/>
              <a:t>Échelles de couleurs</a:t>
            </a:r>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34</a:t>
            </a:fld>
            <a:endParaRPr lang="fr-BE" dirty="0"/>
          </a:p>
        </p:txBody>
      </p:sp>
      <p:sp>
        <p:nvSpPr>
          <p:cNvPr id="7" name="Espace réservé du pied de page 6"/>
          <p:cNvSpPr>
            <a:spLocks noGrp="1"/>
          </p:cNvSpPr>
          <p:nvPr>
            <p:ph type="ftr" sz="quarter" idx="11"/>
          </p:nvPr>
        </p:nvSpPr>
        <p:spPr/>
        <p:txBody>
          <a:bodyPr/>
          <a:lstStyle/>
          <a:p>
            <a:r>
              <a:rPr lang="fr-BE" dirty="0"/>
              <a:t>Niveau Intermédiaire</a:t>
            </a:r>
          </a:p>
        </p:txBody>
      </p:sp>
      <p:pic>
        <p:nvPicPr>
          <p:cNvPr id="8" name="Image 7"/>
          <p:cNvPicPr>
            <a:picLocks noChangeAspect="1"/>
          </p:cNvPicPr>
          <p:nvPr/>
        </p:nvPicPr>
        <p:blipFill>
          <a:blip r:embed="rId3"/>
          <a:stretch>
            <a:fillRect/>
          </a:stretch>
        </p:blipFill>
        <p:spPr>
          <a:xfrm>
            <a:off x="5753800" y="1544028"/>
            <a:ext cx="5600000" cy="4409524"/>
          </a:xfrm>
          <a:prstGeom prst="rect">
            <a:avLst/>
          </a:prstGeom>
        </p:spPr>
      </p:pic>
      <p:pic>
        <p:nvPicPr>
          <p:cNvPr id="4" name="Image 3"/>
          <p:cNvPicPr>
            <a:picLocks noChangeAspect="1"/>
          </p:cNvPicPr>
          <p:nvPr/>
        </p:nvPicPr>
        <p:blipFill>
          <a:blip r:embed="rId4"/>
          <a:stretch>
            <a:fillRect/>
          </a:stretch>
        </p:blipFill>
        <p:spPr>
          <a:xfrm>
            <a:off x="3811149" y="2104494"/>
            <a:ext cx="895475" cy="895475"/>
          </a:xfrm>
          <a:prstGeom prst="rect">
            <a:avLst/>
          </a:prstGeom>
        </p:spPr>
      </p:pic>
    </p:spTree>
    <p:extLst>
      <p:ext uri="{BB962C8B-B14F-4D97-AF65-F5344CB8AC3E}">
        <p14:creationId xmlns:p14="http://schemas.microsoft.com/office/powerpoint/2010/main" val="362835701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ZoneTexte 3"/>
          <p:cNvSpPr txBox="1"/>
          <p:nvPr/>
        </p:nvSpPr>
        <p:spPr>
          <a:xfrm>
            <a:off x="1085385" y="692696"/>
            <a:ext cx="8076199" cy="784830"/>
          </a:xfrm>
          <a:prstGeom prst="rect">
            <a:avLst/>
          </a:prstGeom>
          <a:noFill/>
        </p:spPr>
        <p:txBody>
          <a:bodyPr wrap="square" rtlCol="0">
            <a:spAutoFit/>
          </a:bodyPr>
          <a:lstStyle/>
          <a:p>
            <a:r>
              <a:rPr lang="fr-FR" sz="4500" dirty="0">
                <a:solidFill>
                  <a:srgbClr val="00205B"/>
                </a:solidFill>
                <a:latin typeface="Arial" panose="020B0604020202020204" pitchFamily="34" charset="0"/>
                <a:cs typeface="Arial" panose="020B0604020202020204" pitchFamily="34" charset="0"/>
              </a:rPr>
              <a:t>Exercice </a:t>
            </a:r>
            <a:r>
              <a:rPr lang="fr-FR" sz="4500" dirty="0" smtClean="0">
                <a:solidFill>
                  <a:srgbClr val="00205B"/>
                </a:solidFill>
                <a:latin typeface="Arial" panose="020B0604020202020204" pitchFamily="34" charset="0"/>
                <a:cs typeface="Arial" panose="020B0604020202020204" pitchFamily="34" charset="0"/>
              </a:rPr>
              <a:t>pratique</a:t>
            </a:r>
            <a:endParaRPr lang="fr-FR" sz="4500" dirty="0">
              <a:solidFill>
                <a:srgbClr val="00205B"/>
              </a:solidFill>
              <a:latin typeface="Arial" panose="020B0604020202020204" pitchFamily="34" charset="0"/>
              <a:cs typeface="Arial" panose="020B0604020202020204" pitchFamily="34" charset="0"/>
            </a:endParaRPr>
          </a:p>
        </p:txBody>
      </p:sp>
      <p:sp>
        <p:nvSpPr>
          <p:cNvPr id="5" name="ZoneTexte 4"/>
          <p:cNvSpPr txBox="1"/>
          <p:nvPr/>
        </p:nvSpPr>
        <p:spPr>
          <a:xfrm>
            <a:off x="1085386" y="1772816"/>
            <a:ext cx="7803112" cy="2554545"/>
          </a:xfrm>
          <a:prstGeom prst="rect">
            <a:avLst/>
          </a:prstGeom>
          <a:noFill/>
        </p:spPr>
        <p:txBody>
          <a:bodyPr wrap="square" rtlCol="0">
            <a:spAutoFit/>
          </a:bodyPr>
          <a:lstStyle/>
          <a:p>
            <a:r>
              <a:rPr lang="fr-BE" b="1" dirty="0"/>
              <a:t>Objectif</a:t>
            </a:r>
            <a:endParaRPr lang="fr-BE" sz="1400" dirty="0"/>
          </a:p>
          <a:p>
            <a:r>
              <a:rPr lang="fr-BE" dirty="0"/>
              <a:t>Mettre en valeur dynamiquement les données du fichier TriFiltre.xlsx</a:t>
            </a:r>
            <a:endParaRPr lang="fr-BE" dirty="0" smtClean="0"/>
          </a:p>
          <a:p>
            <a:endParaRPr lang="fr-BE" sz="1600" dirty="0"/>
          </a:p>
          <a:p>
            <a:r>
              <a:rPr lang="fr-BE" b="1" dirty="0"/>
              <a:t>Tâches</a:t>
            </a:r>
            <a:endParaRPr lang="fr-BE" sz="1400" dirty="0"/>
          </a:p>
          <a:p>
            <a:pPr lvl="0"/>
            <a:r>
              <a:rPr lang="fr-BE" dirty="0"/>
              <a:t>Appliquez des mises en forme </a:t>
            </a:r>
            <a:r>
              <a:rPr lang="fr-BE" dirty="0" smtClean="0"/>
              <a:t>conditionnelles </a:t>
            </a:r>
            <a:r>
              <a:rPr lang="fr-BE" dirty="0"/>
              <a:t>: </a:t>
            </a:r>
            <a:endParaRPr lang="fr-BE" sz="1600" dirty="0"/>
          </a:p>
          <a:p>
            <a:pPr lvl="1"/>
            <a:r>
              <a:rPr lang="fr-BE" dirty="0" smtClean="0"/>
              <a:t>Un dégradé de couleur en fonction du numéro d’</a:t>
            </a:r>
            <a:r>
              <a:rPr lang="fr-BE" dirty="0" err="1" smtClean="0"/>
              <a:t>hotel</a:t>
            </a:r>
            <a:endParaRPr lang="fr-BE" sz="1600" dirty="0"/>
          </a:p>
          <a:p>
            <a:pPr lvl="1"/>
            <a:r>
              <a:rPr lang="fr-BE" dirty="0" smtClean="0"/>
              <a:t>Des icones étoiles pour le nombre d’étoiles</a:t>
            </a:r>
            <a:endParaRPr lang="fr-BE" sz="1600" dirty="0"/>
          </a:p>
          <a:p>
            <a:pPr lvl="1"/>
            <a:r>
              <a:rPr lang="fr-BE" dirty="0" smtClean="0"/>
              <a:t>Une graduation pour le nombre de chambres</a:t>
            </a:r>
            <a:endParaRPr lang="fr-BE" sz="1600" dirty="0"/>
          </a:p>
          <a:p>
            <a:pPr lvl="1"/>
            <a:r>
              <a:rPr lang="fr-FR" dirty="0" smtClean="0"/>
              <a:t>Une couleur de fond particulière lorsque la localité est Bruxelles</a:t>
            </a:r>
            <a:endParaRPr lang="fr-BE" sz="1600" dirty="0"/>
          </a:p>
        </p:txBody>
      </p:sp>
      <p:sp>
        <p:nvSpPr>
          <p:cNvPr id="2" name="Espace réservé du numéro de diapositive 1"/>
          <p:cNvSpPr>
            <a:spLocks noGrp="1"/>
          </p:cNvSpPr>
          <p:nvPr>
            <p:ph type="sldNum" sz="quarter" idx="12"/>
          </p:nvPr>
        </p:nvSpPr>
        <p:spPr/>
        <p:txBody>
          <a:bodyPr/>
          <a:lstStyle/>
          <a:p>
            <a:fld id="{08DCF6BF-19FA-4A5F-BF39-DB960C4A6126}" type="slidenum">
              <a:rPr lang="fr-BE" smtClean="0"/>
              <a:t>35</a:t>
            </a:fld>
            <a:endParaRPr lang="fr-BE"/>
          </a:p>
        </p:txBody>
      </p:sp>
      <p:sp>
        <p:nvSpPr>
          <p:cNvPr id="3" name="Espace réservé du pied de page 2"/>
          <p:cNvSpPr>
            <a:spLocks noGrp="1"/>
          </p:cNvSpPr>
          <p:nvPr>
            <p:ph type="ftr" sz="quarter" idx="11"/>
          </p:nvPr>
        </p:nvSpPr>
        <p:spPr/>
        <p:txBody>
          <a:bodyPr/>
          <a:lstStyle/>
          <a:p>
            <a:r>
              <a:rPr lang="fr-BE" dirty="0"/>
              <a:t>Niveau Intermédiaire</a:t>
            </a:r>
          </a:p>
        </p:txBody>
      </p:sp>
      <p:pic>
        <p:nvPicPr>
          <p:cNvPr id="6" name="Image 5"/>
          <p:cNvPicPr>
            <a:picLocks noChangeAspect="1"/>
          </p:cNvPicPr>
          <p:nvPr/>
        </p:nvPicPr>
        <p:blipFill>
          <a:blip r:embed="rId3"/>
          <a:stretch>
            <a:fillRect/>
          </a:stretch>
        </p:blipFill>
        <p:spPr>
          <a:xfrm>
            <a:off x="799872" y="4327361"/>
            <a:ext cx="7413103" cy="1624385"/>
          </a:xfrm>
          <a:prstGeom prst="rect">
            <a:avLst/>
          </a:prstGeom>
        </p:spPr>
      </p:pic>
    </p:spTree>
    <p:extLst>
      <p:ext uri="{BB962C8B-B14F-4D97-AF65-F5344CB8AC3E}">
        <p14:creationId xmlns:p14="http://schemas.microsoft.com/office/powerpoint/2010/main" val="205392056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ZoneTexte 1"/>
          <p:cNvSpPr txBox="1"/>
          <p:nvPr/>
        </p:nvSpPr>
        <p:spPr>
          <a:xfrm>
            <a:off x="1085386" y="692696"/>
            <a:ext cx="6640122" cy="784830"/>
          </a:xfrm>
          <a:prstGeom prst="rect">
            <a:avLst/>
          </a:prstGeom>
          <a:noFill/>
        </p:spPr>
        <p:txBody>
          <a:bodyPr wrap="square" rtlCol="0">
            <a:spAutoFit/>
          </a:bodyPr>
          <a:lstStyle/>
          <a:p>
            <a:r>
              <a:rPr lang="fr-FR" sz="4500" dirty="0" smtClean="0">
                <a:solidFill>
                  <a:srgbClr val="00205B"/>
                </a:solidFill>
                <a:latin typeface="Arial" panose="020B0604020202020204" pitchFamily="34" charset="0"/>
                <a:cs typeface="Arial" panose="020B0604020202020204" pitchFamily="34" charset="0"/>
              </a:rPr>
              <a:t>Pour aller plus loin…</a:t>
            </a:r>
            <a:endParaRPr lang="fr-FR" sz="4500" dirty="0">
              <a:solidFill>
                <a:srgbClr val="00205B"/>
              </a:solidFill>
              <a:latin typeface="Arial" panose="020B0604020202020204" pitchFamily="34" charset="0"/>
              <a:cs typeface="Arial" panose="020B0604020202020204" pitchFamily="34" charset="0"/>
            </a:endParaRPr>
          </a:p>
        </p:txBody>
      </p:sp>
      <p:sp>
        <p:nvSpPr>
          <p:cNvPr id="3" name="ZoneTexte 2"/>
          <p:cNvSpPr txBox="1"/>
          <p:nvPr/>
        </p:nvSpPr>
        <p:spPr>
          <a:xfrm>
            <a:off x="1085386" y="1772816"/>
            <a:ext cx="7803112" cy="923330"/>
          </a:xfrm>
          <a:prstGeom prst="rect">
            <a:avLst/>
          </a:prstGeom>
          <a:noFill/>
        </p:spPr>
        <p:txBody>
          <a:bodyPr wrap="square" rtlCol="0">
            <a:spAutoFit/>
          </a:bodyPr>
          <a:lstStyle/>
          <a:p>
            <a:pPr lvl="0"/>
            <a:r>
              <a:rPr lang="fr-FR" dirty="0" smtClean="0"/>
              <a:t>Télécharger ce document</a:t>
            </a:r>
            <a:endParaRPr lang="fr-BE" dirty="0" smtClean="0"/>
          </a:p>
          <a:p>
            <a:pPr lvl="0"/>
            <a:endParaRPr lang="fr-BE" dirty="0" smtClean="0"/>
          </a:p>
          <a:p>
            <a:pPr lvl="0"/>
            <a:r>
              <a:rPr lang="fr-FR" dirty="0" smtClean="0"/>
              <a:t>S’inscrire au module 3</a:t>
            </a:r>
            <a:endParaRPr lang="fr-BE" dirty="0"/>
          </a:p>
        </p:txBody>
      </p:sp>
      <p:sp>
        <p:nvSpPr>
          <p:cNvPr id="6" name="Espace réservé du numéro de diapositive 5"/>
          <p:cNvSpPr>
            <a:spLocks noGrp="1"/>
          </p:cNvSpPr>
          <p:nvPr>
            <p:ph type="sldNum" sz="quarter" idx="12"/>
          </p:nvPr>
        </p:nvSpPr>
        <p:spPr/>
        <p:txBody>
          <a:bodyPr/>
          <a:lstStyle/>
          <a:p>
            <a:fld id="{08DCF6BF-19FA-4A5F-BF39-DB960C4A6126}" type="slidenum">
              <a:rPr lang="fr-BE" smtClean="0"/>
              <a:t>36</a:t>
            </a:fld>
            <a:endParaRPr lang="fr-BE" dirty="0"/>
          </a:p>
        </p:txBody>
      </p:sp>
      <p:sp>
        <p:nvSpPr>
          <p:cNvPr id="7" name="Espace réservé du pied de page 6"/>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160080363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08DCF6BF-19FA-4A5F-BF39-DB960C4A6126}" type="slidenum">
              <a:rPr lang="fr-BE" smtClean="0"/>
              <a:t>37</a:t>
            </a:fld>
            <a:endParaRPr lang="fr-BE"/>
          </a:p>
        </p:txBody>
      </p:sp>
      <p:sp>
        <p:nvSpPr>
          <p:cNvPr id="3" name="Espace réservé du pied de page 2"/>
          <p:cNvSpPr>
            <a:spLocks noGrp="1"/>
          </p:cNvSpPr>
          <p:nvPr>
            <p:ph type="ftr" sz="quarter" idx="11"/>
          </p:nvPr>
        </p:nvSpPr>
        <p:spPr/>
        <p:txBody>
          <a:bodyPr/>
          <a:lstStyle/>
          <a:p>
            <a:r>
              <a:rPr lang="fr-BE" dirty="0"/>
              <a:t>Niveau Intermédiaire</a:t>
            </a:r>
          </a:p>
        </p:txBody>
      </p:sp>
    </p:spTree>
    <p:extLst>
      <p:ext uri="{BB962C8B-B14F-4D97-AF65-F5344CB8AC3E}">
        <p14:creationId xmlns:p14="http://schemas.microsoft.com/office/powerpoint/2010/main" val="13500234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2191</TotalTime>
  <Words>1325</Words>
  <Application>Microsoft Office PowerPoint</Application>
  <PresentationFormat>Grand écran</PresentationFormat>
  <Paragraphs>450</Paragraphs>
  <Slides>37</Slides>
  <Notes>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37</vt:i4>
      </vt:variant>
    </vt:vector>
  </HeadingPairs>
  <TitlesOfParts>
    <vt:vector size="41" baseType="lpstr">
      <vt:lpstr>Arial</vt:lpstr>
      <vt:lpstr>Calibri</vt:lpstr>
      <vt:lpstr>Calibri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SPRUMONT, Valerie</dc:creator>
  <cp:lastModifiedBy>BUSSERS, Charles</cp:lastModifiedBy>
  <cp:revision>85</cp:revision>
  <dcterms:created xsi:type="dcterms:W3CDTF">2021-01-18T12:43:54Z</dcterms:created>
  <dcterms:modified xsi:type="dcterms:W3CDTF">2025-02-17T12:36:27Z</dcterms:modified>
</cp:coreProperties>
</file>